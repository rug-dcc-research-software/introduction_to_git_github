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101"/>
  </p:notesMasterIdLst>
  <p:sldIdLst>
    <p:sldId id="256" r:id="rId2"/>
    <p:sldId id="257" r:id="rId3"/>
    <p:sldId id="258" r:id="rId4"/>
    <p:sldId id="35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53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02"/>
      <p:bold r:id="rId103"/>
      <p:italic r:id="rId104"/>
      <p:boldItalic r:id="rId10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2.fntdata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1acf497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g3cc1acf497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c1acf497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c1acf497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1acf497d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c1acf497d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1acf497d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1acf497d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c1acf497d_0_3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c1acf497d_0_3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c1acf497d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c1acf497d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c1acf497d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c1acf497d_0_3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c1acf497d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c1acf497d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c1acf497d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c1acf497d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c1acf497d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cc1acf497d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c1acf497d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c1acf497d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c1acf497d_0_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c1acf497d_0_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c1acf497d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c1acf497d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c1acf497d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c1acf497d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c1acf497d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c1acf497d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59d4adea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959d4adea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c1acf497d_0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c1acf497d_0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cc1acf497d_0_3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cc1acf497d_0_3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c1acf497d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cc1acf497d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c1acf497d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cc1acf497d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c1acf497d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cc1acf497d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c1acf497d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c1acf497d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cc1acf497d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cc1acf497d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cc1acf497d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cc1acf497d_0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cc1acf497d_0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cc1acf497d_0_6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c1acf497d_0_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c1acf497d_0_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cc1acf497d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cc1acf497d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c1acf497d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c1acf497d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c1acf497d_0_8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c1acf497d_0_8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c1acf497d_0_8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cc1acf497d_0_8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c1acf497d_0_8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c1acf497d_0_8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cc1acf497d_0_9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cc1acf497d_0_9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cc1acf497d_3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2" name="Google Shape;532;g3cc1acf497d_3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c1acf497d_3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3cc1acf497d_3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cc1acf497d_3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0" name="Google Shape;580;g3cc1acf497d_3_4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cc1acf497d_3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2" name="Google Shape;592;g3cc1acf497d_3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cc1acf497d_3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3" name="Google Shape;613;g3cc1acf497d_3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c1acf497d_3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g3cc1acf497d_3_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cc1acf497d_3_4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3" name="Google Shape;663;g3cc1acf497d_3_4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cc1acf497d_3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g3cc1acf497d_3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cc1acf497d_3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g3cc1acf497d_3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cc1acf497d_3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4" name="Google Shape;694;g3cc1acf497d_3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cc1acf497d_3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3" name="Google Shape;703;g3cc1acf497d_3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cc1acf497d_3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2" name="Google Shape;712;g3cc1acf497d_3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cc1acf497d_3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1" name="Google Shape;721;g3cc1acf497d_3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c1acf497d_3_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1" name="Google Shape;731;g3cc1acf497d_3_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cc1acf497d_3_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g3cc1acf497d_3_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cc1acf497d_3_5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0" name="Google Shape;750;g3cc1acf497d_3_5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cc1acf497d_3_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g3cc1acf497d_3_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cc1acf497d_3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5" name="Google Shape;775;g3cc1acf497d_3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cc1acf497d_3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g3cc1acf497d_3_5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cc1acf497d_3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2" name="Google Shape;802;g3cc1acf497d_3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c1acf497d_3_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3" name="Google Shape;813;g3cc1acf497d_3_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cc1acf497d_3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6" name="Google Shape;826;g3cc1acf497d_3_6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cc1acf497d_3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g3cc1acf497d_3_6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cc1acf497d_3_6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6" name="Google Shape;846;g3cc1acf497d_3_6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cc1acf497d_3_6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6" name="Google Shape;856;g3cc1acf497d_3_6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cc1acf497d_3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4" name="Google Shape;884;g3cc1acf497d_3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cc1acf497d_3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5" name="Google Shape;895;g3cc1acf497d_3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cc1acf497d_3_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g3cc1acf497d_3_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cc1acf497d_3_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5" name="Google Shape;915;g3cc1acf497d_3_7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3cc1acf497d_3_7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4" name="Google Shape;924;g3cc1acf497d_3_7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cc1acf497d_3_7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3" name="Google Shape;933;g3cc1acf497d_3_7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cc1acf497d_3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0" name="Google Shape;940;g3cc1acf497d_3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cc1acf497d_3_7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9" name="Google Shape;949;g3cc1acf497d_3_7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c1acf497d_3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1" name="Google Shape;961;g3cc1acf497d_3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g3cc1acf497d_3_7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8" name="Google Shape;968;g3cc1acf497d_3_7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cc1acf497d_3_7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8" name="Google Shape;978;g3cc1acf497d_3_7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3cc1acf497d_3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1" name="Google Shape;991;g3cc1acf497d_3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cc1acf497d_3_7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9" name="Google Shape;999;g3cc1acf497d_3_7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cc1acf497d_3_7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7" name="Google Shape;1007;g3cc1acf497d_3_7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3cc1acf497d_3_7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0" name="Google Shape;1030;g3cc1acf497d_3_7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cc1acf497d_3_8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4" name="Google Shape;1054;g3cc1acf497d_3_8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cc48cafa51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3" name="Google Shape;1063;g3cc48cafa51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cc1acf497d_3_8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0" name="Google Shape;1070;g3cc1acf497d_3_8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cc1acf497d_3_8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0" name="Google Shape;1080;g3cc1acf497d_3_8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3cc1acf497d_3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8" name="Google Shape;1088;g3cc1acf497d_3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3cc1acf497d_3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6" name="Google Shape;1096;g3cc1acf497d_3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cc1acf497d_3_8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g3cc1acf497d_3_8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2">
          <a:extLst>
            <a:ext uri="{FF2B5EF4-FFF2-40B4-BE49-F238E27FC236}">
              <a16:creationId xmlns:a16="http://schemas.microsoft.com/office/drawing/2014/main" id="{7F79EF1D-D47C-491E-813D-598C46AC8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cc1acf497d_3_851:notes">
            <a:extLst>
              <a:ext uri="{FF2B5EF4-FFF2-40B4-BE49-F238E27FC236}">
                <a16:creationId xmlns:a16="http://schemas.microsoft.com/office/drawing/2014/main" id="{5E393B91-B20C-B31A-210C-89E948B41C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4" name="Google Shape;1104;g3cc1acf497d_3_851:notes">
            <a:extLst>
              <a:ext uri="{FF2B5EF4-FFF2-40B4-BE49-F238E27FC236}">
                <a16:creationId xmlns:a16="http://schemas.microsoft.com/office/drawing/2014/main" id="{2B096CAC-3C3A-5D53-75A0-2C1878C46F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5500598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cc1acf497d_3_8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2" name="Google Shape;1112;g3cc1acf497d_3_8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cc1acf497d_3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9" name="Google Shape;1119;g3cc1acf497d_3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3cc1acf497d_3_8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8" name="Google Shape;1128;g3cc1acf497d_3_8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g3cc1acf497d_3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8" name="Google Shape;1138;g3cc1acf497d_3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cc1acf497d_3_9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g3cc1acf497d_3_9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959d4ade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959d4adea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3cc1acf497d_3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4" name="Google Shape;1164;g3cc1acf497d_3_8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3cc1acf497d_3_9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4" name="Google Shape;1184;g3cc1acf497d_3_9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3cc1acf497d_3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9" name="Google Shape;1209;g3cc1acf497d_3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g3cc1acf497d_3_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4" name="Google Shape;1234;g3cc1acf497d_3_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cc1acf497d_3_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3" name="Google Shape;1243;g3cc1acf497d_3_9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cc1acf497d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1" name="Google Shape;1251;g3cc1acf497d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cc1acf497d_3_9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8" name="Google Shape;1258;g3cc1acf497d_3_9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cc1acf497d_3_9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9" name="Google Shape;1269;g3cc1acf497d_3_9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cc1acf497d_3_9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1" name="Google Shape;1281;g3cc1acf497d_3_9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3cc1acf497d_3_1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7" name="Google Shape;1287;g3cc1acf497d_3_1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3cc1acf497d_3_10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4" name="Google Shape;1304;g3cc1acf497d_3_10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cc1acf497d_3_10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7" name="Google Shape;1317;g3cc1acf497d_3_10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908550"/>
            <a:ext cx="9150300" cy="266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857250" y="990600"/>
            <a:ext cx="7343700" cy="843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857250" y="1833600"/>
            <a:ext cx="5022600" cy="7524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40">
          <p15:clr>
            <a:srgbClr val="E46962"/>
          </p15:clr>
        </p15:guide>
        <p15:guide id="2" pos="636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457200" y="1518750"/>
            <a:ext cx="83757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 b="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2"/>
          </p:nvPr>
        </p:nvSpPr>
        <p:spPr>
          <a:xfrm>
            <a:off x="457200" y="938625"/>
            <a:ext cx="83757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60B669"/>
              </a:buClr>
              <a:buSzPts val="2000"/>
              <a:buNone/>
              <a:defRPr sz="2000" b="1">
                <a:solidFill>
                  <a:srgbClr val="60B66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2592">
          <p15:clr>
            <a:srgbClr val="E46962"/>
          </p15:clr>
        </p15:guide>
        <p15:guide id="3" orient="horz" pos="309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Title and two columns">
  <p:cSld name="TITLE_AND_BODY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2359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57200" y="1518750"/>
            <a:ext cx="40005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 b="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2"/>
          </p:nvPr>
        </p:nvSpPr>
        <p:spPr>
          <a:xfrm>
            <a:off x="457200" y="938625"/>
            <a:ext cx="40005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B669"/>
              </a:buClr>
              <a:buSzPts val="2000"/>
              <a:buNone/>
              <a:defRPr sz="2000" b="1">
                <a:solidFill>
                  <a:srgbClr val="60B66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subTitle" idx="3"/>
          </p:nvPr>
        </p:nvSpPr>
        <p:spPr>
          <a:xfrm>
            <a:off x="4705350" y="938625"/>
            <a:ext cx="39816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B669"/>
              </a:buClr>
              <a:buSzPts val="2000"/>
              <a:buNone/>
              <a:defRPr sz="2000" b="1">
                <a:solidFill>
                  <a:srgbClr val="60B66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4"/>
          </p:nvPr>
        </p:nvSpPr>
        <p:spPr>
          <a:xfrm>
            <a:off x="4692600" y="1518750"/>
            <a:ext cx="40005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 b="0"/>
            </a:lvl1pPr>
            <a:lvl2pPr marL="914400" lvl="1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marL="1371600" lvl="2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2592">
          <p15:clr>
            <a:srgbClr val="E46962"/>
          </p15:clr>
        </p15:guide>
        <p15:guide id="3" orient="horz" pos="3096">
          <p15:clr>
            <a:srgbClr val="E46962"/>
          </p15:clr>
        </p15:guide>
        <p15:guide id="4" pos="5472">
          <p15:clr>
            <a:srgbClr val="E46962"/>
          </p15:clr>
        </p15:guide>
        <p15:guide id="5" pos="2736">
          <p15:clr>
            <a:srgbClr val="E46962"/>
          </p15:clr>
        </p15:guide>
        <p15:guide id="6" pos="2808">
          <p15:clr>
            <a:srgbClr val="E46962"/>
          </p15:clr>
        </p15:guide>
        <p15:guide id="7" pos="295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Title only">
  <p:cSld name="CUSTOM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Blank">
  <p:cSld name="CUSTOM_2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All Blank">
  <p:cSld name="CUSTOM_3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Green - Title only">
  <p:cSld name="CUSTOM_4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75" y="-91850"/>
            <a:ext cx="9144000" cy="50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 t="62259" r="1662" b="1174"/>
          <a:stretch/>
        </p:blipFill>
        <p:spPr>
          <a:xfrm>
            <a:off x="7163425" y="4101775"/>
            <a:ext cx="1980498" cy="104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Green - Blank">
  <p:cSld name="CUSTOM_4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75" y="-91850"/>
            <a:ext cx="9144000" cy="50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5" name="Google Shape;45;p9"/>
          <p:cNvPicPr preferRelativeResize="0"/>
          <p:nvPr/>
        </p:nvPicPr>
        <p:blipFill rotWithShape="1">
          <a:blip r:embed="rId2">
            <a:alphaModFix/>
          </a:blip>
          <a:srcRect t="62259" r="1662" b="1174"/>
          <a:stretch/>
        </p:blipFill>
        <p:spPr>
          <a:xfrm>
            <a:off x="7163425" y="4101775"/>
            <a:ext cx="1980498" cy="104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Green - All blank">
  <p:cSld name="CUSTOM_4_1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-75" y="-91850"/>
            <a:ext cx="9144000" cy="506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Horizontal highlight">
  <p:cSld name="TITLE_AND_TWO_COLUMNS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/>
        </p:nvSpPr>
        <p:spPr>
          <a:xfrm>
            <a:off x="-150" y="3594100"/>
            <a:ext cx="9144000" cy="1549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457050" y="3759200"/>
            <a:ext cx="8375700" cy="11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●"/>
              <a:defRPr sz="1600" b="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65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53" name="Google Shape;53;p11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2"/>
          </p:nvPr>
        </p:nvSpPr>
        <p:spPr>
          <a:xfrm>
            <a:off x="457200" y="1518750"/>
            <a:ext cx="8375700" cy="19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 b="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3"/>
          </p:nvPr>
        </p:nvSpPr>
        <p:spPr>
          <a:xfrm>
            <a:off x="457200" y="938625"/>
            <a:ext cx="8375700" cy="4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B669"/>
              </a:buClr>
              <a:buSzPts val="2000"/>
              <a:buNone/>
              <a:defRPr sz="2000" b="1">
                <a:solidFill>
                  <a:srgbClr val="60B66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E46962"/>
          </p15:clr>
        </p15:guide>
        <p15:guide id="2" pos="5544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Vertical highlight">
  <p:cSld name="TITLE_AND_TWO_COLUMNS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4927650" y="-38100"/>
            <a:ext cx="4216200" cy="518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274675" y="303900"/>
            <a:ext cx="43671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1"/>
          </p:nvPr>
        </p:nvSpPr>
        <p:spPr>
          <a:xfrm>
            <a:off x="274675" y="938625"/>
            <a:ext cx="43671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0B669"/>
              </a:buClr>
              <a:buSzPts val="1700"/>
              <a:buNone/>
              <a:defRPr b="1">
                <a:solidFill>
                  <a:srgbClr val="60B66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274675" y="1500450"/>
            <a:ext cx="4367100" cy="29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 b="0"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 idx="3"/>
          </p:nvPr>
        </p:nvSpPr>
        <p:spPr>
          <a:xfrm>
            <a:off x="5125050" y="303900"/>
            <a:ext cx="3689400" cy="95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body" idx="4"/>
          </p:nvPr>
        </p:nvSpPr>
        <p:spPr>
          <a:xfrm>
            <a:off x="5106750" y="1438425"/>
            <a:ext cx="3726000" cy="3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●"/>
              <a:defRPr sz="1500" b="0">
                <a:solidFill>
                  <a:schemeClr val="lt1"/>
                </a:solidFill>
              </a:defRPr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 rt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E46962"/>
          </p15:clr>
        </p15:guide>
        <p15:guide id="2" pos="5544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">
  <p:cSld name="CUSTOM_5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/>
          <p:nvPr/>
        </p:nvSpPr>
        <p:spPr>
          <a:xfrm>
            <a:off x="6134100" y="-100"/>
            <a:ext cx="30528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 t="62261" r="1098" b="812"/>
          <a:stretch/>
        </p:blipFill>
        <p:spPr>
          <a:xfrm>
            <a:off x="7148525" y="4091800"/>
            <a:ext cx="2001824" cy="10571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3052775" y="0"/>
            <a:ext cx="3081300" cy="4968900"/>
          </a:xfrm>
          <a:prstGeom prst="rect">
            <a:avLst/>
          </a:prstGeom>
          <a:solidFill>
            <a:srgbClr val="D1E6CD"/>
          </a:solidFill>
          <a:ln w="9525" cap="flat" cmpd="sng">
            <a:solidFill>
              <a:srgbClr val="D1E6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600100" y="1933500"/>
            <a:ext cx="2076600" cy="12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2"/>
          </p:nvPr>
        </p:nvSpPr>
        <p:spPr>
          <a:xfrm>
            <a:off x="3533700" y="1933400"/>
            <a:ext cx="2076600" cy="12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3"/>
          </p:nvPr>
        </p:nvSpPr>
        <p:spPr>
          <a:xfrm>
            <a:off x="6622200" y="1933500"/>
            <a:ext cx="2076600" cy="12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2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2400"/>
              <a:buNone/>
              <a:defRPr sz="2400" b="1">
                <a:solidFill>
                  <a:srgbClr val="DC002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3751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1pPr>
            <a:lvl2pPr marL="914400" lvl="1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marL="1371600" lvl="2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marL="1828800" lvl="3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marL="2286000" lvl="4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marL="2743200" lvl="5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marL="3200400" lvl="6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marL="3657600" lvl="7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marL="4114800" lvl="8" indent="-3365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900" b="1">
                <a:solidFill>
                  <a:srgbClr val="DC002D"/>
                </a:solidFill>
              </a:defRPr>
            </a:lvl1pPr>
            <a:lvl2pPr lvl="1" rtl="0">
              <a:buNone/>
              <a:defRPr sz="900" b="1">
                <a:solidFill>
                  <a:srgbClr val="DC002D"/>
                </a:solidFill>
              </a:defRPr>
            </a:lvl2pPr>
            <a:lvl3pPr lvl="2" rtl="0">
              <a:buNone/>
              <a:defRPr sz="900" b="1">
                <a:solidFill>
                  <a:srgbClr val="DC002D"/>
                </a:solidFill>
              </a:defRPr>
            </a:lvl3pPr>
            <a:lvl4pPr lvl="3" rtl="0">
              <a:buNone/>
              <a:defRPr sz="900" b="1">
                <a:solidFill>
                  <a:srgbClr val="DC002D"/>
                </a:solidFill>
              </a:defRPr>
            </a:lvl4pPr>
            <a:lvl5pPr lvl="4" rtl="0">
              <a:buNone/>
              <a:defRPr sz="900" b="1">
                <a:solidFill>
                  <a:srgbClr val="DC002D"/>
                </a:solidFill>
              </a:defRPr>
            </a:lvl5pPr>
            <a:lvl6pPr lvl="5" rtl="0">
              <a:buNone/>
              <a:defRPr sz="900" b="1">
                <a:solidFill>
                  <a:srgbClr val="DC002D"/>
                </a:solidFill>
              </a:defRPr>
            </a:lvl6pPr>
            <a:lvl7pPr lvl="6" rtl="0">
              <a:buNone/>
              <a:defRPr sz="900" b="1">
                <a:solidFill>
                  <a:srgbClr val="DC002D"/>
                </a:solidFill>
              </a:defRPr>
            </a:lvl7pPr>
            <a:lvl8pPr lvl="7" rtl="0">
              <a:buNone/>
              <a:defRPr sz="900" b="1">
                <a:solidFill>
                  <a:srgbClr val="DC002D"/>
                </a:solidFill>
              </a:defRPr>
            </a:lvl8pPr>
            <a:lvl9pPr lvl="8" rtl="0">
              <a:buNone/>
              <a:defRPr sz="900" b="1">
                <a:solidFill>
                  <a:srgbClr val="DC002D"/>
                </a:solidFill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</a:t>
            </a:r>
            <a:r>
              <a:rPr lang="en" b="0">
                <a:solidFill>
                  <a:srgbClr val="000000"/>
                </a:solidFill>
              </a:rPr>
              <a:t>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288">
          <p15:clr>
            <a:srgbClr val="E46962"/>
          </p15:clr>
        </p15:guide>
        <p15:guide id="4" orient="horz" pos="216">
          <p15:clr>
            <a:srgbClr val="E46962"/>
          </p15:clr>
        </p15:guide>
        <p15:guide id="5" orient="horz" pos="50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libcal.rug.nl/event/4461052" TargetMode="External"/><Relationship Id="rId3" Type="http://schemas.openxmlformats.org/officeDocument/2006/relationships/hyperlink" Target="https://libcal.rug.nl/event/4461711" TargetMode="External"/><Relationship Id="rId7" Type="http://schemas.openxmlformats.org/officeDocument/2006/relationships/hyperlink" Target="https://libcal.rug.nl/event/446105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bcal.rug.nl/event/4473040" TargetMode="External"/><Relationship Id="rId5" Type="http://schemas.openxmlformats.org/officeDocument/2006/relationships/hyperlink" Target="https://libcal.rug.nl/event/4473029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libcal.rug.nl/event/4461150" TargetMode="External"/><Relationship Id="rId9" Type="http://schemas.openxmlformats.org/officeDocument/2006/relationships/hyperlink" Target="https://libcal.rug.nl/event/446105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github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mailto:git@github.com" TargetMode="Externa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3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ctrTitle"/>
          </p:nvPr>
        </p:nvSpPr>
        <p:spPr>
          <a:xfrm>
            <a:off x="900150" y="2027170"/>
            <a:ext cx="73437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85714"/>
              <a:buNone/>
            </a:pPr>
            <a:r>
              <a:rPr lang="en" sz="2800" b="1" dirty="0"/>
              <a:t>I</a:t>
            </a:r>
            <a:r>
              <a:rPr lang="en" sz="3355" b="1" dirty="0"/>
              <a:t>ntroduction To Git &amp; GitHub</a:t>
            </a:r>
            <a:br>
              <a:rPr lang="en" sz="3355" b="1" dirty="0"/>
            </a:br>
            <a:r>
              <a:rPr lang="en" sz="3355" b="1" dirty="0"/>
              <a:t>Part 1</a:t>
            </a:r>
            <a:endParaRPr sz="3355" b="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2093"/>
              <a:buNone/>
            </a:pPr>
            <a:r>
              <a:rPr lang="en" sz="1911" dirty="0"/>
              <a:t>03/03/2026</a:t>
            </a:r>
            <a:endParaRPr sz="191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72093"/>
              <a:buNone/>
            </a:pPr>
            <a:r>
              <a:rPr lang="en" sz="1911" dirty="0"/>
              <a:t>Burcu Beygu Koopmans</a:t>
            </a:r>
            <a:endParaRPr sz="1911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243750"/>
              <a:buNone/>
            </a:pPr>
            <a:r>
              <a:rPr lang="en" sz="2133"/>
              <a:t>dcc</a:t>
            </a:r>
            <a:r>
              <a:rPr lang="en" sz="2133" dirty="0"/>
              <a:t>@rug.nl</a:t>
            </a:r>
            <a:br>
              <a:rPr lang="en" sz="2800" b="1" dirty="0"/>
            </a:br>
            <a:endParaRPr sz="6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DC002D"/>
                </a:solidFill>
              </a:rPr>
              <a:t>Reproducible Software Development Learning Line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457200" y="1518750"/>
            <a:ext cx="8375700" cy="31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Reproducible Software: Container Approach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Creating R Packages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 Code for Research with Python and R – Part 1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VS Code for Research with Python and R – Part 2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Git &amp; GitHub – Part 1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Introduction to Git &amp; GitHub – Part 2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1350"/>
              <a:buFont typeface="Open Sans"/>
              <a:buNone/>
            </a:pPr>
            <a:r>
              <a:rPr lang="en" sz="1350" u="sng">
                <a:solidFill>
                  <a:srgbClr val="0074B6"/>
                </a:solidFill>
                <a:highlight>
                  <a:srgbClr val="F6F6F6"/>
                </a:highlight>
                <a:latin typeface="Open Sans"/>
                <a:ea typeface="Open Sans"/>
                <a:cs typeface="Open Sans"/>
                <a:sym typeface="Open San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Publishing Research Software</a:t>
            </a:r>
            <a:endParaRPr sz="1350" u="sng">
              <a:solidFill>
                <a:srgbClr val="0074B6"/>
              </a:solidFill>
              <a:highlight>
                <a:srgbClr val="F6F6F6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qualify for the certificate, participants must complete at least five of the following seven DCC training courses within 2026. Each course is offered twice per year.</a:t>
            </a:r>
            <a:r>
              <a:rPr lang="en" sz="1400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2"/>
          </p:nvPr>
        </p:nvSpPr>
        <p:spPr>
          <a:xfrm>
            <a:off x="457200" y="938625"/>
            <a:ext cx="8375700" cy="4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700" b="0">
                <a:solidFill>
                  <a:schemeClr val="dk2"/>
                </a:solidFill>
              </a:rPr>
              <a:t>2026 Program</a:t>
            </a:r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31275" y="881700"/>
            <a:ext cx="1693475" cy="18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1"/>
          </p:nvPr>
        </p:nvSpPr>
        <p:spPr>
          <a:xfrm>
            <a:off x="457200" y="800100"/>
            <a:ext cx="8520600" cy="3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Introduction to Version Control with Git and GitHub </a:t>
            </a:r>
            <a:endParaRPr sz="115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Explanation of version control and its importance in software development.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Overview of Git as a version control system.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chemeClr val="lt1"/>
                </a:highlight>
              </a:rPr>
              <a:t>Creating Repository</a:t>
            </a:r>
            <a:endParaRPr sz="1150" b="1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chemeClr val="lt1"/>
                </a:highlight>
              </a:rPr>
              <a:t>What is a repository</a:t>
            </a:r>
            <a:endParaRPr sz="115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chemeClr val="lt1"/>
                </a:highlight>
              </a:rPr>
              <a:t>Local vs remote repository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Introduction to GitHub</a:t>
            </a:r>
            <a:endParaRPr sz="115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Walkthrough of creating a GitHub account.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Creating a Remote Repository </a:t>
            </a:r>
            <a:endParaRPr sz="115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Demonstration of creating a new repository on GitHub.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Explanation of repository settings and options..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Working Git Commands</a:t>
            </a:r>
            <a:endParaRPr sz="115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Introduction to basic Git commands such as </a:t>
            </a:r>
            <a:r>
              <a:rPr lang="en" sz="115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 sz="115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git add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 sz="115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git commit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, and </a:t>
            </a:r>
            <a:r>
              <a:rPr lang="en" sz="1150">
                <a:solidFill>
                  <a:srgbClr val="C7254E"/>
                </a:solidFill>
                <a:highlight>
                  <a:srgbClr val="F9F2F4"/>
                </a:highlight>
                <a:latin typeface="Courier New"/>
                <a:ea typeface="Courier New"/>
                <a:cs typeface="Courier New"/>
                <a:sym typeface="Courier New"/>
              </a:rPr>
              <a:t>git push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How to track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changes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stage 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files,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commit 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changes, and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restore versions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chemeClr val="lt1"/>
                </a:highlight>
              </a:rPr>
              <a:t>Working with branches</a:t>
            </a:r>
            <a:endParaRPr sz="1150" b="1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chemeClr val="lt1"/>
                </a:highlight>
              </a:rPr>
              <a:t>Create branch</a:t>
            </a:r>
            <a:endParaRPr sz="115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chemeClr val="lt1"/>
                </a:highlight>
              </a:rPr>
              <a:t>Merge branch</a:t>
            </a:r>
            <a:endParaRPr sz="1150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chemeClr val="lt1"/>
                </a:highlight>
              </a:rPr>
              <a:t>Cloning &amp; Forking a Remote Repository </a:t>
            </a:r>
            <a:endParaRPr sz="1150" b="1">
              <a:solidFill>
                <a:srgbClr val="333333"/>
              </a:solidFill>
              <a:highlight>
                <a:schemeClr val="lt1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chemeClr val="lt1"/>
                </a:highlight>
              </a:rPr>
              <a:t>Overview of cloning an existing repository to the local machine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457200" lvl="0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150"/>
              <a:buChar char="●"/>
            </a:pP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Collaboration Basics </a:t>
            </a:r>
            <a:endParaRPr sz="115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Overview of collaborating with others on GitHub.</a:t>
            </a:r>
            <a:endParaRPr sz="115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914400" lvl="1" indent="-30162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Char char="○"/>
            </a:pP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Explanation of concepts like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branches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,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pull 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requests, and </a:t>
            </a:r>
            <a:r>
              <a:rPr lang="en" sz="1150" b="1">
                <a:solidFill>
                  <a:srgbClr val="333333"/>
                </a:solidFill>
                <a:highlight>
                  <a:srgbClr val="FFFFFF"/>
                </a:highlight>
              </a:rPr>
              <a:t>merging</a:t>
            </a:r>
            <a:r>
              <a:rPr lang="en" sz="1150">
                <a:solidFill>
                  <a:srgbClr val="333333"/>
                </a:solidFill>
                <a:highlight>
                  <a:srgbClr val="FFFFFF"/>
                </a:highlight>
              </a:rPr>
              <a:t>.</a:t>
            </a:r>
            <a:endParaRPr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0ECA-94B1-8C48-F869-C91B4D9B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3266"/>
            <a:ext cx="8375700" cy="553968"/>
          </a:xfrm>
        </p:spPr>
        <p:txBody>
          <a:bodyPr/>
          <a:lstStyle/>
          <a:p>
            <a:r>
              <a:rPr lang="en-US" dirty="0"/>
              <a:t>Workshop presentation</a:t>
            </a:r>
            <a:endParaRPr lang="LID4096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C1D2DDA-A8C6-9D9E-9040-9C5F6A194FB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57200" y="876036"/>
            <a:ext cx="8375700" cy="538579"/>
          </a:xfrm>
        </p:spPr>
        <p:txBody>
          <a:bodyPr/>
          <a:lstStyle/>
          <a:p>
            <a:r>
              <a:rPr lang="en-US" dirty="0"/>
              <a:t>Introduction_git_github_part1_03032026</a:t>
            </a:r>
            <a:endParaRPr lang="LID4096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006AF-BD58-FA4B-947F-0CDE443296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 smtClean="0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10A9A8-78F2-D119-F154-CF0AA00D7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658" y="1517671"/>
            <a:ext cx="2670684" cy="288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66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11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What is version control?</a:t>
            </a: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812225" y="951586"/>
            <a:ext cx="3901500" cy="31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316425" y="951586"/>
            <a:ext cx="3578700" cy="31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261825" y="1048636"/>
            <a:ext cx="3766800" cy="18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 of a file at a given point in time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author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File type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at it was saved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2057200" y="1521736"/>
            <a:ext cx="3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4681425" y="1048636"/>
            <a:ext cx="40539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of systems and processes to manage changes made to documents, programs and directories.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 is useful for anything that changes over time and/or needs to be shared.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enables you 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track files in different states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continuous development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combine different versions of files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a particular version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revert changes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11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Git vs GitHub</a:t>
            </a:r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4786296" y="1144444"/>
            <a:ext cx="4264200" cy="291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214296" y="1144444"/>
            <a:ext cx="4264200" cy="291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0246" y="1192969"/>
            <a:ext cx="683875" cy="68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8346" y="1250057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61121" y="1387069"/>
            <a:ext cx="44883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 control software mainly for programming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used without other hosting platforms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4684521" y="1387069"/>
            <a:ext cx="44277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Cloud-based hosting service (GitLab, BitBucket)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On-demand resources: free version, paid versions with extra features and 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Can’t use GitHub without Git (You can but you have to edit and upload files manually)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Git vs GitHub</a:t>
            </a:r>
            <a:endParaRPr/>
          </a:p>
        </p:txBody>
      </p:sp>
      <p:sp>
        <p:nvSpPr>
          <p:cNvPr id="127" name="Google Shape;127;p2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773175" y="1170686"/>
            <a:ext cx="4264200" cy="291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201175" y="1170686"/>
            <a:ext cx="4264200" cy="291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8400" y="1220636"/>
            <a:ext cx="684000" cy="6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5225" y="1276299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48000" y="1413311"/>
            <a:ext cx="4488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everything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Notifies when there is conflict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Synchronizes across different machines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671400" y="1413311"/>
            <a:ext cx="4427700" cy="243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2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Storing projects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Keeping track of projects and files through different states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Several people can work on the same file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Accessed by anyone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 Source projects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Repository?</a:t>
            </a:r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140" name="Google Shape;140;p21"/>
          <p:cNvGrpSpPr/>
          <p:nvPr/>
        </p:nvGrpSpPr>
        <p:grpSpPr>
          <a:xfrm>
            <a:off x="1061925" y="998650"/>
            <a:ext cx="5144150" cy="3585900"/>
            <a:chOff x="1061925" y="998650"/>
            <a:chExt cx="5144150" cy="3585900"/>
          </a:xfrm>
        </p:grpSpPr>
        <p:grpSp>
          <p:nvGrpSpPr>
            <p:cNvPr id="141" name="Google Shape;141;p21"/>
            <p:cNvGrpSpPr/>
            <p:nvPr/>
          </p:nvGrpSpPr>
          <p:grpSpPr>
            <a:xfrm>
              <a:off x="1061925" y="1322650"/>
              <a:ext cx="2286900" cy="3261900"/>
              <a:chOff x="1061925" y="1246450"/>
              <a:chExt cx="2286900" cy="3261900"/>
            </a:xfrm>
          </p:grpSpPr>
          <p:sp>
            <p:nvSpPr>
              <p:cNvPr id="142" name="Google Shape;142;p21"/>
              <p:cNvSpPr/>
              <p:nvPr/>
            </p:nvSpPr>
            <p:spPr>
              <a:xfrm>
                <a:off x="1061925" y="1246450"/>
                <a:ext cx="2226000" cy="32619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" name="Google Shape;143;p21"/>
              <p:cNvGrpSpPr/>
              <p:nvPr/>
            </p:nvGrpSpPr>
            <p:grpSpPr>
              <a:xfrm>
                <a:off x="1128825" y="1737750"/>
                <a:ext cx="995700" cy="870950"/>
                <a:chOff x="1128825" y="1737750"/>
                <a:chExt cx="995700" cy="870950"/>
              </a:xfrm>
            </p:grpSpPr>
            <p:pic>
              <p:nvPicPr>
                <p:cNvPr id="144" name="Google Shape;144;p2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403700" y="1737750"/>
                  <a:ext cx="532250" cy="532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5" name="Google Shape;145;p21"/>
                <p:cNvSpPr txBox="1"/>
                <p:nvPr/>
              </p:nvSpPr>
              <p:spPr>
                <a:xfrm>
                  <a:off x="1128825" y="2270000"/>
                  <a:ext cx="995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README.md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21"/>
              <p:cNvGrpSpPr/>
              <p:nvPr/>
            </p:nvGrpSpPr>
            <p:grpSpPr>
              <a:xfrm>
                <a:off x="1172025" y="2608700"/>
                <a:ext cx="995700" cy="870950"/>
                <a:chOff x="1128825" y="1737750"/>
                <a:chExt cx="995700" cy="870950"/>
              </a:xfrm>
            </p:grpSpPr>
            <p:pic>
              <p:nvPicPr>
                <p:cNvPr id="147" name="Google Shape;147;p21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/>
                <a:stretch/>
              </p:blipFill>
              <p:spPr>
                <a:xfrm>
                  <a:off x="1403700" y="1737750"/>
                  <a:ext cx="532250" cy="5322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8" name="Google Shape;148;p21"/>
                <p:cNvSpPr txBox="1"/>
                <p:nvPr/>
              </p:nvSpPr>
              <p:spPr>
                <a:xfrm>
                  <a:off x="1128825" y="2270000"/>
                  <a:ext cx="995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setup.cfg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9" name="Google Shape;149;p21"/>
              <p:cNvGrpSpPr/>
              <p:nvPr/>
            </p:nvGrpSpPr>
            <p:grpSpPr>
              <a:xfrm>
                <a:off x="2264575" y="1671312"/>
                <a:ext cx="995700" cy="900438"/>
                <a:chOff x="5254825" y="1877537"/>
                <a:chExt cx="995700" cy="900438"/>
              </a:xfrm>
            </p:grpSpPr>
            <p:pic>
              <p:nvPicPr>
                <p:cNvPr id="150" name="Google Shape;150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5403700" y="1877537"/>
                  <a:ext cx="798525" cy="798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" name="Google Shape;151;p21"/>
                <p:cNvSpPr txBox="1"/>
                <p:nvPr/>
              </p:nvSpPr>
              <p:spPr>
                <a:xfrm>
                  <a:off x="5254825" y="2439275"/>
                  <a:ext cx="995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project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2" name="Google Shape;152;p21"/>
              <p:cNvGrpSpPr/>
              <p:nvPr/>
            </p:nvGrpSpPr>
            <p:grpSpPr>
              <a:xfrm>
                <a:off x="2216025" y="2644925"/>
                <a:ext cx="995700" cy="882825"/>
                <a:chOff x="2203900" y="1858275"/>
                <a:chExt cx="995700" cy="882825"/>
              </a:xfrm>
            </p:grpSpPr>
            <p:pic>
              <p:nvPicPr>
                <p:cNvPr id="153" name="Google Shape;153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401075" y="1858275"/>
                  <a:ext cx="798525" cy="798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4" name="Google Shape;154;p21"/>
                <p:cNvSpPr txBox="1"/>
                <p:nvPr/>
              </p:nvSpPr>
              <p:spPr>
                <a:xfrm>
                  <a:off x="2203900" y="2402400"/>
                  <a:ext cx="995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results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5" name="Google Shape;155;p21"/>
              <p:cNvGrpSpPr/>
              <p:nvPr/>
            </p:nvGrpSpPr>
            <p:grpSpPr>
              <a:xfrm>
                <a:off x="2353125" y="3527762"/>
                <a:ext cx="995700" cy="867663"/>
                <a:chOff x="2432500" y="1873437"/>
                <a:chExt cx="995700" cy="867663"/>
              </a:xfrm>
            </p:grpSpPr>
            <p:pic>
              <p:nvPicPr>
                <p:cNvPr id="156" name="Google Shape;156;p21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/>
                <a:stretch/>
              </p:blipFill>
              <p:spPr>
                <a:xfrm>
                  <a:off x="2503175" y="1873437"/>
                  <a:ext cx="798525" cy="79852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7" name="Google Shape;157;p21"/>
                <p:cNvSpPr txBox="1"/>
                <p:nvPr/>
              </p:nvSpPr>
              <p:spPr>
                <a:xfrm>
                  <a:off x="2432500" y="2402400"/>
                  <a:ext cx="995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" sz="1000" b="0" i="0" u="none" strike="noStrike" cap="non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tests</a:t>
                  </a:r>
                  <a:endParaRPr sz="10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58" name="Google Shape;158;p21"/>
              <p:cNvSpPr txBox="1"/>
              <p:nvPr/>
            </p:nvSpPr>
            <p:spPr>
              <a:xfrm>
                <a:off x="1602275" y="1261350"/>
                <a:ext cx="10674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"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my_project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9" name="Google Shape;159;p21"/>
            <p:cNvSpPr txBox="1"/>
            <p:nvPr/>
          </p:nvSpPr>
          <p:spPr>
            <a:xfrm>
              <a:off x="2712275" y="998650"/>
              <a:ext cx="349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Directory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Repository?</a:t>
            </a:r>
            <a:endParaRPr/>
          </a:p>
        </p:txBody>
      </p:sp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1061925" y="1322650"/>
            <a:ext cx="4193400" cy="3261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3700" y="181395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1128825" y="234620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6900" y="268490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1172025" y="321715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setup.cfg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3450" y="1747512"/>
            <a:ext cx="798525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2264575" y="230925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3200" y="2721125"/>
            <a:ext cx="798525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 txBox="1"/>
          <p:nvPr/>
        </p:nvSpPr>
        <p:spPr>
          <a:xfrm>
            <a:off x="2216025" y="326525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3800" y="3603962"/>
            <a:ext cx="798525" cy="79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2276925" y="4132925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1602275" y="13375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2712275" y="998650"/>
            <a:ext cx="3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3881725" y="14382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5985925" y="2816950"/>
            <a:ext cx="135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5484175" y="1343500"/>
            <a:ext cx="333600" cy="3261900"/>
          </a:xfrm>
          <a:prstGeom prst="rightBrace">
            <a:avLst>
              <a:gd name="adj1" fmla="val 50000"/>
              <a:gd name="adj2" fmla="val 5165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22"/>
          <p:cNvGrpSpPr/>
          <p:nvPr/>
        </p:nvGrpSpPr>
        <p:grpSpPr>
          <a:xfrm>
            <a:off x="3961325" y="1838449"/>
            <a:ext cx="995700" cy="846451"/>
            <a:chOff x="6552625" y="3235024"/>
            <a:chExt cx="995700" cy="846451"/>
          </a:xfrm>
        </p:grpSpPr>
        <p:pic>
          <p:nvPicPr>
            <p:cNvPr id="183" name="Google Shape;183;p2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50449" y="3235024"/>
              <a:ext cx="752450" cy="7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2"/>
            <p:cNvSpPr txBox="1"/>
            <p:nvPr/>
          </p:nvSpPr>
          <p:spPr>
            <a:xfrm>
              <a:off x="6552625" y="374277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Repository?</a:t>
            </a:r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191" name="Google Shape;191;p23"/>
          <p:cNvGrpSpPr/>
          <p:nvPr/>
        </p:nvGrpSpPr>
        <p:grpSpPr>
          <a:xfrm>
            <a:off x="537078" y="1322650"/>
            <a:ext cx="4193400" cy="3261900"/>
            <a:chOff x="1061925" y="1398850"/>
            <a:chExt cx="4193400" cy="3261900"/>
          </a:xfrm>
        </p:grpSpPr>
        <p:sp>
          <p:nvSpPr>
            <p:cNvPr id="192" name="Google Shape;192;p23"/>
            <p:cNvSpPr/>
            <p:nvPr/>
          </p:nvSpPr>
          <p:spPr>
            <a:xfrm>
              <a:off x="1061925" y="1398850"/>
              <a:ext cx="4193400" cy="3261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3" name="Google Shape;193;p23"/>
            <p:cNvGrpSpPr/>
            <p:nvPr/>
          </p:nvGrpSpPr>
          <p:grpSpPr>
            <a:xfrm>
              <a:off x="1128825" y="1890150"/>
              <a:ext cx="995700" cy="870950"/>
              <a:chOff x="1128825" y="1737750"/>
              <a:chExt cx="995700" cy="870950"/>
            </a:xfrm>
          </p:grpSpPr>
          <p:pic>
            <p:nvPicPr>
              <p:cNvPr id="194" name="Google Shape;194;p2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5" name="Google Shape;195;p23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README.md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6" name="Google Shape;196;p23"/>
            <p:cNvGrpSpPr/>
            <p:nvPr/>
          </p:nvGrpSpPr>
          <p:grpSpPr>
            <a:xfrm>
              <a:off x="1172025" y="2761100"/>
              <a:ext cx="995700" cy="870950"/>
              <a:chOff x="1128825" y="1737750"/>
              <a:chExt cx="995700" cy="870950"/>
            </a:xfrm>
          </p:grpSpPr>
          <p:pic>
            <p:nvPicPr>
              <p:cNvPr id="197" name="Google Shape;197;p2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8" name="Google Shape;198;p23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setup.cfg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9" name="Google Shape;199;p23"/>
            <p:cNvGrpSpPr/>
            <p:nvPr/>
          </p:nvGrpSpPr>
          <p:grpSpPr>
            <a:xfrm>
              <a:off x="2264575" y="1823712"/>
              <a:ext cx="995700" cy="900438"/>
              <a:chOff x="5254825" y="1877537"/>
              <a:chExt cx="995700" cy="900438"/>
            </a:xfrm>
          </p:grpSpPr>
          <p:pic>
            <p:nvPicPr>
              <p:cNvPr id="200" name="Google Shape;200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403700" y="18775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1" name="Google Shape;201;p23"/>
              <p:cNvSpPr txBox="1"/>
              <p:nvPr/>
            </p:nvSpPr>
            <p:spPr>
              <a:xfrm>
                <a:off x="5254825" y="2439275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" name="Google Shape;202;p23"/>
            <p:cNvGrpSpPr/>
            <p:nvPr/>
          </p:nvGrpSpPr>
          <p:grpSpPr>
            <a:xfrm>
              <a:off x="2216025" y="2797325"/>
              <a:ext cx="995700" cy="882825"/>
              <a:chOff x="2203900" y="1858275"/>
              <a:chExt cx="995700" cy="882825"/>
            </a:xfrm>
          </p:grpSpPr>
          <p:pic>
            <p:nvPicPr>
              <p:cNvPr id="203" name="Google Shape;203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401075" y="1858275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4" name="Google Shape;204;p23"/>
              <p:cNvSpPr txBox="1"/>
              <p:nvPr/>
            </p:nvSpPr>
            <p:spPr>
              <a:xfrm>
                <a:off x="22039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results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23"/>
            <p:cNvGrpSpPr/>
            <p:nvPr/>
          </p:nvGrpSpPr>
          <p:grpSpPr>
            <a:xfrm>
              <a:off x="2276925" y="3680162"/>
              <a:ext cx="995700" cy="867663"/>
              <a:chOff x="2356300" y="1873437"/>
              <a:chExt cx="995700" cy="867663"/>
            </a:xfrm>
          </p:grpSpPr>
          <p:pic>
            <p:nvPicPr>
              <p:cNvPr id="206" name="Google Shape;206;p2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503175" y="18734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7" name="Google Shape;207;p23"/>
              <p:cNvSpPr txBox="1"/>
              <p:nvPr/>
            </p:nvSpPr>
            <p:spPr>
              <a:xfrm>
                <a:off x="23563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tests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" name="Google Shape;208;p23"/>
            <p:cNvSpPr txBox="1"/>
            <p:nvPr/>
          </p:nvSpPr>
          <p:spPr>
            <a:xfrm>
              <a:off x="1602275" y="1413750"/>
              <a:ext cx="1067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my_project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3"/>
          <p:cNvSpPr txBox="1"/>
          <p:nvPr/>
        </p:nvSpPr>
        <p:spPr>
          <a:xfrm>
            <a:off x="2187428" y="998650"/>
            <a:ext cx="3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356878" y="14382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5521778" y="2793250"/>
            <a:ext cx="30585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repo will contain all files of a project and records past versions of files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4959328" y="1343500"/>
            <a:ext cx="333600" cy="3261900"/>
          </a:xfrm>
          <a:prstGeom prst="rightBrace">
            <a:avLst>
              <a:gd name="adj1" fmla="val 50000"/>
              <a:gd name="adj2" fmla="val 5165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3" name="Google Shape;213;p23"/>
          <p:cNvGrpSpPr/>
          <p:nvPr/>
        </p:nvGrpSpPr>
        <p:grpSpPr>
          <a:xfrm>
            <a:off x="3436478" y="1838449"/>
            <a:ext cx="995700" cy="846451"/>
            <a:chOff x="6552625" y="3235024"/>
            <a:chExt cx="995700" cy="846451"/>
          </a:xfrm>
        </p:grpSpPr>
        <p:pic>
          <p:nvPicPr>
            <p:cNvPr id="214" name="Google Shape;214;p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50449" y="3235024"/>
              <a:ext cx="752450" cy="7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3"/>
            <p:cNvSpPr txBox="1"/>
            <p:nvPr/>
          </p:nvSpPr>
          <p:spPr>
            <a:xfrm>
              <a:off x="6552625" y="374277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Repository?</a:t>
            </a:r>
            <a:endParaRPr/>
          </a:p>
        </p:txBody>
      </p:sp>
      <p:sp>
        <p:nvSpPr>
          <p:cNvPr id="221" name="Google Shape;221;p2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22" name="Google Shape;222;p24"/>
          <p:cNvGrpSpPr/>
          <p:nvPr/>
        </p:nvGrpSpPr>
        <p:grpSpPr>
          <a:xfrm>
            <a:off x="576442" y="1322650"/>
            <a:ext cx="4193400" cy="3261900"/>
            <a:chOff x="1061925" y="1398850"/>
            <a:chExt cx="4193400" cy="3261900"/>
          </a:xfrm>
        </p:grpSpPr>
        <p:sp>
          <p:nvSpPr>
            <p:cNvPr id="223" name="Google Shape;223;p24"/>
            <p:cNvSpPr/>
            <p:nvPr/>
          </p:nvSpPr>
          <p:spPr>
            <a:xfrm>
              <a:off x="1061925" y="1398850"/>
              <a:ext cx="4193400" cy="3261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4" name="Google Shape;224;p24"/>
            <p:cNvGrpSpPr/>
            <p:nvPr/>
          </p:nvGrpSpPr>
          <p:grpSpPr>
            <a:xfrm>
              <a:off x="1128825" y="1890150"/>
              <a:ext cx="995700" cy="870950"/>
              <a:chOff x="1128825" y="1737750"/>
              <a:chExt cx="995700" cy="870950"/>
            </a:xfrm>
          </p:grpSpPr>
          <p:pic>
            <p:nvPicPr>
              <p:cNvPr id="225" name="Google Shape;225;p2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24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README.md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" name="Google Shape;227;p24"/>
            <p:cNvGrpSpPr/>
            <p:nvPr/>
          </p:nvGrpSpPr>
          <p:grpSpPr>
            <a:xfrm>
              <a:off x="1172025" y="2761100"/>
              <a:ext cx="995700" cy="870950"/>
              <a:chOff x="1128825" y="1737750"/>
              <a:chExt cx="995700" cy="870950"/>
            </a:xfrm>
          </p:grpSpPr>
          <p:pic>
            <p:nvPicPr>
              <p:cNvPr id="228" name="Google Shape;228;p2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9" name="Google Shape;229;p24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setup.cfg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24"/>
            <p:cNvGrpSpPr/>
            <p:nvPr/>
          </p:nvGrpSpPr>
          <p:grpSpPr>
            <a:xfrm>
              <a:off x="2264575" y="1823712"/>
              <a:ext cx="995700" cy="900438"/>
              <a:chOff x="5254825" y="1877537"/>
              <a:chExt cx="995700" cy="900438"/>
            </a:xfrm>
          </p:grpSpPr>
          <p:pic>
            <p:nvPicPr>
              <p:cNvPr id="231" name="Google Shape;231;p2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403700" y="18775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2" name="Google Shape;232;p24"/>
              <p:cNvSpPr txBox="1"/>
              <p:nvPr/>
            </p:nvSpPr>
            <p:spPr>
              <a:xfrm>
                <a:off x="5254825" y="2439275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" name="Google Shape;233;p24"/>
            <p:cNvGrpSpPr/>
            <p:nvPr/>
          </p:nvGrpSpPr>
          <p:grpSpPr>
            <a:xfrm>
              <a:off x="2216025" y="2797325"/>
              <a:ext cx="995700" cy="882825"/>
              <a:chOff x="2203900" y="1858275"/>
              <a:chExt cx="995700" cy="882825"/>
            </a:xfrm>
          </p:grpSpPr>
          <p:pic>
            <p:nvPicPr>
              <p:cNvPr id="234" name="Google Shape;234;p2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401075" y="1858275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5" name="Google Shape;235;p24"/>
              <p:cNvSpPr txBox="1"/>
              <p:nvPr/>
            </p:nvSpPr>
            <p:spPr>
              <a:xfrm>
                <a:off x="22039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results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" name="Google Shape;236;p24"/>
            <p:cNvGrpSpPr/>
            <p:nvPr/>
          </p:nvGrpSpPr>
          <p:grpSpPr>
            <a:xfrm>
              <a:off x="2276925" y="3680162"/>
              <a:ext cx="995700" cy="867663"/>
              <a:chOff x="2356300" y="1873437"/>
              <a:chExt cx="995700" cy="867663"/>
            </a:xfrm>
          </p:grpSpPr>
          <p:pic>
            <p:nvPicPr>
              <p:cNvPr id="237" name="Google Shape;237;p2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503175" y="18734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8" name="Google Shape;238;p24"/>
              <p:cNvSpPr txBox="1"/>
              <p:nvPr/>
            </p:nvSpPr>
            <p:spPr>
              <a:xfrm>
                <a:off x="23563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tests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24"/>
            <p:cNvSpPr txBox="1"/>
            <p:nvPr/>
          </p:nvSpPr>
          <p:spPr>
            <a:xfrm>
              <a:off x="1602275" y="1413750"/>
              <a:ext cx="1067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my_project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0" name="Google Shape;240;p24"/>
          <p:cNvSpPr txBox="1"/>
          <p:nvPr/>
        </p:nvSpPr>
        <p:spPr>
          <a:xfrm>
            <a:off x="2226792" y="998650"/>
            <a:ext cx="3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3396242" y="14382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5561142" y="2793250"/>
            <a:ext cx="131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998692" y="1343500"/>
            <a:ext cx="333600" cy="3261900"/>
          </a:xfrm>
          <a:prstGeom prst="rightBrace">
            <a:avLst>
              <a:gd name="adj1" fmla="val 50000"/>
              <a:gd name="adj2" fmla="val 5165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580967" y="3818200"/>
            <a:ext cx="30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edit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.git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4"/>
          <p:cNvGrpSpPr/>
          <p:nvPr/>
        </p:nvGrpSpPr>
        <p:grpSpPr>
          <a:xfrm>
            <a:off x="3475842" y="1838449"/>
            <a:ext cx="995700" cy="846451"/>
            <a:chOff x="6552625" y="3235024"/>
            <a:chExt cx="995700" cy="846451"/>
          </a:xfrm>
        </p:grpSpPr>
        <p:pic>
          <p:nvPicPr>
            <p:cNvPr id="246" name="Google Shape;246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50449" y="3235024"/>
              <a:ext cx="752450" cy="7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24"/>
            <p:cNvSpPr txBox="1"/>
            <p:nvPr/>
          </p:nvSpPr>
          <p:spPr>
            <a:xfrm>
              <a:off x="6552625" y="374277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vs Remote Repository</a:t>
            </a:r>
            <a:endParaRPr/>
          </a:p>
        </p:txBody>
      </p:sp>
      <p:sp>
        <p:nvSpPr>
          <p:cNvPr id="253" name="Google Shape;253;p2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254" name="Google Shape;254;p25"/>
          <p:cNvGrpSpPr/>
          <p:nvPr/>
        </p:nvGrpSpPr>
        <p:grpSpPr>
          <a:xfrm>
            <a:off x="680925" y="1246450"/>
            <a:ext cx="4193400" cy="3261900"/>
            <a:chOff x="680925" y="1246450"/>
            <a:chExt cx="4193400" cy="3261900"/>
          </a:xfrm>
        </p:grpSpPr>
        <p:sp>
          <p:nvSpPr>
            <p:cNvPr id="255" name="Google Shape;255;p25"/>
            <p:cNvSpPr/>
            <p:nvPr/>
          </p:nvSpPr>
          <p:spPr>
            <a:xfrm>
              <a:off x="680925" y="1246450"/>
              <a:ext cx="4193400" cy="3261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6" name="Google Shape;256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32450" y="1671312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1883575" y="2233050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58" name="Google Shape;258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32200" y="2644925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5"/>
            <p:cNvSpPr txBox="1"/>
            <p:nvPr/>
          </p:nvSpPr>
          <p:spPr>
            <a:xfrm>
              <a:off x="1835025" y="3189050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0" name="Google Shape;260;p2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42800" y="3527762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5"/>
            <p:cNvSpPr txBox="1"/>
            <p:nvPr/>
          </p:nvSpPr>
          <p:spPr>
            <a:xfrm>
              <a:off x="1895925" y="405672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tests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5"/>
            <p:cNvSpPr txBox="1"/>
            <p:nvPr/>
          </p:nvSpPr>
          <p:spPr>
            <a:xfrm>
              <a:off x="3500725" y="1362050"/>
              <a:ext cx="1067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storage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3" name="Google Shape;263;p25"/>
            <p:cNvGrpSpPr/>
            <p:nvPr/>
          </p:nvGrpSpPr>
          <p:grpSpPr>
            <a:xfrm>
              <a:off x="3580325" y="1762249"/>
              <a:ext cx="995700" cy="846451"/>
              <a:chOff x="6552625" y="3235024"/>
              <a:chExt cx="995700" cy="846451"/>
            </a:xfrm>
          </p:grpSpPr>
          <p:pic>
            <p:nvPicPr>
              <p:cNvPr id="264" name="Google Shape;264;p2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750449" y="3235024"/>
                <a:ext cx="752450" cy="752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5" name="Google Shape;265;p25"/>
              <p:cNvSpPr txBox="1"/>
              <p:nvPr/>
            </p:nvSpPr>
            <p:spPr>
              <a:xfrm>
                <a:off x="6552625" y="3742775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.git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66" name="Google Shape;26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3700" y="181395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128825" y="234620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900" y="268490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5"/>
          <p:cNvSpPr txBox="1"/>
          <p:nvPr/>
        </p:nvSpPr>
        <p:spPr>
          <a:xfrm>
            <a:off x="1172025" y="321715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setup.cfg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602275" y="12613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6725" y="1170125"/>
            <a:ext cx="2180844" cy="1912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0942" y="1909455"/>
            <a:ext cx="1885425" cy="17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/>
          <p:nvPr/>
        </p:nvSpPr>
        <p:spPr>
          <a:xfrm>
            <a:off x="5035325" y="2835600"/>
            <a:ext cx="1552800" cy="17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5005000" y="2301850"/>
            <a:ext cx="1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machine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Local vs Remote Repository</a:t>
            </a:r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81" name="Google Shape;28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992" y="1718280"/>
            <a:ext cx="1885425" cy="170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1975" y="1495462"/>
            <a:ext cx="3460300" cy="20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/>
          <p:nvPr/>
        </p:nvSpPr>
        <p:spPr>
          <a:xfrm>
            <a:off x="3258150" y="2283650"/>
            <a:ext cx="153450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/>
          <p:nvPr/>
        </p:nvSpPr>
        <p:spPr>
          <a:xfrm flipH="1">
            <a:off x="3258150" y="2512250"/>
            <a:ext cx="153450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Local vs Remote Repository</a:t>
            </a:r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91" name="Google Shape;29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5992" y="1718280"/>
            <a:ext cx="1885425" cy="170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1975" y="1495462"/>
            <a:ext cx="3460300" cy="20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7"/>
          <p:cNvSpPr/>
          <p:nvPr/>
        </p:nvSpPr>
        <p:spPr>
          <a:xfrm>
            <a:off x="3258150" y="2283650"/>
            <a:ext cx="153450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7"/>
          <p:cNvSpPr/>
          <p:nvPr/>
        </p:nvSpPr>
        <p:spPr>
          <a:xfrm flipH="1">
            <a:off x="3258150" y="2512250"/>
            <a:ext cx="1534500" cy="163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6278550" y="1410800"/>
            <a:ext cx="820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Local vs Remote Repository</a:t>
            </a:r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02" name="Google Shape;30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130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21734" y="809303"/>
            <a:ext cx="2596776" cy="15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810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685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790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70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2345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2655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0" name="Google Shape;310;p28"/>
          <p:cNvCxnSpPr>
            <a:endCxn id="302" idx="0"/>
          </p:cNvCxnSpPr>
          <p:nvPr/>
        </p:nvCxnSpPr>
        <p:spPr>
          <a:xfrm flipH="1">
            <a:off x="1034331" y="1810577"/>
            <a:ext cx="2396100" cy="170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1" name="Google Shape;311;p28"/>
          <p:cNvCxnSpPr>
            <a:endCxn id="304" idx="0"/>
          </p:cNvCxnSpPr>
          <p:nvPr/>
        </p:nvCxnSpPr>
        <p:spPr>
          <a:xfrm flipH="1">
            <a:off x="2101131" y="2131877"/>
            <a:ext cx="1578000" cy="13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2" name="Google Shape;312;p28"/>
          <p:cNvCxnSpPr>
            <a:endCxn id="305" idx="0"/>
          </p:cNvCxnSpPr>
          <p:nvPr/>
        </p:nvCxnSpPr>
        <p:spPr>
          <a:xfrm flipH="1">
            <a:off x="3219881" y="2216777"/>
            <a:ext cx="774600" cy="13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3" name="Google Shape;313;p28"/>
          <p:cNvCxnSpPr>
            <a:stCxn id="303" idx="2"/>
          </p:cNvCxnSpPr>
          <p:nvPr/>
        </p:nvCxnSpPr>
        <p:spPr>
          <a:xfrm flipH="1">
            <a:off x="4188622" y="2310352"/>
            <a:ext cx="31500" cy="118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4" name="Google Shape;314;p28"/>
          <p:cNvCxnSpPr>
            <a:endCxn id="307" idx="0"/>
          </p:cNvCxnSpPr>
          <p:nvPr/>
        </p:nvCxnSpPr>
        <p:spPr>
          <a:xfrm>
            <a:off x="4952931" y="2259377"/>
            <a:ext cx="424800" cy="125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5" name="Google Shape;315;p28"/>
          <p:cNvCxnSpPr>
            <a:endCxn id="308" idx="0"/>
          </p:cNvCxnSpPr>
          <p:nvPr/>
        </p:nvCxnSpPr>
        <p:spPr>
          <a:xfrm>
            <a:off x="5395781" y="1974377"/>
            <a:ext cx="1100700" cy="154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6" name="Google Shape;316;p28"/>
          <p:cNvCxnSpPr>
            <a:endCxn id="309" idx="0"/>
          </p:cNvCxnSpPr>
          <p:nvPr/>
        </p:nvCxnSpPr>
        <p:spPr>
          <a:xfrm>
            <a:off x="5559581" y="1755977"/>
            <a:ext cx="2156100" cy="17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GitHub account</a:t>
            </a:r>
            <a:endParaRPr/>
          </a:p>
        </p:txBody>
      </p:sp>
      <p:sp>
        <p:nvSpPr>
          <p:cNvPr id="322" name="Google Shape;322;p29"/>
          <p:cNvSpPr txBox="1">
            <a:spLocks noGrp="1"/>
          </p:cNvSpPr>
          <p:nvPr>
            <p:ph type="body" idx="1"/>
          </p:nvPr>
        </p:nvSpPr>
        <p:spPr>
          <a:xfrm>
            <a:off x="457200" y="897000"/>
            <a:ext cx="8375700" cy="31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Go to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github.com</a:t>
            </a:r>
            <a:r>
              <a:rPr lang="en"/>
              <a:t> and click on Sign up 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You can choose continue with Google to sign up, otherwise provide an email address, password and username.</a:t>
            </a:r>
            <a:endParaRPr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/>
              <a:t>Click on Create account. You will need to verify your email address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23" name="Google Shape;323;p2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a GitHub account</a:t>
            </a:r>
            <a:endParaRPr/>
          </a:p>
        </p:txBody>
      </p:sp>
      <p:sp>
        <p:nvSpPr>
          <p:cNvPr id="329" name="Google Shape;329;p30"/>
          <p:cNvSpPr txBox="1">
            <a:spLocks noGrp="1"/>
          </p:cNvSpPr>
          <p:nvPr>
            <p:ph type="body" idx="1"/>
          </p:nvPr>
        </p:nvSpPr>
        <p:spPr>
          <a:xfrm>
            <a:off x="457200" y="897000"/>
            <a:ext cx="8375700" cy="31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rabicPeriod"/>
            </a:pPr>
            <a:r>
              <a:rPr lang="en" sz="1772"/>
              <a:t>Configure 2FA:</a:t>
            </a:r>
            <a:endParaRPr sz="1772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73"/>
              <a:buAutoNum type="alphaLcPeriod"/>
            </a:pPr>
            <a:r>
              <a:rPr lang="en" sz="1772"/>
              <a:t>Use your </a:t>
            </a:r>
            <a:r>
              <a:rPr lang="en" sz="1772" b="1"/>
              <a:t>TOTP</a:t>
            </a:r>
            <a:r>
              <a:rPr lang="en" sz="1772"/>
              <a:t> app, if you do not have install it.</a:t>
            </a:r>
            <a:endParaRPr sz="1772"/>
          </a:p>
          <a:p>
            <a:pPr marL="457200" lvl="0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rabicPeriod"/>
            </a:pPr>
            <a:r>
              <a:rPr lang="en" sz="1772"/>
              <a:t>On GitHub:</a:t>
            </a:r>
            <a:endParaRPr sz="1772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lphaLcPeriod"/>
            </a:pPr>
            <a:r>
              <a:rPr lang="en" sz="1772"/>
              <a:t>Click on your </a:t>
            </a:r>
            <a:r>
              <a:rPr lang="en" sz="1772" b="1"/>
              <a:t>profile picture</a:t>
            </a:r>
            <a:r>
              <a:rPr lang="en" sz="1772"/>
              <a:t> and then click on </a:t>
            </a:r>
            <a:r>
              <a:rPr lang="en" sz="1772" b="1"/>
              <a:t>Settings</a:t>
            </a:r>
            <a:endParaRPr sz="1772" b="1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lphaLcPeriod"/>
            </a:pPr>
            <a:r>
              <a:rPr lang="en" sz="1772"/>
              <a:t>Go to </a:t>
            </a:r>
            <a:r>
              <a:rPr lang="en" sz="1772" b="1"/>
              <a:t>Access</a:t>
            </a:r>
            <a:r>
              <a:rPr lang="en" sz="1772"/>
              <a:t> and click </a:t>
            </a:r>
            <a:r>
              <a:rPr lang="en" sz="1772" b="1"/>
              <a:t>Password and authentication</a:t>
            </a:r>
            <a:endParaRPr sz="1772" b="1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lphaLcPeriod"/>
            </a:pPr>
            <a:r>
              <a:rPr lang="en" sz="1772"/>
              <a:t>Go to </a:t>
            </a:r>
            <a:r>
              <a:rPr lang="en" sz="1772" b="1"/>
              <a:t>Two-factor authentication</a:t>
            </a:r>
            <a:r>
              <a:rPr lang="en" sz="1772"/>
              <a:t> and click on </a:t>
            </a:r>
            <a:r>
              <a:rPr lang="en" sz="1772" b="1"/>
              <a:t>Enable two-factor authentication</a:t>
            </a:r>
            <a:endParaRPr sz="1772" b="1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lphaLcPeriod"/>
            </a:pPr>
            <a:r>
              <a:rPr lang="en" sz="1772"/>
              <a:t>Scan the QR Code, follow the instructions.</a:t>
            </a:r>
            <a:endParaRPr sz="1772"/>
          </a:p>
          <a:p>
            <a:pPr marL="914400" lvl="1" indent="-34115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773"/>
              <a:buAutoNum type="alphaLcPeriod"/>
            </a:pPr>
            <a:r>
              <a:rPr lang="en" sz="1772"/>
              <a:t>Don’t forget to click</a:t>
            </a:r>
            <a:r>
              <a:rPr lang="en" sz="1772" b="1"/>
              <a:t> I have saved my recovery codes</a:t>
            </a:r>
            <a:endParaRPr sz="1772" b="1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endParaRPr sz="1772"/>
          </a:p>
          <a:p>
            <a:pPr marL="45720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772"/>
          </a:p>
        </p:txBody>
      </p:sp>
      <p:sp>
        <p:nvSpPr>
          <p:cNvPr id="330" name="Google Shape;330;p3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SSH key</a:t>
            </a:r>
            <a:endParaRPr/>
          </a:p>
        </p:txBody>
      </p:sp>
      <p:sp>
        <p:nvSpPr>
          <p:cNvPr id="336" name="Google Shape;336;p31"/>
          <p:cNvSpPr txBox="1">
            <a:spLocks noGrp="1"/>
          </p:cNvSpPr>
          <p:nvPr>
            <p:ph type="body" idx="1"/>
          </p:nvPr>
        </p:nvSpPr>
        <p:spPr>
          <a:xfrm>
            <a:off x="457200" y="897000"/>
            <a:ext cx="8375700" cy="37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b="1"/>
              <a:t>Generate a key on your local computer</a:t>
            </a:r>
            <a:endParaRPr sz="160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ssh-keygen -t ed25519 -C "your_email@example.com"</a:t>
            </a: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 </a:t>
            </a:r>
            <a:r>
              <a:rPr lang="en" sz="1600" b="1"/>
              <a:t>Start the SSH agent and add your key:</a:t>
            </a:r>
            <a:endParaRPr sz="160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eval "$(ssh-agent -s)"</a:t>
            </a: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ssh-add ~/.ssh/id_ed25519</a:t>
            </a: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 </a:t>
            </a:r>
            <a:r>
              <a:rPr lang="en" sz="1600" b="1"/>
              <a:t>Add your public key to GitHub</a:t>
            </a:r>
            <a:endParaRPr sz="160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cat ~/.ssh/id_ed25519.pub</a:t>
            </a: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Go to GitHub -&gt; Settings -&gt; SSH and GPG keys -&gt; New SSH key and paste it.</a:t>
            </a: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457200" lvl="0" indent="-330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 </a:t>
            </a:r>
            <a:r>
              <a:rPr lang="en" sz="1600" b="1"/>
              <a:t>Test your connection</a:t>
            </a:r>
            <a:endParaRPr sz="1600" b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6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600"/>
              <a:t>ssh –T git@github.com</a:t>
            </a:r>
            <a:endParaRPr sz="160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900"/>
          </a:p>
        </p:txBody>
      </p:sp>
      <p:sp>
        <p:nvSpPr>
          <p:cNvPr id="337" name="Google Shape;337;p3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43" name="Google Shape;343;p32"/>
          <p:cNvSpPr txBox="1">
            <a:spLocks noGrp="1"/>
          </p:cNvSpPr>
          <p:nvPr>
            <p:ph type="subTitle" idx="2"/>
          </p:nvPr>
        </p:nvSpPr>
        <p:spPr>
          <a:xfrm>
            <a:off x="457200" y="938625"/>
            <a:ext cx="8375700" cy="4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0B669"/>
                </a:solidFill>
              </a:rPr>
              <a:t>But before it is good to have a plan</a:t>
            </a:r>
            <a:endParaRPr sz="2300">
              <a:solidFill>
                <a:srgbClr val="60B669"/>
              </a:solidFill>
            </a:endParaRPr>
          </a:p>
        </p:txBody>
      </p:sp>
      <p:sp>
        <p:nvSpPr>
          <p:cNvPr id="344" name="Google Shape;344;p3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19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345" name="Google Shape;345;p32"/>
          <p:cNvSpPr txBox="1"/>
          <p:nvPr/>
        </p:nvSpPr>
        <p:spPr>
          <a:xfrm>
            <a:off x="452025" y="1542075"/>
            <a:ext cx="79371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do you need a remote repository?</a:t>
            </a:r>
            <a:endParaRPr sz="1600"/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you need a private or public repository?</a:t>
            </a:r>
            <a:endParaRPr sz="1600"/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 are your collaborators?</a:t>
            </a:r>
            <a:endParaRPr sz="1600"/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 you imagine collaboration and contribution to will work?</a:t>
            </a:r>
            <a:endParaRPr sz="1600"/>
          </a:p>
          <a:p>
            <a:pPr marL="285750" marR="0" lvl="6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 rules on working branches and protecting main branch?</a:t>
            </a:r>
            <a:endParaRPr sz="1600"/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license do you need?</a:t>
            </a:r>
            <a:endParaRPr sz="1600"/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1600"/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002D"/>
              </a:buClr>
              <a:buSzPts val="1800"/>
              <a:buFont typeface="Noto Sans Symbols"/>
              <a:buChar char="⮚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 can of course always make changes and make decisions later on, however, little pre-</a:t>
            </a:r>
            <a:r>
              <a:rPr lang="en" sz="1600"/>
              <a:t>planning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discovery is always useful.</a:t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51" name="Google Shape;351;p33"/>
          <p:cNvSpPr txBox="1">
            <a:spLocks noGrp="1"/>
          </p:cNvSpPr>
          <p:nvPr>
            <p:ph type="subTitle" idx="2"/>
          </p:nvPr>
        </p:nvSpPr>
        <p:spPr>
          <a:xfrm>
            <a:off x="457200" y="938625"/>
            <a:ext cx="8375700" cy="4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60B669"/>
                </a:solidFill>
              </a:rPr>
              <a:t>On GitHub</a:t>
            </a:r>
            <a:endParaRPr sz="2300">
              <a:solidFill>
                <a:srgbClr val="60B669"/>
              </a:solidFill>
            </a:endParaRPr>
          </a:p>
        </p:txBody>
      </p:sp>
      <p:sp>
        <p:nvSpPr>
          <p:cNvPr id="352" name="Google Shape;352;p3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20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53" name="Google Shape;35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057" y="1429072"/>
            <a:ext cx="3020217" cy="206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3"/>
          <p:cNvSpPr/>
          <p:nvPr/>
        </p:nvSpPr>
        <p:spPr>
          <a:xfrm>
            <a:off x="2527419" y="2573303"/>
            <a:ext cx="780300" cy="6858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33"/>
          <p:cNvCxnSpPr>
            <a:stCxn id="354" idx="6"/>
          </p:cNvCxnSpPr>
          <p:nvPr/>
        </p:nvCxnSpPr>
        <p:spPr>
          <a:xfrm>
            <a:off x="3307719" y="2916203"/>
            <a:ext cx="1103700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356" name="Google Shape;356;p33"/>
          <p:cNvSpPr txBox="1"/>
          <p:nvPr/>
        </p:nvSpPr>
        <p:spPr>
          <a:xfrm>
            <a:off x="4636571" y="2834173"/>
            <a:ext cx="983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New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21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63" name="Google Shape;36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790" y="800100"/>
            <a:ext cx="3980036" cy="425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69" name="Google Shape;369;p3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22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70" name="Google Shape;37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9950" y="4287839"/>
            <a:ext cx="1822199" cy="501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5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5160" y="897000"/>
            <a:ext cx="3516108" cy="385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5"/>
          <p:cNvSpPr/>
          <p:nvPr/>
        </p:nvSpPr>
        <p:spPr>
          <a:xfrm>
            <a:off x="2440677" y="1437601"/>
            <a:ext cx="610500" cy="5016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4420978" y="2707411"/>
            <a:ext cx="610500" cy="3810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4476501" y="3457225"/>
            <a:ext cx="610500" cy="2892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5"/>
          <p:cNvSpPr/>
          <p:nvPr/>
        </p:nvSpPr>
        <p:spPr>
          <a:xfrm>
            <a:off x="4402471" y="3804239"/>
            <a:ext cx="610500" cy="3108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5"/>
          <p:cNvSpPr/>
          <p:nvPr/>
        </p:nvSpPr>
        <p:spPr>
          <a:xfrm>
            <a:off x="1698064" y="2140344"/>
            <a:ext cx="3463200" cy="3810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5"/>
          <p:cNvSpPr/>
          <p:nvPr/>
        </p:nvSpPr>
        <p:spPr>
          <a:xfrm>
            <a:off x="4057768" y="4115079"/>
            <a:ext cx="973800" cy="3273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4328441" y="4483805"/>
            <a:ext cx="744900" cy="295200"/>
          </a:xfrm>
          <a:prstGeom prst="ellipse">
            <a:avLst/>
          </a:prstGeom>
          <a:noFill/>
          <a:ln w="223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500" tIns="40250" rIns="80500" bIns="40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84" name="Google Shape;384;p3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23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85" name="Google Shape;38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9479" y="897007"/>
            <a:ext cx="7564863" cy="3743482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/>
          <p:nvPr/>
        </p:nvSpPr>
        <p:spPr>
          <a:xfrm>
            <a:off x="457204" y="1106549"/>
            <a:ext cx="4835400" cy="3333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392" name="Google Shape;392;p3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24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393" name="Google Shape;39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144" y="856940"/>
            <a:ext cx="7564863" cy="3743482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7"/>
          <p:cNvSpPr/>
          <p:nvPr/>
        </p:nvSpPr>
        <p:spPr>
          <a:xfrm>
            <a:off x="4616954" y="1113912"/>
            <a:ext cx="520200" cy="2049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400" name="Google Shape;400;p3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25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01" name="Google Shape;401;p38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185" y="917224"/>
            <a:ext cx="2069651" cy="3309053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8"/>
          <p:cNvSpPr/>
          <p:nvPr/>
        </p:nvSpPr>
        <p:spPr>
          <a:xfrm>
            <a:off x="141890" y="2128345"/>
            <a:ext cx="748800" cy="1893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38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28407" y="1442544"/>
            <a:ext cx="5818981" cy="1186303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8"/>
          <p:cNvSpPr/>
          <p:nvPr/>
        </p:nvSpPr>
        <p:spPr>
          <a:xfrm>
            <a:off x="4871545" y="2128345"/>
            <a:ext cx="866400" cy="315300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38"/>
          <p:cNvCxnSpPr/>
          <p:nvPr/>
        </p:nvCxnSpPr>
        <p:spPr>
          <a:xfrm>
            <a:off x="2325836" y="2183524"/>
            <a:ext cx="502500" cy="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remote repository in GitHub</a:t>
            </a:r>
            <a:endParaRPr/>
          </a:p>
        </p:txBody>
      </p:sp>
      <p:sp>
        <p:nvSpPr>
          <p:cNvPr id="411" name="Google Shape;411;p3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26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412" name="Google Shape;412;p39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3949" y="864555"/>
            <a:ext cx="2777495" cy="3958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9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595" y="882753"/>
            <a:ext cx="3659200" cy="3515878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9"/>
          <p:cNvSpPr/>
          <p:nvPr/>
        </p:nvSpPr>
        <p:spPr>
          <a:xfrm>
            <a:off x="424595" y="1756083"/>
            <a:ext cx="422700" cy="339600"/>
          </a:xfrm>
          <a:prstGeom prst="ellipse">
            <a:avLst/>
          </a:prstGeom>
          <a:noFill/>
          <a:ln w="223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325" tIns="40150" rIns="80325" bIns="40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901297" y="2166049"/>
            <a:ext cx="38106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40150" rIns="80325" bIns="401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6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First, make sure to protect the main branch and decide on the rules</a:t>
            </a:r>
            <a:endParaRPr sz="966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9"/>
          <p:cNvSpPr/>
          <p:nvPr/>
        </p:nvSpPr>
        <p:spPr>
          <a:xfrm>
            <a:off x="4653949" y="778958"/>
            <a:ext cx="422700" cy="339600"/>
          </a:xfrm>
          <a:prstGeom prst="ellipse">
            <a:avLst/>
          </a:prstGeom>
          <a:noFill/>
          <a:ln w="223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0325" tIns="40150" rIns="80325" bIns="401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3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Git</a:t>
            </a:r>
            <a:endParaRPr/>
          </a:p>
        </p:txBody>
      </p:sp>
      <p:sp>
        <p:nvSpPr>
          <p:cNvPr id="422" name="Google Shape;422;p4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27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23" name="Google Shape;423;p40"/>
          <p:cNvSpPr/>
          <p:nvPr/>
        </p:nvSpPr>
        <p:spPr>
          <a:xfrm>
            <a:off x="4327875" y="2201200"/>
            <a:ext cx="2390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0"/>
          <p:cNvSpPr/>
          <p:nvPr/>
        </p:nvSpPr>
        <p:spPr>
          <a:xfrm>
            <a:off x="4327875" y="1594525"/>
            <a:ext cx="2390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/>
          <p:nvPr/>
        </p:nvSpPr>
        <p:spPr>
          <a:xfrm>
            <a:off x="517875" y="1594525"/>
            <a:ext cx="2390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76100" y="1083650"/>
            <a:ext cx="81918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your git version:                                         Getting help: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- -version                      git &lt;command&gt; - -help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git - -help 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particular command displays a summary of                                                              </a:t>
            </a: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most used Git commands.                                                                                   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 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Git</a:t>
            </a:r>
            <a:endParaRPr/>
          </a:p>
        </p:txBody>
      </p:sp>
      <p:sp>
        <p:nvSpPr>
          <p:cNvPr id="432" name="Google Shape;432;p4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28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33" name="Google Shape;433;p41"/>
          <p:cNvSpPr/>
          <p:nvPr/>
        </p:nvSpPr>
        <p:spPr>
          <a:xfrm>
            <a:off x="505800" y="1977252"/>
            <a:ext cx="33966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1"/>
          <p:cNvSpPr txBox="1"/>
          <p:nvPr/>
        </p:nvSpPr>
        <p:spPr>
          <a:xfrm>
            <a:off x="525298" y="1490994"/>
            <a:ext cx="8093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Configuring Git: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--list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has 3 levels of settings: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- -local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   setting for one specific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- -global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 settings for all of our projects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- -system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settings for every users on `a` machine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29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520625" y="3424275"/>
            <a:ext cx="6848400" cy="310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520625" y="2570750"/>
            <a:ext cx="6848400" cy="310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525275" y="1767325"/>
            <a:ext cx="33966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2"/>
          <p:cNvSpPr txBox="1"/>
          <p:nvPr/>
        </p:nvSpPr>
        <p:spPr>
          <a:xfrm>
            <a:off x="476675" y="1233050"/>
            <a:ext cx="69363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Configuring Git: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--list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 email address to &lt;your emailaddress&gt;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D9D9D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--global user.email “&lt;youremailaddress&gt;”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Change username to &lt;yourusername&gt;</a:t>
            </a: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config - -global user.name “&lt;yourusername&gt;”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Configure Git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Repository?</a:t>
            </a:r>
            <a:endParaRPr/>
          </a:p>
        </p:txBody>
      </p:sp>
      <p:sp>
        <p:nvSpPr>
          <p:cNvPr id="450" name="Google Shape;450;p4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30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451" name="Google Shape;451;p43"/>
          <p:cNvGrpSpPr/>
          <p:nvPr/>
        </p:nvGrpSpPr>
        <p:grpSpPr>
          <a:xfrm>
            <a:off x="576442" y="1322650"/>
            <a:ext cx="4193400" cy="3261900"/>
            <a:chOff x="1061925" y="1398850"/>
            <a:chExt cx="4193400" cy="3261900"/>
          </a:xfrm>
        </p:grpSpPr>
        <p:sp>
          <p:nvSpPr>
            <p:cNvPr id="452" name="Google Shape;452;p43"/>
            <p:cNvSpPr/>
            <p:nvPr/>
          </p:nvSpPr>
          <p:spPr>
            <a:xfrm>
              <a:off x="1061925" y="1398850"/>
              <a:ext cx="4193400" cy="3261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" name="Google Shape;453;p43"/>
            <p:cNvGrpSpPr/>
            <p:nvPr/>
          </p:nvGrpSpPr>
          <p:grpSpPr>
            <a:xfrm>
              <a:off x="1128825" y="1890150"/>
              <a:ext cx="995700" cy="870950"/>
              <a:chOff x="1128825" y="1737750"/>
              <a:chExt cx="995700" cy="870950"/>
            </a:xfrm>
          </p:grpSpPr>
          <p:pic>
            <p:nvPicPr>
              <p:cNvPr id="454" name="Google Shape;454;p4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5" name="Google Shape;455;p43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README.md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" name="Google Shape;456;p43"/>
            <p:cNvGrpSpPr/>
            <p:nvPr/>
          </p:nvGrpSpPr>
          <p:grpSpPr>
            <a:xfrm>
              <a:off x="1172025" y="2761100"/>
              <a:ext cx="995700" cy="870950"/>
              <a:chOff x="1128825" y="1737750"/>
              <a:chExt cx="995700" cy="870950"/>
            </a:xfrm>
          </p:grpSpPr>
          <p:pic>
            <p:nvPicPr>
              <p:cNvPr id="457" name="Google Shape;457;p4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403700" y="1737750"/>
                <a:ext cx="532250" cy="5322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8" name="Google Shape;458;p43"/>
              <p:cNvSpPr txBox="1"/>
              <p:nvPr/>
            </p:nvSpPr>
            <p:spPr>
              <a:xfrm>
                <a:off x="1128825" y="22700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setup.cfg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9" name="Google Shape;459;p43"/>
            <p:cNvGrpSpPr/>
            <p:nvPr/>
          </p:nvGrpSpPr>
          <p:grpSpPr>
            <a:xfrm>
              <a:off x="2264575" y="1823712"/>
              <a:ext cx="995700" cy="900438"/>
              <a:chOff x="5254825" y="1877537"/>
              <a:chExt cx="995700" cy="900438"/>
            </a:xfrm>
          </p:grpSpPr>
          <p:pic>
            <p:nvPicPr>
              <p:cNvPr id="460" name="Google Shape;460;p4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403700" y="18775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1" name="Google Shape;461;p43"/>
              <p:cNvSpPr txBox="1"/>
              <p:nvPr/>
            </p:nvSpPr>
            <p:spPr>
              <a:xfrm>
                <a:off x="5254825" y="2439275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2" name="Google Shape;462;p43"/>
            <p:cNvGrpSpPr/>
            <p:nvPr/>
          </p:nvGrpSpPr>
          <p:grpSpPr>
            <a:xfrm>
              <a:off x="2216025" y="2797325"/>
              <a:ext cx="995700" cy="882825"/>
              <a:chOff x="2203900" y="1858275"/>
              <a:chExt cx="995700" cy="882825"/>
            </a:xfrm>
          </p:grpSpPr>
          <p:pic>
            <p:nvPicPr>
              <p:cNvPr id="463" name="Google Shape;463;p4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401075" y="1858275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4" name="Google Shape;464;p43"/>
              <p:cNvSpPr txBox="1"/>
              <p:nvPr/>
            </p:nvSpPr>
            <p:spPr>
              <a:xfrm>
                <a:off x="22039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results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43"/>
            <p:cNvGrpSpPr/>
            <p:nvPr/>
          </p:nvGrpSpPr>
          <p:grpSpPr>
            <a:xfrm>
              <a:off x="2276925" y="3680162"/>
              <a:ext cx="995700" cy="867663"/>
              <a:chOff x="2356300" y="1873437"/>
              <a:chExt cx="995700" cy="867663"/>
            </a:xfrm>
          </p:grpSpPr>
          <p:pic>
            <p:nvPicPr>
              <p:cNvPr id="466" name="Google Shape;466;p4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503175" y="1873437"/>
                <a:ext cx="798525" cy="7985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7" name="Google Shape;467;p43"/>
              <p:cNvSpPr txBox="1"/>
              <p:nvPr/>
            </p:nvSpPr>
            <p:spPr>
              <a:xfrm>
                <a:off x="2356300" y="2402400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tests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8" name="Google Shape;468;p43"/>
            <p:cNvSpPr txBox="1"/>
            <p:nvPr/>
          </p:nvSpPr>
          <p:spPr>
            <a:xfrm>
              <a:off x="1602275" y="1413750"/>
              <a:ext cx="1067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my_project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9" name="Google Shape;469;p43"/>
          <p:cNvSpPr txBox="1"/>
          <p:nvPr/>
        </p:nvSpPr>
        <p:spPr>
          <a:xfrm>
            <a:off x="2226792" y="998650"/>
            <a:ext cx="349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3"/>
          <p:cNvSpPr txBox="1"/>
          <p:nvPr/>
        </p:nvSpPr>
        <p:spPr>
          <a:xfrm>
            <a:off x="3396242" y="14382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storage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3"/>
          <p:cNvSpPr txBox="1"/>
          <p:nvPr/>
        </p:nvSpPr>
        <p:spPr>
          <a:xfrm>
            <a:off x="5561142" y="2793250"/>
            <a:ext cx="131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3"/>
          <p:cNvSpPr/>
          <p:nvPr/>
        </p:nvSpPr>
        <p:spPr>
          <a:xfrm>
            <a:off x="4998692" y="1343500"/>
            <a:ext cx="333600" cy="3261900"/>
          </a:xfrm>
          <a:prstGeom prst="rightBrace">
            <a:avLst>
              <a:gd name="adj1" fmla="val 50000"/>
              <a:gd name="adj2" fmla="val 5165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3"/>
          <p:cNvSpPr txBox="1"/>
          <p:nvPr/>
        </p:nvSpPr>
        <p:spPr>
          <a:xfrm>
            <a:off x="5580967" y="3818200"/>
            <a:ext cx="30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 not edit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.git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4" name="Google Shape;474;p43"/>
          <p:cNvGrpSpPr/>
          <p:nvPr/>
        </p:nvGrpSpPr>
        <p:grpSpPr>
          <a:xfrm>
            <a:off x="3475842" y="1838449"/>
            <a:ext cx="995700" cy="846451"/>
            <a:chOff x="6552625" y="3235024"/>
            <a:chExt cx="995700" cy="846451"/>
          </a:xfrm>
        </p:grpSpPr>
        <p:pic>
          <p:nvPicPr>
            <p:cNvPr id="475" name="Google Shape;475;p4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50449" y="3235024"/>
              <a:ext cx="752450" cy="7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6" name="Google Shape;476;p43"/>
            <p:cNvSpPr txBox="1"/>
            <p:nvPr/>
          </p:nvSpPr>
          <p:spPr>
            <a:xfrm>
              <a:off x="6552625" y="374277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 Repository</a:t>
            </a:r>
            <a:endParaRPr/>
          </a:p>
        </p:txBody>
      </p:sp>
      <p:sp>
        <p:nvSpPr>
          <p:cNvPr id="482" name="Google Shape;482;p4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31</a:t>
            </a:fld>
            <a:endParaRPr>
              <a:solidFill>
                <a:schemeClr val="lt1"/>
              </a:solidFill>
            </a:endParaRPr>
          </a:p>
        </p:txBody>
      </p:sp>
      <p:grpSp>
        <p:nvGrpSpPr>
          <p:cNvPr id="483" name="Google Shape;483;p44"/>
          <p:cNvGrpSpPr/>
          <p:nvPr/>
        </p:nvGrpSpPr>
        <p:grpSpPr>
          <a:xfrm>
            <a:off x="680925" y="1246450"/>
            <a:ext cx="4193400" cy="3261900"/>
            <a:chOff x="680925" y="1246450"/>
            <a:chExt cx="4193400" cy="3261900"/>
          </a:xfrm>
        </p:grpSpPr>
        <p:sp>
          <p:nvSpPr>
            <p:cNvPr id="484" name="Google Shape;484;p44"/>
            <p:cNvSpPr/>
            <p:nvPr/>
          </p:nvSpPr>
          <p:spPr>
            <a:xfrm>
              <a:off x="680925" y="1246450"/>
              <a:ext cx="4193400" cy="3261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5" name="Google Shape;485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32450" y="1671312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6" name="Google Shape;486;p44"/>
            <p:cNvSpPr txBox="1"/>
            <p:nvPr/>
          </p:nvSpPr>
          <p:spPr>
            <a:xfrm>
              <a:off x="1883575" y="2233050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project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7" name="Google Shape;487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32200" y="2644925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44"/>
            <p:cNvSpPr txBox="1"/>
            <p:nvPr/>
          </p:nvSpPr>
          <p:spPr>
            <a:xfrm>
              <a:off x="1835025" y="3189050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results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9" name="Google Shape;489;p4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42800" y="3527762"/>
              <a:ext cx="798525" cy="79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44"/>
            <p:cNvSpPr txBox="1"/>
            <p:nvPr/>
          </p:nvSpPr>
          <p:spPr>
            <a:xfrm>
              <a:off x="1895925" y="4056725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tests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4"/>
            <p:cNvSpPr txBox="1"/>
            <p:nvPr/>
          </p:nvSpPr>
          <p:spPr>
            <a:xfrm>
              <a:off x="3500725" y="1362050"/>
              <a:ext cx="1067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Git storage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2" name="Google Shape;492;p44"/>
            <p:cNvGrpSpPr/>
            <p:nvPr/>
          </p:nvGrpSpPr>
          <p:grpSpPr>
            <a:xfrm>
              <a:off x="3580325" y="1762249"/>
              <a:ext cx="995700" cy="846451"/>
              <a:chOff x="6552625" y="3235024"/>
              <a:chExt cx="995700" cy="846451"/>
            </a:xfrm>
          </p:grpSpPr>
          <p:pic>
            <p:nvPicPr>
              <p:cNvPr id="493" name="Google Shape;493;p4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6750449" y="3235024"/>
                <a:ext cx="752450" cy="752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94" name="Google Shape;494;p44"/>
              <p:cNvSpPr txBox="1"/>
              <p:nvPr/>
            </p:nvSpPr>
            <p:spPr>
              <a:xfrm>
                <a:off x="6552625" y="3742775"/>
                <a:ext cx="995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.git</a:t>
                </a:r>
                <a:endParaRPr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95" name="Google Shape;495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3700" y="181395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4"/>
          <p:cNvSpPr txBox="1"/>
          <p:nvPr/>
        </p:nvSpPr>
        <p:spPr>
          <a:xfrm>
            <a:off x="1128825" y="234620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7" name="Google Shape;49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6900" y="268490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4"/>
          <p:cNvSpPr txBox="1"/>
          <p:nvPr/>
        </p:nvSpPr>
        <p:spPr>
          <a:xfrm>
            <a:off x="1172025" y="321715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setup.cfg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4"/>
          <p:cNvSpPr txBox="1"/>
          <p:nvPr/>
        </p:nvSpPr>
        <p:spPr>
          <a:xfrm>
            <a:off x="1602275" y="1261350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26725" y="1170125"/>
            <a:ext cx="2180844" cy="1912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0942" y="1909455"/>
            <a:ext cx="1885425" cy="170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4"/>
          <p:cNvSpPr/>
          <p:nvPr/>
        </p:nvSpPr>
        <p:spPr>
          <a:xfrm>
            <a:off x="5035325" y="2835600"/>
            <a:ext cx="1552800" cy="17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4"/>
          <p:cNvSpPr txBox="1"/>
          <p:nvPr/>
        </p:nvSpPr>
        <p:spPr>
          <a:xfrm>
            <a:off x="5005000" y="2301850"/>
            <a:ext cx="14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machine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 Repository</a:t>
            </a:r>
            <a:endParaRPr/>
          </a:p>
        </p:txBody>
      </p:sp>
      <p:sp>
        <p:nvSpPr>
          <p:cNvPr id="509" name="Google Shape;509;p4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10" name="Google Shape;510;p45"/>
          <p:cNvSpPr/>
          <p:nvPr/>
        </p:nvSpPr>
        <p:spPr>
          <a:xfrm>
            <a:off x="2132750" y="3549550"/>
            <a:ext cx="57318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5"/>
          <p:cNvSpPr/>
          <p:nvPr/>
        </p:nvSpPr>
        <p:spPr>
          <a:xfrm>
            <a:off x="2093600" y="3897125"/>
            <a:ext cx="5770800" cy="56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5"/>
          <p:cNvSpPr/>
          <p:nvPr/>
        </p:nvSpPr>
        <p:spPr>
          <a:xfrm>
            <a:off x="2132750" y="2724975"/>
            <a:ext cx="57708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5"/>
          <p:cNvSpPr txBox="1"/>
          <p:nvPr/>
        </p:nvSpPr>
        <p:spPr>
          <a:xfrm>
            <a:off x="2064246" y="715725"/>
            <a:ext cx="6581100" cy="42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stores all of its extra information in a the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.git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directory.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is located in the root directory of the repository.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expects this information to be laid out in a very precise way, so you should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never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 or delete anything in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.git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see the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.git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directory: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ls -a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see inside the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.git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directory: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ls .git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branches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config  description  HEAD  </a:t>
            </a: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hooks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index  </a:t>
            </a: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info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logs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objects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packed-refs  </a:t>
            </a:r>
            <a:r>
              <a:rPr lang="en" sz="1400" b="0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refs</a:t>
            </a:r>
            <a:endParaRPr sz="1400" b="0" i="0" u="none" strike="noStrike" cap="non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15" name="Google Shape;515;p45"/>
          <p:cNvGrpSpPr/>
          <p:nvPr/>
        </p:nvGrpSpPr>
        <p:grpSpPr>
          <a:xfrm>
            <a:off x="562000" y="1365124"/>
            <a:ext cx="995700" cy="846551"/>
            <a:chOff x="3153300" y="2990299"/>
            <a:chExt cx="995700" cy="846551"/>
          </a:xfrm>
        </p:grpSpPr>
        <p:pic>
          <p:nvPicPr>
            <p:cNvPr id="516" name="Google Shape;516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274924" y="2990299"/>
              <a:ext cx="752450" cy="752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45"/>
            <p:cNvSpPr txBox="1"/>
            <p:nvPr/>
          </p:nvSpPr>
          <p:spPr>
            <a:xfrm>
              <a:off x="3153300" y="3498150"/>
              <a:ext cx="995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.git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3757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 local  repository</a:t>
            </a:r>
            <a:endParaRPr/>
          </a:p>
        </p:txBody>
      </p:sp>
      <p:sp>
        <p:nvSpPr>
          <p:cNvPr id="523" name="Google Shape;523;p4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959350" y="2451475"/>
            <a:ext cx="28638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959350" y="2023950"/>
            <a:ext cx="28638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6"/>
          <p:cNvSpPr/>
          <p:nvPr/>
        </p:nvSpPr>
        <p:spPr>
          <a:xfrm>
            <a:off x="959350" y="1596425"/>
            <a:ext cx="28638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6"/>
          <p:cNvSpPr/>
          <p:nvPr/>
        </p:nvSpPr>
        <p:spPr>
          <a:xfrm>
            <a:off x="959350" y="1195350"/>
            <a:ext cx="28638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462650" y="1097125"/>
            <a:ext cx="8145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mkdir &lt;my_project&gt;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cd &lt;my_project&gt;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ls -a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9" name="Google Shape;529;p46"/>
          <p:cNvSpPr txBox="1"/>
          <p:nvPr/>
        </p:nvSpPr>
        <p:spPr>
          <a:xfrm>
            <a:off x="1136850" y="3306525"/>
            <a:ext cx="6473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2000" b="1" i="0" u="none" strike="noStrike" cap="none">
                <a:solidFill>
                  <a:srgbClr val="000000"/>
                </a:solidFill>
              </a:rPr>
              <a:t>You have a repository  and you started to track it!</a:t>
            </a:r>
            <a:r>
              <a:rPr lang="en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7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Git Workflow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7"/>
          <p:cNvSpPr txBox="1">
            <a:spLocks noGrp="1"/>
          </p:cNvSpPr>
          <p:nvPr>
            <p:ph type="title" idx="4294967295"/>
          </p:nvPr>
        </p:nvSpPr>
        <p:spPr>
          <a:xfrm>
            <a:off x="311700" y="902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/>
              <a:t>Staging &amp; Committing</a:t>
            </a:r>
            <a:endParaRPr sz="2220" b="1"/>
          </a:p>
        </p:txBody>
      </p:sp>
      <p:sp>
        <p:nvSpPr>
          <p:cNvPr id="537" name="Google Shape;537;p47"/>
          <p:cNvSpPr txBox="1"/>
          <p:nvPr/>
        </p:nvSpPr>
        <p:spPr>
          <a:xfrm>
            <a:off x="492300" y="1646775"/>
            <a:ext cx="349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 a draft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Staging area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8" name="Google Shape;53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400" y="2380823"/>
            <a:ext cx="2430901" cy="1843224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7"/>
          <p:cNvSpPr txBox="1"/>
          <p:nvPr/>
        </p:nvSpPr>
        <p:spPr>
          <a:xfrm>
            <a:off x="5064300" y="1646775"/>
            <a:ext cx="349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Saving a file &amp; update repo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 changes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8526" y="2434225"/>
            <a:ext cx="2360202" cy="1725576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4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Git Workflow</a:t>
            </a:r>
            <a:endParaRPr/>
          </a:p>
        </p:txBody>
      </p:sp>
      <p:sp>
        <p:nvSpPr>
          <p:cNvPr id="547" name="Google Shape;547;p48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48"/>
          <p:cNvSpPr txBox="1"/>
          <p:nvPr/>
        </p:nvSpPr>
        <p:spPr>
          <a:xfrm>
            <a:off x="437725" y="1194275"/>
            <a:ext cx="8394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                                Staging                                                  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.git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Directory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(Working Directory)                    Area                                                      (Permanent Storage)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48"/>
          <p:cNvSpPr/>
          <p:nvPr/>
        </p:nvSpPr>
        <p:spPr>
          <a:xfrm>
            <a:off x="223725" y="1932250"/>
            <a:ext cx="1632300" cy="1362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0" name="Google Shape;55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300" y="2423550"/>
            <a:ext cx="532250" cy="53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8"/>
          <p:cNvSpPr txBox="1"/>
          <p:nvPr/>
        </p:nvSpPr>
        <p:spPr>
          <a:xfrm>
            <a:off x="290625" y="2879600"/>
            <a:ext cx="995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8"/>
          <p:cNvSpPr txBox="1"/>
          <p:nvPr/>
        </p:nvSpPr>
        <p:spPr>
          <a:xfrm>
            <a:off x="556000" y="1809875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8"/>
          <p:cNvSpPr/>
          <p:nvPr/>
        </p:nvSpPr>
        <p:spPr>
          <a:xfrm>
            <a:off x="2948825" y="1974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8"/>
          <p:cNvSpPr/>
          <p:nvPr/>
        </p:nvSpPr>
        <p:spPr>
          <a:xfrm>
            <a:off x="2948825" y="2355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8"/>
          <p:cNvSpPr/>
          <p:nvPr/>
        </p:nvSpPr>
        <p:spPr>
          <a:xfrm>
            <a:off x="2948825" y="2736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8"/>
          <p:cNvSpPr/>
          <p:nvPr/>
        </p:nvSpPr>
        <p:spPr>
          <a:xfrm>
            <a:off x="2948825" y="3117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8"/>
          <p:cNvSpPr/>
          <p:nvPr/>
        </p:nvSpPr>
        <p:spPr>
          <a:xfrm>
            <a:off x="2948825" y="3498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8"/>
          <p:cNvSpPr/>
          <p:nvPr/>
        </p:nvSpPr>
        <p:spPr>
          <a:xfrm>
            <a:off x="2948825" y="3879300"/>
            <a:ext cx="1322400" cy="2358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8"/>
          <p:cNvSpPr/>
          <p:nvPr/>
        </p:nvSpPr>
        <p:spPr>
          <a:xfrm>
            <a:off x="6131725" y="2355300"/>
            <a:ext cx="1686300" cy="235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8"/>
          <p:cNvSpPr/>
          <p:nvPr/>
        </p:nvSpPr>
        <p:spPr>
          <a:xfrm>
            <a:off x="6102850" y="3898625"/>
            <a:ext cx="1686300" cy="235800"/>
          </a:xfrm>
          <a:prstGeom prst="rect">
            <a:avLst/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1" name="Google Shape;561;p48"/>
          <p:cNvCxnSpPr>
            <a:stCxn id="550" idx="3"/>
            <a:endCxn id="553" idx="1"/>
          </p:cNvCxnSpPr>
          <p:nvPr/>
        </p:nvCxnSpPr>
        <p:spPr>
          <a:xfrm rot="10800000" flipH="1">
            <a:off x="1021550" y="2092075"/>
            <a:ext cx="1927200" cy="597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2" name="Google Shape;562;p48"/>
          <p:cNvCxnSpPr>
            <a:stCxn id="550" idx="3"/>
            <a:endCxn id="554" idx="1"/>
          </p:cNvCxnSpPr>
          <p:nvPr/>
        </p:nvCxnSpPr>
        <p:spPr>
          <a:xfrm rot="10800000" flipH="1">
            <a:off x="1021550" y="2473075"/>
            <a:ext cx="1927200" cy="21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3" name="Google Shape;563;p48"/>
          <p:cNvCxnSpPr>
            <a:stCxn id="550" idx="3"/>
            <a:endCxn id="555" idx="1"/>
          </p:cNvCxnSpPr>
          <p:nvPr/>
        </p:nvCxnSpPr>
        <p:spPr>
          <a:xfrm>
            <a:off x="1021550" y="2689675"/>
            <a:ext cx="1927200" cy="16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4" name="Google Shape;564;p48"/>
          <p:cNvCxnSpPr>
            <a:stCxn id="550" idx="3"/>
            <a:endCxn id="556" idx="1"/>
          </p:cNvCxnSpPr>
          <p:nvPr/>
        </p:nvCxnSpPr>
        <p:spPr>
          <a:xfrm>
            <a:off x="1021550" y="2689675"/>
            <a:ext cx="1927200" cy="545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5" name="Google Shape;565;p48"/>
          <p:cNvCxnSpPr>
            <a:endCxn id="557" idx="1"/>
          </p:cNvCxnSpPr>
          <p:nvPr/>
        </p:nvCxnSpPr>
        <p:spPr>
          <a:xfrm>
            <a:off x="1021625" y="2689800"/>
            <a:ext cx="1927200" cy="9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6" name="Google Shape;566;p48"/>
          <p:cNvCxnSpPr>
            <a:endCxn id="558" idx="1"/>
          </p:cNvCxnSpPr>
          <p:nvPr/>
        </p:nvCxnSpPr>
        <p:spPr>
          <a:xfrm>
            <a:off x="1021625" y="2689800"/>
            <a:ext cx="1927200" cy="130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7" name="Google Shape;567;p48"/>
          <p:cNvCxnSpPr>
            <a:stCxn id="558" idx="3"/>
            <a:endCxn id="560" idx="1"/>
          </p:cNvCxnSpPr>
          <p:nvPr/>
        </p:nvCxnSpPr>
        <p:spPr>
          <a:xfrm>
            <a:off x="4271225" y="3997200"/>
            <a:ext cx="1831500" cy="19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568" name="Google Shape;568;p48"/>
          <p:cNvCxnSpPr>
            <a:stCxn id="554" idx="3"/>
            <a:endCxn id="559" idx="1"/>
          </p:cNvCxnSpPr>
          <p:nvPr/>
        </p:nvCxnSpPr>
        <p:spPr>
          <a:xfrm>
            <a:off x="4271225" y="2473200"/>
            <a:ext cx="1860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69" name="Google Shape;569;p48"/>
          <p:cNvSpPr txBox="1"/>
          <p:nvPr/>
        </p:nvSpPr>
        <p:spPr>
          <a:xfrm>
            <a:off x="3255525" y="1890138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8"/>
          <p:cNvSpPr txBox="1"/>
          <p:nvPr/>
        </p:nvSpPr>
        <p:spPr>
          <a:xfrm>
            <a:off x="3255525" y="2271138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3261225" y="3042750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48"/>
          <p:cNvSpPr txBox="1"/>
          <p:nvPr/>
        </p:nvSpPr>
        <p:spPr>
          <a:xfrm>
            <a:off x="3255525" y="2661750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48"/>
          <p:cNvSpPr txBox="1"/>
          <p:nvPr/>
        </p:nvSpPr>
        <p:spPr>
          <a:xfrm>
            <a:off x="3255525" y="3423750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8"/>
          <p:cNvSpPr txBox="1"/>
          <p:nvPr/>
        </p:nvSpPr>
        <p:spPr>
          <a:xfrm>
            <a:off x="3261275" y="3804750"/>
            <a:ext cx="697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8"/>
          <p:cNvSpPr txBox="1"/>
          <p:nvPr/>
        </p:nvSpPr>
        <p:spPr>
          <a:xfrm>
            <a:off x="6465300" y="2267250"/>
            <a:ext cx="99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8"/>
          <p:cNvSpPr txBox="1"/>
          <p:nvPr/>
        </p:nvSpPr>
        <p:spPr>
          <a:xfrm>
            <a:off x="6508525" y="3804750"/>
            <a:ext cx="995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committed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4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Git Workflow</a:t>
            </a:r>
            <a:endParaRPr/>
          </a:p>
        </p:txBody>
      </p:sp>
      <p:sp>
        <p:nvSpPr>
          <p:cNvPr id="583" name="Google Shape;583;p49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Modify file(s)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Save the draft / stage the file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Save the changes / Commit the updated file(s)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/>
              <a:t>Repeat</a:t>
            </a:r>
            <a:endParaRPr/>
          </a:p>
        </p:txBody>
      </p:sp>
      <p:sp>
        <p:nvSpPr>
          <p:cNvPr id="588" name="Google Shape;588;p49"/>
          <p:cNvSpPr/>
          <p:nvPr/>
        </p:nvSpPr>
        <p:spPr>
          <a:xfrm>
            <a:off x="354450" y="1137517"/>
            <a:ext cx="6025500" cy="157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0"/>
          <p:cNvSpPr/>
          <p:nvPr/>
        </p:nvSpPr>
        <p:spPr>
          <a:xfrm>
            <a:off x="1278050" y="3968675"/>
            <a:ext cx="2778300" cy="307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0"/>
          <p:cNvSpPr/>
          <p:nvPr/>
        </p:nvSpPr>
        <p:spPr>
          <a:xfrm>
            <a:off x="1296800" y="3383650"/>
            <a:ext cx="2740800" cy="307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0"/>
          <p:cNvSpPr/>
          <p:nvPr/>
        </p:nvSpPr>
        <p:spPr>
          <a:xfrm>
            <a:off x="4662025" y="2022600"/>
            <a:ext cx="29814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0"/>
          <p:cNvSpPr/>
          <p:nvPr/>
        </p:nvSpPr>
        <p:spPr>
          <a:xfrm>
            <a:off x="959350" y="2451475"/>
            <a:ext cx="32631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0"/>
          <p:cNvSpPr/>
          <p:nvPr/>
        </p:nvSpPr>
        <p:spPr>
          <a:xfrm>
            <a:off x="959350" y="2023950"/>
            <a:ext cx="32631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0"/>
          <p:cNvSpPr/>
          <p:nvPr/>
        </p:nvSpPr>
        <p:spPr>
          <a:xfrm>
            <a:off x="959350" y="1596425"/>
            <a:ext cx="32328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0"/>
          <p:cNvSpPr/>
          <p:nvPr/>
        </p:nvSpPr>
        <p:spPr>
          <a:xfrm>
            <a:off x="959350" y="1195350"/>
            <a:ext cx="3200100" cy="25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Git Workflow</a:t>
            </a:r>
            <a:endParaRPr/>
          </a:p>
        </p:txBody>
      </p:sp>
      <p:sp>
        <p:nvSpPr>
          <p:cNvPr id="606" name="Google Shape;606;p50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0"/>
          <p:cNvSpPr txBox="1"/>
          <p:nvPr/>
        </p:nvSpPr>
        <p:spPr>
          <a:xfrm>
            <a:off x="462650" y="1097125"/>
            <a:ext cx="84969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cd &lt;my_project&gt;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: Make sure your are in the repository of your project.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touch README.md</a:t>
            </a:r>
            <a:endParaRPr sz="1400" b="0" i="0" u="none" strike="noStrike" cap="none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README.md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.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“First commit”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a message.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0"/>
          <p:cNvSpPr txBox="1"/>
          <p:nvPr/>
        </p:nvSpPr>
        <p:spPr>
          <a:xfrm>
            <a:off x="914000" y="3306525"/>
            <a:ext cx="7594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add &lt;file_name&gt;</a:t>
            </a: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Add files to staging area.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“message”</a:t>
            </a: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Save changes to </a:t>
            </a:r>
            <a:r>
              <a:rPr lang="en" sz="1400" b="0" i="0" u="none" strike="noStrike" cap="none">
                <a:solidFill>
                  <a:schemeClr val="dk1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.git</a:t>
            </a: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Directory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1077987" y="3120825"/>
            <a:ext cx="6016500" cy="1314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Commit Structure</a:t>
            </a:r>
            <a:endParaRPr/>
          </a:p>
        </p:txBody>
      </p:sp>
      <p:sp>
        <p:nvSpPr>
          <p:cNvPr id="616" name="Google Shape;616;p51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1"/>
          <p:cNvSpPr txBox="1"/>
          <p:nvPr/>
        </p:nvSpPr>
        <p:spPr>
          <a:xfrm>
            <a:off x="716280" y="1027923"/>
            <a:ext cx="5814300" cy="3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commits have 3 parts: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DC002D"/>
                </a:solidFill>
                <a:latin typeface="Arial"/>
                <a:ea typeface="Arial"/>
                <a:cs typeface="Arial"/>
                <a:sym typeface="Arial"/>
              </a:rPr>
              <a:t>1) Commit</a:t>
            </a:r>
            <a:endParaRPr>
              <a:solidFill>
                <a:srgbClr val="DC002D"/>
              </a:solidFill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Contains the metadata; author, log message, commit time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DC002D"/>
                </a:solidFill>
                <a:latin typeface="Arial"/>
                <a:ea typeface="Arial"/>
                <a:cs typeface="Arial"/>
                <a:sym typeface="Arial"/>
              </a:rPr>
              <a:t>2) Tree</a:t>
            </a:r>
            <a:endParaRPr>
              <a:solidFill>
                <a:srgbClr val="DC002D"/>
              </a:solidFill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Tracks the names and locations of files and directories in the repo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Maps keys to files and directories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DC002D"/>
                </a:solidFill>
                <a:latin typeface="Arial"/>
                <a:ea typeface="Arial"/>
                <a:cs typeface="Arial"/>
                <a:sym typeface="Arial"/>
              </a:rPr>
              <a:t>3) Blob (Binary Large Object)</a:t>
            </a:r>
            <a:endParaRPr>
              <a:solidFill>
                <a:srgbClr val="DC002D"/>
              </a:solidFill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It contains data of any kind, a compressed snapshot of a file’s content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Commit Structure</a:t>
            </a:r>
            <a:endParaRPr/>
          </a:p>
        </p:txBody>
      </p:sp>
      <p:sp>
        <p:nvSpPr>
          <p:cNvPr id="624" name="Google Shape;624;p52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 txBox="1"/>
          <p:nvPr/>
        </p:nvSpPr>
        <p:spPr>
          <a:xfrm>
            <a:off x="716280" y="1027923"/>
            <a:ext cx="140823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>
            <a:off x="845820" y="1488950"/>
            <a:ext cx="838200" cy="400200"/>
          </a:xfrm>
          <a:prstGeom prst="rect">
            <a:avLst/>
          </a:prstGeom>
          <a:noFill/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>
            <a:off x="845820" y="2483498"/>
            <a:ext cx="838200" cy="400200"/>
          </a:xfrm>
          <a:prstGeom prst="rect">
            <a:avLst/>
          </a:prstGeom>
          <a:noFill/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>
            <a:off x="845820" y="3451944"/>
            <a:ext cx="838200" cy="400200"/>
          </a:xfrm>
          <a:prstGeom prst="rect">
            <a:avLst/>
          </a:prstGeom>
          <a:noFill/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 txBox="1"/>
          <p:nvPr/>
        </p:nvSpPr>
        <p:spPr>
          <a:xfrm>
            <a:off x="845820" y="1488950"/>
            <a:ext cx="9144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87aa88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Commit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 txBox="1"/>
          <p:nvPr/>
        </p:nvSpPr>
        <p:spPr>
          <a:xfrm>
            <a:off x="845820" y="2502404"/>
            <a:ext cx="108966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35bc56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Commit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 txBox="1"/>
          <p:nvPr/>
        </p:nvSpPr>
        <p:spPr>
          <a:xfrm>
            <a:off x="845820" y="3467423"/>
            <a:ext cx="914400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3bac59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 Commit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 txBox="1"/>
          <p:nvPr/>
        </p:nvSpPr>
        <p:spPr>
          <a:xfrm>
            <a:off x="3116580" y="1027923"/>
            <a:ext cx="41905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Tree                                                                 Blob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2983454" y="1439446"/>
            <a:ext cx="980499" cy="164590"/>
          </a:xfrm>
          <a:prstGeom prst="rect">
            <a:avLst/>
          </a:prstGeom>
          <a:solidFill>
            <a:srgbClr val="B1CDF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2945353" y="2401203"/>
            <a:ext cx="980499" cy="164590"/>
          </a:xfrm>
          <a:prstGeom prst="rect">
            <a:avLst/>
          </a:prstGeom>
          <a:solidFill>
            <a:srgbClr val="B1CDF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2"/>
          <p:cNvSpPr/>
          <p:nvPr/>
        </p:nvSpPr>
        <p:spPr>
          <a:xfrm>
            <a:off x="2914873" y="3360325"/>
            <a:ext cx="980499" cy="164590"/>
          </a:xfrm>
          <a:prstGeom prst="rect">
            <a:avLst/>
          </a:prstGeom>
          <a:solidFill>
            <a:srgbClr val="B1CDF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2"/>
          <p:cNvSpPr/>
          <p:nvPr/>
        </p:nvSpPr>
        <p:spPr>
          <a:xfrm>
            <a:off x="2818383" y="1612202"/>
            <a:ext cx="1310640" cy="200055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Data1.csv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2"/>
          <p:cNvSpPr/>
          <p:nvPr/>
        </p:nvSpPr>
        <p:spPr>
          <a:xfrm>
            <a:off x="2818383" y="2577708"/>
            <a:ext cx="1310640" cy="200055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Data1.csv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2"/>
          <p:cNvSpPr/>
          <p:nvPr/>
        </p:nvSpPr>
        <p:spPr>
          <a:xfrm>
            <a:off x="2818383" y="3540158"/>
            <a:ext cx="1310640" cy="200055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Data1.csv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2"/>
          <p:cNvSpPr/>
          <p:nvPr/>
        </p:nvSpPr>
        <p:spPr>
          <a:xfrm>
            <a:off x="2818383" y="2789678"/>
            <a:ext cx="1310640" cy="208221"/>
          </a:xfrm>
          <a:prstGeom prst="rect">
            <a:avLst/>
          </a:prstGeom>
          <a:solidFill>
            <a:srgbClr val="F7FFB3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analyse.py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2"/>
          <p:cNvSpPr/>
          <p:nvPr/>
        </p:nvSpPr>
        <p:spPr>
          <a:xfrm>
            <a:off x="2818383" y="3757418"/>
            <a:ext cx="1310640" cy="208221"/>
          </a:xfrm>
          <a:prstGeom prst="rect">
            <a:avLst/>
          </a:prstGeom>
          <a:solidFill>
            <a:srgbClr val="F7FFB3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analyse.py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2"/>
          <p:cNvSpPr/>
          <p:nvPr/>
        </p:nvSpPr>
        <p:spPr>
          <a:xfrm>
            <a:off x="6423660" y="1415061"/>
            <a:ext cx="1098833" cy="307776"/>
          </a:xfrm>
          <a:prstGeom prst="rect">
            <a:avLst/>
          </a:prstGeom>
          <a:solidFill>
            <a:srgbClr val="B1CDF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#Goal of the project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2"/>
          <p:cNvSpPr/>
          <p:nvPr/>
        </p:nvSpPr>
        <p:spPr>
          <a:xfrm>
            <a:off x="6370320" y="3313929"/>
            <a:ext cx="1098833" cy="307776"/>
          </a:xfrm>
          <a:prstGeom prst="rect">
            <a:avLst/>
          </a:prstGeom>
          <a:solidFill>
            <a:srgbClr val="B1CDF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#What does this script do?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2"/>
          <p:cNvSpPr/>
          <p:nvPr/>
        </p:nvSpPr>
        <p:spPr>
          <a:xfrm>
            <a:off x="6317756" y="1741485"/>
            <a:ext cx="1310640" cy="307776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1925, True, -</a:t>
            </a:r>
            <a:endParaRPr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1887, True, -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4" name="Google Shape;644;p52"/>
          <p:cNvSpPr/>
          <p:nvPr/>
        </p:nvSpPr>
        <p:spPr>
          <a:xfrm>
            <a:off x="6317756" y="2419287"/>
            <a:ext cx="1310640" cy="353734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1925, True, HPC</a:t>
            </a:r>
            <a:endParaRPr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1887, True, -</a:t>
            </a:r>
            <a:b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1100, False, HPC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45" name="Google Shape;645;p52"/>
          <p:cNvSpPr/>
          <p:nvPr/>
        </p:nvSpPr>
        <p:spPr>
          <a:xfrm>
            <a:off x="6317756" y="2789678"/>
            <a:ext cx="1310640" cy="307776"/>
          </a:xfrm>
          <a:prstGeom prst="rect">
            <a:avLst/>
          </a:prstGeom>
          <a:solidFill>
            <a:srgbClr val="F7FFB3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 numpy as np</a:t>
            </a:r>
            <a:endParaRPr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 pandas as pd</a:t>
            </a:r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2"/>
          <p:cNvSpPr/>
          <p:nvPr/>
        </p:nvSpPr>
        <p:spPr>
          <a:xfrm>
            <a:off x="6317756" y="3637856"/>
            <a:ext cx="1310640" cy="353734"/>
          </a:xfrm>
          <a:prstGeom prst="rect">
            <a:avLst/>
          </a:prstGeom>
          <a:solidFill>
            <a:srgbClr val="FFDDB2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1925, True, HPC</a:t>
            </a:r>
            <a:endParaRPr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1887, True, -</a:t>
            </a:r>
            <a:b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1100, True, -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47" name="Google Shape;647;p52"/>
          <p:cNvCxnSpPr/>
          <p:nvPr/>
        </p:nvCxnSpPr>
        <p:spPr>
          <a:xfrm rot="10800000" flipH="1">
            <a:off x="1760220" y="1648895"/>
            <a:ext cx="990600" cy="1476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48" name="Google Shape;648;p52"/>
          <p:cNvCxnSpPr/>
          <p:nvPr/>
        </p:nvCxnSpPr>
        <p:spPr>
          <a:xfrm rot="10800000" flipH="1">
            <a:off x="1775460" y="2715695"/>
            <a:ext cx="990600" cy="1476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49" name="Google Shape;649;p52"/>
          <p:cNvCxnSpPr/>
          <p:nvPr/>
        </p:nvCxnSpPr>
        <p:spPr>
          <a:xfrm rot="10800000" flipH="1">
            <a:off x="1760220" y="3683435"/>
            <a:ext cx="990600" cy="1476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50" name="Google Shape;650;p52"/>
          <p:cNvCxnSpPr/>
          <p:nvPr/>
        </p:nvCxnSpPr>
        <p:spPr>
          <a:xfrm>
            <a:off x="601980" y="2232660"/>
            <a:ext cx="733806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51" name="Google Shape;651;p52"/>
          <p:cNvCxnSpPr/>
          <p:nvPr/>
        </p:nvCxnSpPr>
        <p:spPr>
          <a:xfrm>
            <a:off x="594360" y="3201303"/>
            <a:ext cx="733806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652" name="Google Shape;652;p52"/>
          <p:cNvCxnSpPr>
            <a:stCxn id="633" idx="3"/>
          </p:cNvCxnSpPr>
          <p:nvPr/>
        </p:nvCxnSpPr>
        <p:spPr>
          <a:xfrm rot="10800000" flipH="1">
            <a:off x="3963953" y="1489041"/>
            <a:ext cx="2353800" cy="327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C5AD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3" name="Google Shape;653;p52"/>
          <p:cNvCxnSpPr/>
          <p:nvPr/>
        </p:nvCxnSpPr>
        <p:spPr>
          <a:xfrm rot="10800000" flipH="1">
            <a:off x="3948712" y="1488947"/>
            <a:ext cx="2367000" cy="985200"/>
          </a:xfrm>
          <a:prstGeom prst="curvedConnector3">
            <a:avLst>
              <a:gd name="adj1" fmla="val 50002"/>
            </a:avLst>
          </a:prstGeom>
          <a:noFill/>
          <a:ln w="19050" cap="flat" cmpd="sng">
            <a:solidFill>
              <a:srgbClr val="3B7FF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4" name="Google Shape;654;p52"/>
          <p:cNvCxnSpPr>
            <a:stCxn id="635" idx="3"/>
          </p:cNvCxnSpPr>
          <p:nvPr/>
        </p:nvCxnSpPr>
        <p:spPr>
          <a:xfrm rot="10800000" flipH="1">
            <a:off x="3895372" y="3423720"/>
            <a:ext cx="2420400" cy="18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rgbClr val="0C5AD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655" name="Google Shape;655;p52"/>
          <p:cNvCxnSpPr>
            <a:endCxn id="643" idx="1"/>
          </p:cNvCxnSpPr>
          <p:nvPr/>
        </p:nvCxnSpPr>
        <p:spPr>
          <a:xfrm>
            <a:off x="4196456" y="1738773"/>
            <a:ext cx="2121300" cy="1566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FDDB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56" name="Google Shape;656;p52"/>
          <p:cNvCxnSpPr>
            <a:endCxn id="644" idx="1"/>
          </p:cNvCxnSpPr>
          <p:nvPr/>
        </p:nvCxnSpPr>
        <p:spPr>
          <a:xfrm rot="10800000" flipH="1">
            <a:off x="4162856" y="2596154"/>
            <a:ext cx="2154900" cy="1041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FDDB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57" name="Google Shape;657;p52"/>
          <p:cNvCxnSpPr/>
          <p:nvPr/>
        </p:nvCxnSpPr>
        <p:spPr>
          <a:xfrm>
            <a:off x="4179695" y="3613244"/>
            <a:ext cx="2121300" cy="1566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FDDB2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58" name="Google Shape;658;p52"/>
          <p:cNvCxnSpPr>
            <a:endCxn id="645" idx="1"/>
          </p:cNvCxnSpPr>
          <p:nvPr/>
        </p:nvCxnSpPr>
        <p:spPr>
          <a:xfrm>
            <a:off x="4124156" y="2864666"/>
            <a:ext cx="2193600" cy="789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4FF8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659" name="Google Shape;659;p52"/>
          <p:cNvCxnSpPr>
            <a:endCxn id="645" idx="1"/>
          </p:cNvCxnSpPr>
          <p:nvPr/>
        </p:nvCxnSpPr>
        <p:spPr>
          <a:xfrm rot="10800000" flipH="1">
            <a:off x="4143656" y="2943566"/>
            <a:ext cx="2174100" cy="8961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rgbClr val="F4FF8D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660" name="Google Shape;660;p5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39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53"/>
          <p:cNvSpPr/>
          <p:nvPr/>
        </p:nvSpPr>
        <p:spPr>
          <a:xfrm>
            <a:off x="355575" y="1719550"/>
            <a:ext cx="1653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Monitor </a:t>
            </a:r>
            <a:endParaRPr/>
          </a:p>
        </p:txBody>
      </p:sp>
      <p:sp>
        <p:nvSpPr>
          <p:cNvPr id="667" name="Google Shape;667;p53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Make sure you are inside your local repository, then check its status: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8" name="Google Shape;668;p53"/>
          <p:cNvSpPr/>
          <p:nvPr/>
        </p:nvSpPr>
        <p:spPr>
          <a:xfrm>
            <a:off x="355575" y="2421350"/>
            <a:ext cx="3224100" cy="569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3"/>
          <p:cNvSpPr txBox="1"/>
          <p:nvPr/>
        </p:nvSpPr>
        <p:spPr>
          <a:xfrm>
            <a:off x="379725" y="2421350"/>
            <a:ext cx="3493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branch master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Nothing to commit, working tree clean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CA3086-4C41-6A39-1A0B-77BE3184410B}"/>
              </a:ext>
            </a:extLst>
          </p:cNvPr>
          <p:cNvGrpSpPr/>
          <p:nvPr/>
        </p:nvGrpSpPr>
        <p:grpSpPr>
          <a:xfrm>
            <a:off x="151125" y="3157284"/>
            <a:ext cx="8225709" cy="1042757"/>
            <a:chOff x="151125" y="3444000"/>
            <a:chExt cx="8482800" cy="1098900"/>
          </a:xfrm>
        </p:grpSpPr>
        <p:sp>
          <p:nvSpPr>
            <p:cNvPr id="670" name="Google Shape;670;p53"/>
            <p:cNvSpPr txBox="1"/>
            <p:nvPr/>
          </p:nvSpPr>
          <p:spPr>
            <a:xfrm>
              <a:off x="151125" y="3444000"/>
              <a:ext cx="8482800" cy="109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71450" tIns="91425" rIns="91425" bIns="91425" anchor="t" anchorCtr="0">
              <a:spAutoFit/>
            </a:bodyPr>
            <a:lstStyle/>
            <a:p>
              <a:pPr marL="28575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 b="0" i="0" u="none" strike="noStrike" cap="none" dirty="0">
                  <a:solidFill>
                    <a:schemeClr val="dk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 status: </a:t>
              </a:r>
              <a:r>
                <a:rPr lang="en" sz="1800" b="0" i="0" u="none" strike="noStrike" cap="none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displays a list of the files that have been modified (if there is any) since the last time changes were saved, as well as the status of stage and commit.</a:t>
              </a:r>
              <a:r>
                <a:rPr lang="en" sz="18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11425" y="3494631"/>
              <a:ext cx="8422500" cy="10416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2" name="Google Shape;672;p5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4"/>
          <p:cNvSpPr/>
          <p:nvPr/>
        </p:nvSpPr>
        <p:spPr>
          <a:xfrm>
            <a:off x="113873" y="1268944"/>
            <a:ext cx="2763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54"/>
          <p:cNvSpPr/>
          <p:nvPr/>
        </p:nvSpPr>
        <p:spPr>
          <a:xfrm>
            <a:off x="113873" y="2207569"/>
            <a:ext cx="3359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4"/>
          <p:cNvSpPr txBox="1">
            <a:spLocks noGrp="1"/>
          </p:cNvSpPr>
          <p:nvPr>
            <p:ph type="body" idx="4294967295"/>
          </p:nvPr>
        </p:nvSpPr>
        <p:spPr>
          <a:xfrm>
            <a:off x="31423" y="752033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modify README.md 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nano README.md         </a:t>
            </a:r>
            <a:r>
              <a:rPr lang="en"/>
              <a:t>or use a text editor of your choice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DO NOT ADD your changes!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diff README.md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0" name="Google Shape;680;p5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sp>
        <p:nvSpPr>
          <p:cNvPr id="681" name="Google Shape;681;p54"/>
          <p:cNvSpPr txBox="1"/>
          <p:nvPr/>
        </p:nvSpPr>
        <p:spPr>
          <a:xfrm>
            <a:off x="170123" y="3946394"/>
            <a:ext cx="8607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diff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Compares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unstaged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file(s) with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commit, shows changes between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                    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directory and staging area.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4"/>
          <p:cNvSpPr/>
          <p:nvPr/>
        </p:nvSpPr>
        <p:spPr>
          <a:xfrm>
            <a:off x="148149" y="3946400"/>
            <a:ext cx="7866900" cy="665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123" y="2612321"/>
            <a:ext cx="6594225" cy="12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54"/>
          <p:cNvSpPr txBox="1">
            <a:spLocks noGrp="1"/>
          </p:cNvSpPr>
          <p:nvPr>
            <p:ph type="sldNum" idx="12"/>
          </p:nvPr>
        </p:nvSpPr>
        <p:spPr>
          <a:xfrm>
            <a:off x="164123" y="4639338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690" name="Google Shape;69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697" name="Google Shape;69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6"/>
          <p:cNvSpPr txBox="1"/>
          <p:nvPr/>
        </p:nvSpPr>
        <p:spPr>
          <a:xfrm>
            <a:off x="356125" y="2841925"/>
            <a:ext cx="8298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source of diff: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line shows the files being compared.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a/project/git_commands.txt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&amp; </a:t>
            </a:r>
            <a:r>
              <a:rPr lang="en" sz="1400" b="0" i="0" u="none" strike="noStrike" cap="none">
                <a:solidFill>
                  <a:schemeClr val="dk2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b/project/git_commands.txt</a:t>
            </a: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have been passed to git diff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56"/>
          <p:cNvSpPr/>
          <p:nvPr/>
        </p:nvSpPr>
        <p:spPr>
          <a:xfrm>
            <a:off x="2045950" y="1238625"/>
            <a:ext cx="4836300" cy="21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706" name="Google Shape;706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7"/>
          <p:cNvSpPr txBox="1"/>
          <p:nvPr/>
        </p:nvSpPr>
        <p:spPr>
          <a:xfrm>
            <a:off x="356125" y="2841925"/>
            <a:ext cx="8298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Metadata: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100644: mode of file. In this specific case unexecutable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419293d &amp; 0779b24: hashes (shortened) of preimage and postimage of the file.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57"/>
          <p:cNvSpPr/>
          <p:nvPr/>
        </p:nvSpPr>
        <p:spPr>
          <a:xfrm>
            <a:off x="2046013" y="1419875"/>
            <a:ext cx="4836300" cy="2130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5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715" name="Google Shape;715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8"/>
          <p:cNvSpPr txBox="1"/>
          <p:nvPr/>
        </p:nvSpPr>
        <p:spPr>
          <a:xfrm>
            <a:off x="356125" y="2841925"/>
            <a:ext cx="82983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Markers: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a/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old version  &amp;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b/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new version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highlight>
                <a:srgbClr val="D9D9D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8D8D8"/>
                </a:highlight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">
                <a:highlight>
                  <a:srgbClr val="D8D8D8"/>
                </a:highlight>
              </a:rPr>
              <a:t> - -</a:t>
            </a:r>
            <a:r>
              <a:rPr lang="en">
                <a:highlight>
                  <a:schemeClr val="lt1"/>
                </a:highlight>
              </a:rPr>
              <a:t>  : old version  &amp; </a:t>
            </a:r>
            <a:r>
              <a:rPr lang="en">
                <a:highlight>
                  <a:srgbClr val="D8D8D8"/>
                </a:highlight>
              </a:rPr>
              <a:t>+++</a:t>
            </a:r>
            <a:r>
              <a:rPr lang="en">
                <a:highlight>
                  <a:schemeClr val="lt1"/>
                </a:highlight>
              </a:rPr>
              <a:t> : new version</a:t>
            </a:r>
            <a:endParaRPr sz="1400" b="0" i="0" u="none" strike="noStrike" cap="none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8"/>
          <p:cNvSpPr/>
          <p:nvPr/>
        </p:nvSpPr>
        <p:spPr>
          <a:xfrm>
            <a:off x="2046000" y="1618875"/>
            <a:ext cx="4836300" cy="313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/>
        </p:nvSpPr>
        <p:spPr>
          <a:xfrm>
            <a:off x="356125" y="2841925"/>
            <a:ext cx="8298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Chunk: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Shows a portion of the file that was modified. Multiple chunks can be displayed, depending on how many changes were made.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9"/>
          <p:cNvSpPr/>
          <p:nvPr/>
        </p:nvSpPr>
        <p:spPr>
          <a:xfrm>
            <a:off x="6937900" y="1908825"/>
            <a:ext cx="177600" cy="572700"/>
          </a:xfrm>
          <a:prstGeom prst="rightBrace">
            <a:avLst>
              <a:gd name="adj1" fmla="val 50000"/>
              <a:gd name="adj2" fmla="val 5167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9"/>
          <p:cNvSpPr/>
          <p:nvPr/>
        </p:nvSpPr>
        <p:spPr>
          <a:xfrm flipH="1">
            <a:off x="1792150" y="1948025"/>
            <a:ext cx="177600" cy="572700"/>
          </a:xfrm>
          <a:prstGeom prst="rightBrace">
            <a:avLst>
              <a:gd name="adj1" fmla="val 50000"/>
              <a:gd name="adj2" fmla="val 51676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734" name="Google Shape;734;p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60"/>
          <p:cNvSpPr txBox="1"/>
          <p:nvPr/>
        </p:nvSpPr>
        <p:spPr>
          <a:xfrm>
            <a:off x="356125" y="2841925"/>
            <a:ext cx="82983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Header: This tells you where the changes </a:t>
            </a:r>
            <a:r>
              <a:rPr lang="en"/>
              <a:t>occurs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@@ -&lt;old </a:t>
            </a:r>
            <a:r>
              <a:rPr lang="en"/>
              <a:t>line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&gt;,&lt;old </a:t>
            </a:r>
            <a:r>
              <a:rPr lang="en"/>
              <a:t>length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+&lt;new </a:t>
            </a:r>
            <a:r>
              <a:rPr lang="en"/>
              <a:t>line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&gt;,&lt;new </a:t>
            </a:r>
            <a:r>
              <a:rPr lang="en"/>
              <a:t>length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&gt; @@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C0C0C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:The old file started at line 1. </a:t>
            </a:r>
            <a:endParaRPr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+1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new file also starts at line 1.</a:t>
            </a:r>
            <a:endParaRPr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3: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new file has 3 lines in this section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60"/>
          <p:cNvSpPr/>
          <p:nvPr/>
        </p:nvSpPr>
        <p:spPr>
          <a:xfrm>
            <a:off x="2046000" y="1891075"/>
            <a:ext cx="4836300" cy="165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0"/>
          <p:cNvSpPr/>
          <p:nvPr/>
        </p:nvSpPr>
        <p:spPr>
          <a:xfrm>
            <a:off x="361955" y="2799876"/>
            <a:ext cx="5067300" cy="4266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pic>
        <p:nvPicPr>
          <p:cNvPr id="744" name="Google Shape;744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5950" y="1314825"/>
            <a:ext cx="4836426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1"/>
          <p:cNvSpPr txBox="1"/>
          <p:nvPr/>
        </p:nvSpPr>
        <p:spPr>
          <a:xfrm>
            <a:off x="356125" y="2841925"/>
            <a:ext cx="82983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in the chunk: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lines are added to the second file. </a:t>
            </a:r>
            <a:r>
              <a:rPr lang="en">
                <a:highlight>
                  <a:srgbClr val="60B669"/>
                </a:highlight>
              </a:rPr>
              <a:t>+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represents an addition and the </a:t>
            </a:r>
            <a:r>
              <a:rPr lang="en">
                <a:highlight>
                  <a:srgbClr val="FF0000"/>
                </a:highlight>
              </a:rPr>
              <a:t>-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represents a deletion</a:t>
            </a:r>
            <a:endParaRPr sz="1400" b="0" i="0" u="none" strike="noStrike" cap="none">
              <a:solidFill>
                <a:srgbClr val="000000"/>
              </a:solidFill>
              <a:highlight>
                <a:srgbClr val="D9D9D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2046000" y="2043475"/>
            <a:ext cx="4836300" cy="480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6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2"/>
          <p:cNvSpPr/>
          <p:nvPr/>
        </p:nvSpPr>
        <p:spPr>
          <a:xfrm>
            <a:off x="311700" y="3463750"/>
            <a:ext cx="3359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62"/>
          <p:cNvSpPr/>
          <p:nvPr/>
        </p:nvSpPr>
        <p:spPr>
          <a:xfrm>
            <a:off x="311700" y="1664598"/>
            <a:ext cx="2763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2"/>
          <p:cNvSpPr/>
          <p:nvPr/>
        </p:nvSpPr>
        <p:spPr>
          <a:xfrm>
            <a:off x="311700" y="2570252"/>
            <a:ext cx="3359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6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</a:t>
            </a:r>
            <a:endParaRPr/>
          </a:p>
        </p:txBody>
      </p:sp>
      <p:sp>
        <p:nvSpPr>
          <p:cNvPr id="756" name="Google Shape;756;p62"/>
          <p:cNvSpPr txBox="1"/>
          <p:nvPr/>
        </p:nvSpPr>
        <p:spPr>
          <a:xfrm>
            <a:off x="266827" y="3987254"/>
            <a:ext cx="8434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-p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allows you to stage your commit in chunks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interactively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It's especially useful if you've done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much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work for one commit, you wanna break it up, you don't know how.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2"/>
          <p:cNvSpPr/>
          <p:nvPr/>
        </p:nvSpPr>
        <p:spPr>
          <a:xfrm>
            <a:off x="311700" y="3000515"/>
            <a:ext cx="3359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2"/>
          <p:cNvSpPr txBox="1">
            <a:spLocks noGrp="1"/>
          </p:cNvSpPr>
          <p:nvPr>
            <p:ph type="body" idx="4294967295"/>
          </p:nvPr>
        </p:nvSpPr>
        <p:spPr>
          <a:xfrm>
            <a:off x="289719" y="1103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Let’s add new file called LICENSE 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touch LICENSE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/>
              <a:t>or use a different method.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DO NOT ADD your changes!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status    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diff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 -p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9" name="Google Shape;759;p6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49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3"/>
          <p:cNvSpPr/>
          <p:nvPr/>
        </p:nvSpPr>
        <p:spPr>
          <a:xfrm>
            <a:off x="311700" y="2778998"/>
            <a:ext cx="38385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3"/>
          <p:cNvSpPr/>
          <p:nvPr/>
        </p:nvSpPr>
        <p:spPr>
          <a:xfrm>
            <a:off x="311700" y="1905700"/>
            <a:ext cx="2763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3"/>
          <p:cNvSpPr/>
          <p:nvPr/>
        </p:nvSpPr>
        <p:spPr>
          <a:xfrm>
            <a:off x="311700" y="1446256"/>
            <a:ext cx="2763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050" y="3392875"/>
            <a:ext cx="3791075" cy="1172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8" name="Google Shape;768;p63"/>
          <p:cNvSpPr txBox="1"/>
          <p:nvPr/>
        </p:nvSpPr>
        <p:spPr>
          <a:xfrm>
            <a:off x="4240225" y="3326216"/>
            <a:ext cx="48672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diff -r HEAD &lt;file&gt;: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Compares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staged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file(s)     </a:t>
            </a: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with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diff –-staged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9" name="Google Shape;769;p63"/>
          <p:cNvSpPr/>
          <p:nvPr/>
        </p:nvSpPr>
        <p:spPr>
          <a:xfrm>
            <a:off x="4268800" y="3347903"/>
            <a:ext cx="4695900" cy="123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  </a:t>
            </a:r>
            <a:endParaRPr/>
          </a:p>
        </p:txBody>
      </p:sp>
      <p:sp>
        <p:nvSpPr>
          <p:cNvPr id="771" name="Google Shape;771;p63"/>
          <p:cNvSpPr txBox="1">
            <a:spLocks noGrp="1"/>
          </p:cNvSpPr>
          <p:nvPr>
            <p:ph type="body" idx="4294967295"/>
          </p:nvPr>
        </p:nvSpPr>
        <p:spPr>
          <a:xfrm>
            <a:off x="267738" y="919337"/>
            <a:ext cx="87102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Let’s modify README.md again: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nano README.md       </a:t>
            </a:r>
            <a:r>
              <a:rPr lang="en" sz="1600"/>
              <a:t>or use a text editor of your choice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add.           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600"/>
              <a:t> Lets stage all changes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DO NOT COMMIT!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diff -r HEAD README.md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2" name="Google Shape;772;p6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Git Workflow</a:t>
            </a:r>
            <a:endParaRPr/>
          </a:p>
        </p:txBody>
      </p:sp>
      <p:sp>
        <p:nvSpPr>
          <p:cNvPr id="778" name="Google Shape;778;p64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Best practices: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Make small, focused changes 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You don’t need to commit every tiny edit immediately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Make frequent and small commits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Always write a (meaningful) commit message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Avoid nested repositories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</a:pPr>
            <a:r>
              <a:rPr lang="en"/>
              <a:t>Add your username &amp; email address to the global settings </a:t>
            </a: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779" name="Google Shape;779;p64"/>
          <p:cNvSpPr/>
          <p:nvPr/>
        </p:nvSpPr>
        <p:spPr>
          <a:xfrm>
            <a:off x="311689" y="1105648"/>
            <a:ext cx="6943500" cy="2637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5"/>
          <p:cNvSpPr/>
          <p:nvPr/>
        </p:nvSpPr>
        <p:spPr>
          <a:xfrm>
            <a:off x="401650" y="1520867"/>
            <a:ext cx="23838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65"/>
          <p:cNvSpPr/>
          <p:nvPr/>
        </p:nvSpPr>
        <p:spPr>
          <a:xfrm>
            <a:off x="389675" y="1101767"/>
            <a:ext cx="23838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6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Track</a:t>
            </a:r>
            <a:endParaRPr/>
          </a:p>
        </p:txBody>
      </p:sp>
      <p:sp>
        <p:nvSpPr>
          <p:cNvPr id="788" name="Google Shape;788;p65"/>
          <p:cNvSpPr txBox="1"/>
          <p:nvPr/>
        </p:nvSpPr>
        <p:spPr>
          <a:xfrm>
            <a:off x="325450" y="1042267"/>
            <a:ext cx="8191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               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Shows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history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commits in the 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9" name="Google Shape;789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650" y="1904567"/>
            <a:ext cx="2383801" cy="2811499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65"/>
          <p:cNvSpPr/>
          <p:nvPr/>
        </p:nvSpPr>
        <p:spPr>
          <a:xfrm>
            <a:off x="677875" y="3012217"/>
            <a:ext cx="2028900" cy="114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5"/>
          <p:cNvSpPr txBox="1"/>
          <p:nvPr/>
        </p:nvSpPr>
        <p:spPr>
          <a:xfrm>
            <a:off x="3021025" y="2869267"/>
            <a:ext cx="58113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hashes that identifies each different version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Hashes allows data sharing between repos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2 files are the same then their hashes are the same.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only needs to compare hashes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65"/>
          <p:cNvSpPr/>
          <p:nvPr/>
        </p:nvSpPr>
        <p:spPr>
          <a:xfrm>
            <a:off x="354025" y="927967"/>
            <a:ext cx="6753300" cy="592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65"/>
          <p:cNvSpPr/>
          <p:nvPr/>
        </p:nvSpPr>
        <p:spPr>
          <a:xfrm>
            <a:off x="389675" y="1991567"/>
            <a:ext cx="2383800" cy="23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5"/>
          <p:cNvSpPr txBox="1"/>
          <p:nvPr/>
        </p:nvSpPr>
        <p:spPr>
          <a:xfrm>
            <a:off x="2878150" y="1981530"/>
            <a:ext cx="50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5"/>
          <p:cNvSpPr txBox="1"/>
          <p:nvPr/>
        </p:nvSpPr>
        <p:spPr>
          <a:xfrm>
            <a:off x="3021025" y="1910567"/>
            <a:ext cx="50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5"/>
          <p:cNvSpPr txBox="1"/>
          <p:nvPr/>
        </p:nvSpPr>
        <p:spPr>
          <a:xfrm>
            <a:off x="3021025" y="1910567"/>
            <a:ext cx="12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7" name="Google Shape;797;p65"/>
          <p:cNvCxnSpPr>
            <a:endCxn id="796" idx="1"/>
          </p:cNvCxnSpPr>
          <p:nvPr/>
        </p:nvCxnSpPr>
        <p:spPr>
          <a:xfrm>
            <a:off x="2773525" y="2110667"/>
            <a:ext cx="247500" cy="0"/>
          </a:xfrm>
          <a:prstGeom prst="straightConnector1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798" name="Google Shape;798;p65"/>
          <p:cNvCxnSpPr>
            <a:stCxn id="790" idx="3"/>
          </p:cNvCxnSpPr>
          <p:nvPr/>
        </p:nvCxnSpPr>
        <p:spPr>
          <a:xfrm rot="10800000" flipH="1">
            <a:off x="2706775" y="3061567"/>
            <a:ext cx="457200" cy="7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799" name="Google Shape;799;p6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6"/>
          <p:cNvSpPr/>
          <p:nvPr/>
        </p:nvSpPr>
        <p:spPr>
          <a:xfrm>
            <a:off x="389674" y="1464450"/>
            <a:ext cx="4296625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6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Track</a:t>
            </a:r>
            <a:endParaRPr/>
          </a:p>
        </p:txBody>
      </p:sp>
      <p:sp>
        <p:nvSpPr>
          <p:cNvPr id="806" name="Google Shape;806;p66"/>
          <p:cNvSpPr txBox="1"/>
          <p:nvPr/>
        </p:nvSpPr>
        <p:spPr>
          <a:xfrm>
            <a:off x="326940" y="1454515"/>
            <a:ext cx="8191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–oneline –graph –decorate --all   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Compact commit history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7" name="Google Shape;807;p66"/>
          <p:cNvSpPr/>
          <p:nvPr/>
        </p:nvSpPr>
        <p:spPr>
          <a:xfrm>
            <a:off x="354025" y="1290650"/>
            <a:ext cx="7098336" cy="592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66"/>
          <p:cNvSpPr txBox="1"/>
          <p:nvPr/>
        </p:nvSpPr>
        <p:spPr>
          <a:xfrm>
            <a:off x="2878150" y="2344213"/>
            <a:ext cx="50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6"/>
          <p:cNvSpPr txBox="1"/>
          <p:nvPr/>
        </p:nvSpPr>
        <p:spPr>
          <a:xfrm>
            <a:off x="3021025" y="2273250"/>
            <a:ext cx="5013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6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7"/>
          <p:cNvSpPr/>
          <p:nvPr/>
        </p:nvSpPr>
        <p:spPr>
          <a:xfrm>
            <a:off x="311700" y="4138044"/>
            <a:ext cx="2823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7"/>
          <p:cNvSpPr/>
          <p:nvPr/>
        </p:nvSpPr>
        <p:spPr>
          <a:xfrm>
            <a:off x="311700" y="3642744"/>
            <a:ext cx="2823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67"/>
          <p:cNvSpPr/>
          <p:nvPr/>
        </p:nvSpPr>
        <p:spPr>
          <a:xfrm>
            <a:off x="311700" y="2894469"/>
            <a:ext cx="2823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67"/>
          <p:cNvSpPr/>
          <p:nvPr/>
        </p:nvSpPr>
        <p:spPr>
          <a:xfrm>
            <a:off x="311700" y="2403894"/>
            <a:ext cx="6657900" cy="35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67"/>
          <p:cNvSpPr/>
          <p:nvPr/>
        </p:nvSpPr>
        <p:spPr>
          <a:xfrm>
            <a:off x="311700" y="1956519"/>
            <a:ext cx="3642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67"/>
          <p:cNvSpPr/>
          <p:nvPr/>
        </p:nvSpPr>
        <p:spPr>
          <a:xfrm>
            <a:off x="311700" y="1451994"/>
            <a:ext cx="27855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6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Track</a:t>
            </a:r>
            <a:endParaRPr/>
          </a:p>
        </p:txBody>
      </p:sp>
      <p:sp>
        <p:nvSpPr>
          <p:cNvPr id="822" name="Google Shape;822;p67"/>
          <p:cNvSpPr txBox="1"/>
          <p:nvPr/>
        </p:nvSpPr>
        <p:spPr>
          <a:xfrm>
            <a:off x="230200" y="873894"/>
            <a:ext cx="8602200" cy="38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customize the log output with useful options: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-3 &lt;filename&gt;    :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Displays the last 3 commits of the file.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--since=“Nov 15 2022” :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long running projects.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--since=“Nov 15 2022” --until=“Nov 17 2022”</a:t>
            </a: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-p               :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Displays the same history plus the detailed diff of the                                                                          </a:t>
            </a:r>
            <a:r>
              <a:rPr lang="en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changed files in each commit.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--author= “Joe” :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when multiple people work in the same project.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log --stat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:Displays summary of the changes in each commit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3" name="Google Shape;823;p6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8"/>
          <p:cNvSpPr/>
          <p:nvPr/>
        </p:nvSpPr>
        <p:spPr>
          <a:xfrm>
            <a:off x="311700" y="2056567"/>
            <a:ext cx="2442600" cy="34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68"/>
          <p:cNvSpPr/>
          <p:nvPr/>
        </p:nvSpPr>
        <p:spPr>
          <a:xfrm>
            <a:off x="311700" y="1199063"/>
            <a:ext cx="2442600" cy="34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6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View specific commit</a:t>
            </a:r>
            <a:endParaRPr/>
          </a:p>
        </p:txBody>
      </p:sp>
      <p:sp>
        <p:nvSpPr>
          <p:cNvPr id="831" name="Google Shape;831;p68"/>
          <p:cNvSpPr txBox="1">
            <a:spLocks noGrp="1"/>
          </p:cNvSpPr>
          <p:nvPr>
            <p:ph type="body" idx="4294967295"/>
          </p:nvPr>
        </p:nvSpPr>
        <p:spPr>
          <a:xfrm>
            <a:off x="232233" y="1128390"/>
            <a:ext cx="8691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show &lt;hash&gt;</a:t>
            </a:r>
            <a:r>
              <a:rPr lang="en" dirty="0"/>
              <a:t>        : Shows </a:t>
            </a:r>
            <a:r>
              <a:rPr lang="en" b="1" dirty="0"/>
              <a:t>specific commits</a:t>
            </a:r>
            <a:r>
              <a:rPr lang="en" dirty="0"/>
              <a:t> and changes made in this commit.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Or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show HEAD~1</a:t>
            </a:r>
            <a:r>
              <a:rPr lang="en" dirty="0"/>
              <a:t>        : Refers to the commit made just </a:t>
            </a:r>
            <a:r>
              <a:rPr lang="en" b="1" dirty="0"/>
              <a:t>before</a:t>
            </a:r>
            <a:r>
              <a:rPr lang="en" dirty="0"/>
              <a:t> the </a:t>
            </a:r>
            <a:r>
              <a:rPr lang="en" b="1" dirty="0"/>
              <a:t>most recent</a:t>
            </a:r>
            <a:r>
              <a:rPr lang="en" dirty="0"/>
              <a:t> one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832" name="Google Shape;832;p68"/>
          <p:cNvSpPr txBox="1"/>
          <p:nvPr/>
        </p:nvSpPr>
        <p:spPr>
          <a:xfrm>
            <a:off x="373075" y="2972179"/>
            <a:ext cx="8334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the first 4 -6 digits are enough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always refers to the </a:t>
            </a:r>
            <a:r>
              <a:rPr lang="en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recent 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commit.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label </a:t>
            </a:r>
            <a:r>
              <a:rPr lang="en" sz="1600" b="0" i="0" u="none" strike="noStrike" cap="none" dirty="0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HEAD~1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then refers to the commit before it, while </a:t>
            </a:r>
            <a:r>
              <a:rPr lang="en" sz="1600" b="0" i="0" u="none" strike="noStrike" cap="none" dirty="0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HEAD~2</a:t>
            </a:r>
            <a:r>
              <a:rPr lang="en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refers to the commit before that, and so on.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69"/>
          <p:cNvSpPr/>
          <p:nvPr/>
        </p:nvSpPr>
        <p:spPr>
          <a:xfrm>
            <a:off x="311700" y="2534728"/>
            <a:ext cx="3498300" cy="34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69"/>
          <p:cNvSpPr/>
          <p:nvPr/>
        </p:nvSpPr>
        <p:spPr>
          <a:xfrm>
            <a:off x="311700" y="1199063"/>
            <a:ext cx="3498300" cy="3480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6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Compare commits</a:t>
            </a:r>
            <a:endParaRPr/>
          </a:p>
        </p:txBody>
      </p:sp>
      <p:sp>
        <p:nvSpPr>
          <p:cNvPr id="841" name="Google Shape;841;p69"/>
          <p:cNvSpPr/>
          <p:nvPr/>
        </p:nvSpPr>
        <p:spPr>
          <a:xfrm>
            <a:off x="258774" y="1082565"/>
            <a:ext cx="7848900" cy="617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69"/>
          <p:cNvSpPr txBox="1">
            <a:spLocks noGrp="1"/>
          </p:cNvSpPr>
          <p:nvPr>
            <p:ph type="body" idx="4294967295"/>
          </p:nvPr>
        </p:nvSpPr>
        <p:spPr>
          <a:xfrm>
            <a:off x="238939" y="1137235"/>
            <a:ext cx="8520600" cy="22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882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diff &lt;hash1&gt; &lt;hash2&gt;</a:t>
            </a:r>
            <a:r>
              <a:rPr lang="en" dirty="0"/>
              <a:t>           : Compares changes between commits.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5882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5882"/>
              <a:buNone/>
            </a:pPr>
            <a:r>
              <a:rPr lang="en" dirty="0"/>
              <a:t>Or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5882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show HEAD~3 HEAD~4       :</a:t>
            </a:r>
            <a:r>
              <a:rPr lang="en" dirty="0"/>
              <a:t>Compare the fourth and third most recent             				                                        commits    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5882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843" name="Google Shape;843;p6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0"/>
          <p:cNvSpPr/>
          <p:nvPr/>
        </p:nvSpPr>
        <p:spPr>
          <a:xfrm>
            <a:off x="363600" y="1248450"/>
            <a:ext cx="3320100" cy="3294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7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View changes per commit</a:t>
            </a:r>
            <a:endParaRPr/>
          </a:p>
        </p:txBody>
      </p:sp>
      <p:sp>
        <p:nvSpPr>
          <p:cNvPr id="850" name="Google Shape;850;p70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annotate &lt;filename&gt;</a:t>
            </a:r>
            <a:r>
              <a:rPr lang="en"/>
              <a:t>      : Shows changes per document</a:t>
            </a:r>
            <a:endParaRPr/>
          </a:p>
        </p:txBody>
      </p:sp>
      <p:sp>
        <p:nvSpPr>
          <p:cNvPr id="851" name="Google Shape;851;p70"/>
          <p:cNvSpPr/>
          <p:nvPr/>
        </p:nvSpPr>
        <p:spPr>
          <a:xfrm>
            <a:off x="322690" y="1120931"/>
            <a:ext cx="6900300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775" y="1830275"/>
            <a:ext cx="8780450" cy="102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71"/>
          <p:cNvSpPr/>
          <p:nvPr/>
        </p:nvSpPr>
        <p:spPr>
          <a:xfrm>
            <a:off x="351575" y="2003750"/>
            <a:ext cx="28410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71"/>
          <p:cNvSpPr/>
          <p:nvPr/>
        </p:nvSpPr>
        <p:spPr>
          <a:xfrm>
            <a:off x="351575" y="1270325"/>
            <a:ext cx="308855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Unstage</a:t>
            </a:r>
            <a:endParaRPr/>
          </a:p>
        </p:txBody>
      </p:sp>
      <p:sp>
        <p:nvSpPr>
          <p:cNvPr id="861" name="Google Shape;861;p71"/>
          <p:cNvSpPr txBox="1"/>
          <p:nvPr/>
        </p:nvSpPr>
        <p:spPr>
          <a:xfrm>
            <a:off x="331625" y="1235300"/>
            <a:ext cx="8662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--staged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: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Removes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from the staging area.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71"/>
          <p:cNvSpPr/>
          <p:nvPr/>
        </p:nvSpPr>
        <p:spPr>
          <a:xfrm>
            <a:off x="258774" y="1100225"/>
            <a:ext cx="6789725" cy="64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71"/>
          <p:cNvSpPr txBox="1"/>
          <p:nvPr/>
        </p:nvSpPr>
        <p:spPr>
          <a:xfrm>
            <a:off x="328975" y="1957400"/>
            <a:ext cx="604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    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Unstages all files.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4" name="Google Shape;864;p71"/>
          <p:cNvGrpSpPr/>
          <p:nvPr/>
        </p:nvGrpSpPr>
        <p:grpSpPr>
          <a:xfrm>
            <a:off x="351575" y="2662250"/>
            <a:ext cx="8622600" cy="1794600"/>
            <a:chOff x="351575" y="2662250"/>
            <a:chExt cx="8622600" cy="1794600"/>
          </a:xfrm>
        </p:grpSpPr>
        <p:sp>
          <p:nvSpPr>
            <p:cNvPr id="865" name="Google Shape;865;p71"/>
            <p:cNvSpPr txBox="1"/>
            <p:nvPr/>
          </p:nvSpPr>
          <p:spPr>
            <a:xfrm>
              <a:off x="351575" y="2662250"/>
              <a:ext cx="8622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Repository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            </a:t>
              </a: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Staging Area 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                    </a:t>
              </a: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Commit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71"/>
            <p:cNvSpPr/>
            <p:nvPr/>
          </p:nvSpPr>
          <p:spPr>
            <a:xfrm>
              <a:off x="468325" y="3233750"/>
              <a:ext cx="1323900" cy="3075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README.md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71"/>
            <p:cNvSpPr/>
            <p:nvPr/>
          </p:nvSpPr>
          <p:spPr>
            <a:xfrm>
              <a:off x="3440125" y="3233750"/>
              <a:ext cx="1323900" cy="3075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README.md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71"/>
            <p:cNvSpPr/>
            <p:nvPr/>
          </p:nvSpPr>
          <p:spPr>
            <a:xfrm>
              <a:off x="6411925" y="3233750"/>
              <a:ext cx="1323900" cy="307500"/>
            </a:xfrm>
            <a:prstGeom prst="rect">
              <a:avLst/>
            </a:prstGeom>
            <a:solidFill>
              <a:srgbClr val="93C47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README.md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71"/>
            <p:cNvSpPr/>
            <p:nvPr/>
          </p:nvSpPr>
          <p:spPr>
            <a:xfrm>
              <a:off x="468325" y="3538550"/>
              <a:ext cx="1323900" cy="307500"/>
            </a:xfrm>
            <a:prstGeom prst="rect">
              <a:avLst/>
            </a:prstGeom>
            <a:solidFill>
              <a:srgbClr val="F1C23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LICENSE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71"/>
            <p:cNvSpPr/>
            <p:nvPr/>
          </p:nvSpPr>
          <p:spPr>
            <a:xfrm>
              <a:off x="3440125" y="3538550"/>
              <a:ext cx="1323900" cy="307500"/>
            </a:xfrm>
            <a:prstGeom prst="rect">
              <a:avLst/>
            </a:prstGeom>
            <a:solidFill>
              <a:srgbClr val="F1C23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LICENSE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71"/>
            <p:cNvSpPr/>
            <p:nvPr/>
          </p:nvSpPr>
          <p:spPr>
            <a:xfrm>
              <a:off x="6411925" y="3538550"/>
              <a:ext cx="1323900" cy="307500"/>
            </a:xfrm>
            <a:prstGeom prst="rect">
              <a:avLst/>
            </a:prstGeom>
            <a:solidFill>
              <a:srgbClr val="F1C23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LICENSE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71"/>
            <p:cNvSpPr/>
            <p:nvPr/>
          </p:nvSpPr>
          <p:spPr>
            <a:xfrm>
              <a:off x="468325" y="3844550"/>
              <a:ext cx="1323900" cy="307500"/>
            </a:xfrm>
            <a:prstGeom prst="rect">
              <a:avLst/>
            </a:prstGeom>
            <a:solidFill>
              <a:srgbClr val="C27BA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requirements.txt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71"/>
            <p:cNvSpPr/>
            <p:nvPr/>
          </p:nvSpPr>
          <p:spPr>
            <a:xfrm>
              <a:off x="3440125" y="3843350"/>
              <a:ext cx="1323900" cy="307500"/>
            </a:xfrm>
            <a:prstGeom prst="rect">
              <a:avLst/>
            </a:prstGeom>
            <a:solidFill>
              <a:srgbClr val="C27BA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requirements.txt</a:t>
              </a:r>
              <a:endPara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71"/>
            <p:cNvSpPr/>
            <p:nvPr/>
          </p:nvSpPr>
          <p:spPr>
            <a:xfrm>
              <a:off x="468325" y="4149350"/>
              <a:ext cx="1323900" cy="307500"/>
            </a:xfrm>
            <a:prstGeom prst="rect">
              <a:avLst/>
            </a:prstGeom>
            <a:solidFill>
              <a:srgbClr val="9FC5E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setup.cgf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75" name="Google Shape;875;p71"/>
            <p:cNvCxnSpPr>
              <a:stCxn id="866" idx="3"/>
              <a:endCxn id="867" idx="1"/>
            </p:cNvCxnSpPr>
            <p:nvPr/>
          </p:nvCxnSpPr>
          <p:spPr>
            <a:xfrm>
              <a:off x="1792225" y="3387500"/>
              <a:ext cx="16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76" name="Google Shape;876;p71"/>
            <p:cNvCxnSpPr>
              <a:stCxn id="867" idx="3"/>
              <a:endCxn id="868" idx="1"/>
            </p:cNvCxnSpPr>
            <p:nvPr/>
          </p:nvCxnSpPr>
          <p:spPr>
            <a:xfrm>
              <a:off x="4764025" y="3387500"/>
              <a:ext cx="16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77" name="Google Shape;877;p71"/>
            <p:cNvCxnSpPr>
              <a:stCxn id="869" idx="3"/>
              <a:endCxn id="870" idx="1"/>
            </p:cNvCxnSpPr>
            <p:nvPr/>
          </p:nvCxnSpPr>
          <p:spPr>
            <a:xfrm>
              <a:off x="1792225" y="3692300"/>
              <a:ext cx="16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78" name="Google Shape;878;p71"/>
            <p:cNvCxnSpPr>
              <a:stCxn id="870" idx="3"/>
              <a:endCxn id="871" idx="1"/>
            </p:cNvCxnSpPr>
            <p:nvPr/>
          </p:nvCxnSpPr>
          <p:spPr>
            <a:xfrm>
              <a:off x="4764025" y="3692300"/>
              <a:ext cx="16479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879" name="Google Shape;879;p71"/>
            <p:cNvCxnSpPr>
              <a:stCxn id="872" idx="3"/>
              <a:endCxn id="873" idx="1"/>
            </p:cNvCxnSpPr>
            <p:nvPr/>
          </p:nvCxnSpPr>
          <p:spPr>
            <a:xfrm rot="10800000" flipH="1">
              <a:off x="1792225" y="3997100"/>
              <a:ext cx="1647900" cy="1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stealth" w="med" len="med"/>
              <a:tailEnd type="stealth" w="med" len="med"/>
            </a:ln>
          </p:spPr>
        </p:cxnSp>
        <p:cxnSp>
          <p:nvCxnSpPr>
            <p:cNvPr id="880" name="Google Shape;880;p71"/>
            <p:cNvCxnSpPr>
              <a:stCxn id="873" idx="2"/>
              <a:endCxn id="872" idx="3"/>
            </p:cNvCxnSpPr>
            <p:nvPr/>
          </p:nvCxnSpPr>
          <p:spPr>
            <a:xfrm rot="5400000" flipH="1">
              <a:off x="2871025" y="2919800"/>
              <a:ext cx="152400" cy="2309700"/>
            </a:xfrm>
            <a:prstGeom prst="curvedConnector4">
              <a:avLst>
                <a:gd name="adj1" fmla="val -304478"/>
                <a:gd name="adj2" fmla="val 43918"/>
              </a:avLst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881" name="Google Shape;881;p7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72"/>
          <p:cNvSpPr/>
          <p:nvPr/>
        </p:nvSpPr>
        <p:spPr>
          <a:xfrm>
            <a:off x="311700" y="1912125"/>
            <a:ext cx="218766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2"/>
          <p:cNvSpPr/>
          <p:nvPr/>
        </p:nvSpPr>
        <p:spPr>
          <a:xfrm>
            <a:off x="351575" y="1270325"/>
            <a:ext cx="2147785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7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Undo changes </a:t>
            </a:r>
            <a:endParaRPr/>
          </a:p>
        </p:txBody>
      </p:sp>
      <p:sp>
        <p:nvSpPr>
          <p:cNvPr id="889" name="Google Shape;889;p72"/>
          <p:cNvSpPr txBox="1"/>
          <p:nvPr/>
        </p:nvSpPr>
        <p:spPr>
          <a:xfrm>
            <a:off x="311700" y="1252395"/>
            <a:ext cx="8662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: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Undo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changes to an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unstaged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in the working directory.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.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: Undo changes to all unstaged files in the current directory and         </a:t>
            </a: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		         subdirectories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72"/>
          <p:cNvSpPr/>
          <p:nvPr/>
        </p:nvSpPr>
        <p:spPr>
          <a:xfrm>
            <a:off x="311700" y="1100225"/>
            <a:ext cx="7277820" cy="647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72"/>
          <p:cNvSpPr txBox="1"/>
          <p:nvPr/>
        </p:nvSpPr>
        <p:spPr>
          <a:xfrm>
            <a:off x="289350" y="2776550"/>
            <a:ext cx="8565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only affefcts the working directory not the Git history or staging area -&gt; No need to commit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means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losing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all changes made to the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unstaged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file </a:t>
            </a:r>
            <a:r>
              <a:rPr lang="en" sz="1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forever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7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59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898" name="Google Shape;898;p73"/>
          <p:cNvSpPr txBox="1"/>
          <p:nvPr/>
        </p:nvSpPr>
        <p:spPr>
          <a:xfrm>
            <a:off x="311700" y="1223975"/>
            <a:ext cx="86433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restore a file or a repository to a preferred version?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match a file or a repo to a preferred branch’s HEAD?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restore a deleted  file?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7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4"/>
          <p:cNvSpPr/>
          <p:nvPr/>
        </p:nvSpPr>
        <p:spPr>
          <a:xfrm>
            <a:off x="491575" y="2326425"/>
            <a:ext cx="40803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74"/>
          <p:cNvSpPr/>
          <p:nvPr/>
        </p:nvSpPr>
        <p:spPr>
          <a:xfrm>
            <a:off x="474625" y="3992150"/>
            <a:ext cx="44448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74"/>
          <p:cNvSpPr/>
          <p:nvPr/>
        </p:nvSpPr>
        <p:spPr>
          <a:xfrm>
            <a:off x="491575" y="3564100"/>
            <a:ext cx="44448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74"/>
          <p:cNvSpPr/>
          <p:nvPr/>
        </p:nvSpPr>
        <p:spPr>
          <a:xfrm>
            <a:off x="491574" y="1449925"/>
            <a:ext cx="3973746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7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09" name="Google Shape;909;p74"/>
          <p:cNvSpPr txBox="1"/>
          <p:nvPr/>
        </p:nvSpPr>
        <p:spPr>
          <a:xfrm>
            <a:off x="311700" y="1223975"/>
            <a:ext cx="864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0" name="Google Shape;910;p74"/>
          <p:cNvSpPr/>
          <p:nvPr/>
        </p:nvSpPr>
        <p:spPr>
          <a:xfrm>
            <a:off x="441609" y="1227812"/>
            <a:ext cx="8133000" cy="845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430169" y="1384098"/>
            <a:ext cx="85029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--source &lt;hash&gt; -- &lt;file&gt;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Restores a file to a specific older version without                    			                                                     changing the commit history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--source HEAD~1 --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: Restores a file from previous commit.                  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Restoring a file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doesn't erase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any of the repository's history. Instead, the act of restoring the file is saved as another commit, in case you later want to undo your undoing.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you need to stage and commit this change: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&lt;file&gt;             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Don’t forget to stage and commit!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“Restore to version &lt;hash&gt;”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7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5"/>
          <p:cNvSpPr/>
          <p:nvPr/>
        </p:nvSpPr>
        <p:spPr>
          <a:xfrm>
            <a:off x="421627" y="1191517"/>
            <a:ext cx="5324655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7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19" name="Google Shape;919;p75"/>
          <p:cNvSpPr/>
          <p:nvPr/>
        </p:nvSpPr>
        <p:spPr>
          <a:xfrm>
            <a:off x="412001" y="2466126"/>
            <a:ext cx="2944007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75"/>
          <p:cNvSpPr txBox="1"/>
          <p:nvPr/>
        </p:nvSpPr>
        <p:spPr>
          <a:xfrm>
            <a:off x="474566" y="1133763"/>
            <a:ext cx="85029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--source &lt;hash/or branch&gt; -- &lt;file&gt;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Makes the file match a given commit or branch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&lt;file&gt;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Discards uncommitted changes and makes the file match the HEAD of the branch you are 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7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6"/>
          <p:cNvSpPr/>
          <p:nvPr/>
        </p:nvSpPr>
        <p:spPr>
          <a:xfrm>
            <a:off x="311700" y="2658067"/>
            <a:ext cx="2133117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7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28" name="Google Shape;928;p76"/>
          <p:cNvSpPr/>
          <p:nvPr/>
        </p:nvSpPr>
        <p:spPr>
          <a:xfrm>
            <a:off x="311700" y="1826046"/>
            <a:ext cx="1247593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76"/>
          <p:cNvSpPr txBox="1"/>
          <p:nvPr/>
        </p:nvSpPr>
        <p:spPr>
          <a:xfrm>
            <a:off x="311700" y="1147775"/>
            <a:ext cx="8401200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restore a deleted file?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rm &lt;file&gt;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You accidentally deleted a file while working on a branch.  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&lt;file&gt;  :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Restore that deleted file to match the HEAD of your branch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0" name="Google Shape;930;p7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36" name="Google Shape;936;p77"/>
          <p:cNvSpPr txBox="1"/>
          <p:nvPr/>
        </p:nvSpPr>
        <p:spPr>
          <a:xfrm>
            <a:off x="311700" y="1147775"/>
            <a:ext cx="840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 and restore it later?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7" name="Google Shape;937;p7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8"/>
          <p:cNvSpPr/>
          <p:nvPr/>
        </p:nvSpPr>
        <p:spPr>
          <a:xfrm>
            <a:off x="387900" y="240141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78"/>
          <p:cNvSpPr/>
          <p:nvPr/>
        </p:nvSpPr>
        <p:spPr>
          <a:xfrm>
            <a:off x="387900" y="182640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7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45" name="Google Shape;945;p78"/>
          <p:cNvSpPr txBox="1"/>
          <p:nvPr/>
        </p:nvSpPr>
        <p:spPr>
          <a:xfrm>
            <a:off x="311700" y="1117295"/>
            <a:ext cx="8401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 and restore it later?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: Removes the file from both Git and the working directory, and stages         			                           the change.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6" name="Google Shape;946;p7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9"/>
          <p:cNvSpPr/>
          <p:nvPr/>
        </p:nvSpPr>
        <p:spPr>
          <a:xfrm>
            <a:off x="387900" y="3959394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79"/>
          <p:cNvSpPr/>
          <p:nvPr/>
        </p:nvSpPr>
        <p:spPr>
          <a:xfrm>
            <a:off x="387900" y="3547716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79"/>
          <p:cNvSpPr/>
          <p:nvPr/>
        </p:nvSpPr>
        <p:spPr>
          <a:xfrm>
            <a:off x="387900" y="2938320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79"/>
          <p:cNvSpPr/>
          <p:nvPr/>
        </p:nvSpPr>
        <p:spPr>
          <a:xfrm>
            <a:off x="387900" y="247761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79"/>
          <p:cNvSpPr/>
          <p:nvPr/>
        </p:nvSpPr>
        <p:spPr>
          <a:xfrm>
            <a:off x="387900" y="1859371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7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57" name="Google Shape;957;p79"/>
          <p:cNvSpPr txBox="1"/>
          <p:nvPr/>
        </p:nvSpPr>
        <p:spPr>
          <a:xfrm>
            <a:off x="343910" y="1168481"/>
            <a:ext cx="84012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 and restore it later?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: Removes the file from both Git and working directory, and stages the    		                                   change.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restore --staged &lt;file&gt;  :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Undo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C0C0C0"/>
                </a:highlight>
                <a:latin typeface="Arial"/>
                <a:ea typeface="Arial"/>
                <a:cs typeface="Arial"/>
                <a:sym typeface="Arial"/>
              </a:rPr>
              <a:t>git rm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committing.The </a:t>
            </a: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`--staged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 option ensurs               			                                     staging.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- -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8" name="Google Shape;958;p7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64" name="Google Shape;964;p80"/>
          <p:cNvSpPr txBox="1"/>
          <p:nvPr/>
        </p:nvSpPr>
        <p:spPr>
          <a:xfrm>
            <a:off x="311700" y="1147775"/>
            <a:ext cx="84012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(save the remove action) and restore it later?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5" name="Google Shape;965;p8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81"/>
          <p:cNvSpPr/>
          <p:nvPr/>
        </p:nvSpPr>
        <p:spPr>
          <a:xfrm>
            <a:off x="387900" y="2702100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81"/>
          <p:cNvSpPr/>
          <p:nvPr/>
        </p:nvSpPr>
        <p:spPr>
          <a:xfrm>
            <a:off x="387900" y="226425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81"/>
          <p:cNvSpPr/>
          <p:nvPr/>
        </p:nvSpPr>
        <p:spPr>
          <a:xfrm>
            <a:off x="387900" y="182640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8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74" name="Google Shape;974;p81"/>
          <p:cNvSpPr txBox="1"/>
          <p:nvPr/>
        </p:nvSpPr>
        <p:spPr>
          <a:xfrm>
            <a:off x="311700" y="1147775"/>
            <a:ext cx="84012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(save the remove action)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: Removes the file and stages the change.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“Remove &lt;file&gt;”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5" name="Google Shape;975;p8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82"/>
          <p:cNvSpPr/>
          <p:nvPr/>
        </p:nvSpPr>
        <p:spPr>
          <a:xfrm>
            <a:off x="387900" y="3969775"/>
            <a:ext cx="5334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82"/>
          <p:cNvSpPr/>
          <p:nvPr/>
        </p:nvSpPr>
        <p:spPr>
          <a:xfrm>
            <a:off x="387900" y="3577800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82"/>
          <p:cNvSpPr/>
          <p:nvPr/>
        </p:nvSpPr>
        <p:spPr>
          <a:xfrm>
            <a:off x="387900" y="3139950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82"/>
          <p:cNvSpPr/>
          <p:nvPr/>
        </p:nvSpPr>
        <p:spPr>
          <a:xfrm>
            <a:off x="387900" y="2702100"/>
            <a:ext cx="3147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82"/>
          <p:cNvSpPr/>
          <p:nvPr/>
        </p:nvSpPr>
        <p:spPr>
          <a:xfrm>
            <a:off x="387900" y="226425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82"/>
          <p:cNvSpPr/>
          <p:nvPr/>
        </p:nvSpPr>
        <p:spPr>
          <a:xfrm>
            <a:off x="387900" y="1826400"/>
            <a:ext cx="24999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8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Restore</a:t>
            </a:r>
            <a:endParaRPr/>
          </a:p>
        </p:txBody>
      </p:sp>
      <p:sp>
        <p:nvSpPr>
          <p:cNvPr id="987" name="Google Shape;987;p82"/>
          <p:cNvSpPr txBox="1"/>
          <p:nvPr/>
        </p:nvSpPr>
        <p:spPr>
          <a:xfrm>
            <a:off x="311700" y="1147775"/>
            <a:ext cx="84012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remove a file from the working directory (save the remove action) and restore it later?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rm &lt;file&gt;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: Removes the file and stages the change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“Remove &lt;file&gt;”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checkout HEAD~1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“Restore &lt;file&gt; after removing it.”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8" name="Google Shape;988;p8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69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8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Cleaning repository</a:t>
            </a:r>
            <a:endParaRPr/>
          </a:p>
        </p:txBody>
      </p:sp>
      <p:sp>
        <p:nvSpPr>
          <p:cNvPr id="994" name="Google Shape;994;p83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Let’s check untracked files in our repository: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git clean -n</a:t>
            </a:r>
            <a:r>
              <a:rPr lang="en" sz="1600"/>
              <a:t>       : Lists all the untracked files in the working directory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git clean -f &lt;file&gt;</a:t>
            </a:r>
            <a:r>
              <a:rPr lang="en" sz="1600"/>
              <a:t>      : </a:t>
            </a:r>
            <a:r>
              <a:rPr lang="en" sz="1600" b="1"/>
              <a:t>Deletes</a:t>
            </a:r>
            <a:r>
              <a:rPr lang="en" sz="1600"/>
              <a:t> untracked files. It cannot be undone!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Alternatively  you can tell Git not to track certain files : </a:t>
            </a:r>
            <a:r>
              <a:rPr lang="en" sz="1600">
                <a:highlight>
                  <a:srgbClr val="D9D9D9"/>
                </a:highlight>
              </a:rPr>
              <a:t>.gitignore</a:t>
            </a:r>
            <a:r>
              <a:rPr lang="en" sz="1600"/>
              <a:t> file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995" name="Google Shape;995;p83"/>
          <p:cNvSpPr/>
          <p:nvPr/>
        </p:nvSpPr>
        <p:spPr>
          <a:xfrm>
            <a:off x="365050" y="1597950"/>
            <a:ext cx="6651900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8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4"/>
          <p:cNvSpPr/>
          <p:nvPr/>
        </p:nvSpPr>
        <p:spPr>
          <a:xfrm>
            <a:off x="224829" y="2122027"/>
            <a:ext cx="238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8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>
                <a:solidFill>
                  <a:srgbClr val="FF0000"/>
                </a:solidFill>
              </a:rPr>
              <a:t>Ignoring files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03" name="Google Shape;1003;p84"/>
          <p:cNvSpPr txBox="1">
            <a:spLocks noGrp="1"/>
          </p:cNvSpPr>
          <p:nvPr>
            <p:ph type="body" idx="4294967295"/>
          </p:nvPr>
        </p:nvSpPr>
        <p:spPr>
          <a:xfrm>
            <a:off x="180867" y="711255"/>
            <a:ext cx="8694300" cy="43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C0C0C0"/>
                </a:highlight>
              </a:rPr>
              <a:t>.gitignore </a:t>
            </a:r>
            <a:r>
              <a:rPr lang="en"/>
              <a:t>: Prevents tracking temporary files (e.g., </a:t>
            </a:r>
            <a:r>
              <a:rPr lang="en">
                <a:highlight>
                  <a:srgbClr val="C0C0C0"/>
                </a:highlight>
              </a:rPr>
              <a:t>.log</a:t>
            </a:r>
            <a:r>
              <a:rPr lang="en"/>
              <a:t>, </a:t>
            </a:r>
            <a:r>
              <a:rPr lang="en">
                <a:highlight>
                  <a:srgbClr val="C0C0C0"/>
                </a:highlight>
              </a:rPr>
              <a:t>.DS_Store</a:t>
            </a:r>
            <a:r>
              <a:rPr lang="en"/>
              <a:t>, </a:t>
            </a:r>
            <a:r>
              <a:rPr lang="en">
                <a:highlight>
                  <a:srgbClr val="C0C0C0"/>
                </a:highlight>
              </a:rPr>
              <a:t>.pdf</a:t>
            </a:r>
            <a:r>
              <a:rPr lang="en"/>
              <a:t>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                  Excludes </a:t>
            </a:r>
            <a:r>
              <a:rPr lang="en" b="1"/>
              <a:t>sensitive files </a:t>
            </a:r>
            <a:r>
              <a:rPr lang="en"/>
              <a:t>like API keys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Create a </a:t>
            </a:r>
            <a:r>
              <a:rPr lang="en">
                <a:highlight>
                  <a:srgbClr val="D9D9D9"/>
                </a:highlight>
              </a:rPr>
              <a:t>.gitignore</a:t>
            </a:r>
            <a:r>
              <a:rPr lang="en"/>
              <a:t> file in the root of your repository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nano .gitignore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Examples of content: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*.log : Git will ignore all files that end with </a:t>
            </a:r>
            <a:r>
              <a:rPr lang="en">
                <a:highlight>
                  <a:srgbClr val="D9D9D9"/>
                </a:highlight>
              </a:rPr>
              <a:t>.log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D9D9D9"/>
                </a:highlight>
              </a:rPr>
              <a:t>.env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D9D9D9"/>
                </a:highlight>
              </a:rPr>
              <a:t>__pycache__/</a:t>
            </a:r>
            <a:endParaRPr>
              <a:highlight>
                <a:srgbClr val="D9D9D9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highlight>
                  <a:schemeClr val="lt1"/>
                </a:highlight>
              </a:rPr>
              <a:t>list   : Git will ignore any file or directory called </a:t>
            </a:r>
            <a:r>
              <a:rPr lang="en">
                <a:highlight>
                  <a:srgbClr val="D9D9D9"/>
                </a:highlight>
              </a:rPr>
              <a:t> list </a:t>
            </a:r>
            <a:r>
              <a:rPr lang="en">
                <a:highlight>
                  <a:schemeClr val="lt1"/>
                </a:highlight>
              </a:rPr>
              <a:t> (if a directory, anything in it)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1004" name="Google Shape;1004;p8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010" name="Google Shape;1010;p85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11" name="Google Shape;1011;p85"/>
          <p:cNvSpPr/>
          <p:nvPr/>
        </p:nvSpPr>
        <p:spPr>
          <a:xfrm>
            <a:off x="3503175" y="1320550"/>
            <a:ext cx="1653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85"/>
          <p:cNvSpPr/>
          <p:nvPr/>
        </p:nvSpPr>
        <p:spPr>
          <a:xfrm>
            <a:off x="65615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85"/>
          <p:cNvSpPr/>
          <p:nvPr/>
        </p:nvSpPr>
        <p:spPr>
          <a:xfrm>
            <a:off x="2257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85"/>
          <p:cNvSpPr/>
          <p:nvPr/>
        </p:nvSpPr>
        <p:spPr>
          <a:xfrm>
            <a:off x="3781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final_v2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85"/>
          <p:cNvSpPr/>
          <p:nvPr/>
        </p:nvSpPr>
        <p:spPr>
          <a:xfrm>
            <a:off x="5305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85"/>
          <p:cNvSpPr/>
          <p:nvPr/>
        </p:nvSpPr>
        <p:spPr>
          <a:xfrm>
            <a:off x="6906250" y="239825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.git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85"/>
          <p:cNvSpPr/>
          <p:nvPr/>
        </p:nvSpPr>
        <p:spPr>
          <a:xfrm>
            <a:off x="5450750" y="3001225"/>
            <a:ext cx="768600" cy="46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my_data.csv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85"/>
          <p:cNvSpPr/>
          <p:nvPr/>
        </p:nvSpPr>
        <p:spPr>
          <a:xfrm>
            <a:off x="7696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85"/>
          <p:cNvSpPr/>
          <p:nvPr/>
        </p:nvSpPr>
        <p:spPr>
          <a:xfrm>
            <a:off x="24460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85"/>
          <p:cNvSpPr/>
          <p:nvPr/>
        </p:nvSpPr>
        <p:spPr>
          <a:xfrm>
            <a:off x="3948375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85"/>
          <p:cNvSpPr/>
          <p:nvPr/>
        </p:nvSpPr>
        <p:spPr>
          <a:xfrm>
            <a:off x="7696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85"/>
          <p:cNvSpPr/>
          <p:nvPr/>
        </p:nvSpPr>
        <p:spPr>
          <a:xfrm>
            <a:off x="7696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85"/>
          <p:cNvSpPr/>
          <p:nvPr/>
        </p:nvSpPr>
        <p:spPr>
          <a:xfrm>
            <a:off x="24460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analysis_v2.py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85"/>
          <p:cNvSpPr/>
          <p:nvPr/>
        </p:nvSpPr>
        <p:spPr>
          <a:xfrm>
            <a:off x="2446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model_v2.md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85"/>
          <p:cNvSpPr/>
          <p:nvPr/>
        </p:nvSpPr>
        <p:spPr>
          <a:xfrm>
            <a:off x="3945375" y="35128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analysis_v3.py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85"/>
          <p:cNvSpPr/>
          <p:nvPr/>
        </p:nvSpPr>
        <p:spPr>
          <a:xfrm>
            <a:off x="3970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model_v2.md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8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8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033" name="Google Shape;1033;p86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900">
              <a:solidFill>
                <a:srgbClr val="000000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34" name="Google Shape;1034;p86"/>
          <p:cNvSpPr/>
          <p:nvPr/>
        </p:nvSpPr>
        <p:spPr>
          <a:xfrm>
            <a:off x="3503175" y="1320550"/>
            <a:ext cx="1653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86"/>
          <p:cNvSpPr/>
          <p:nvPr/>
        </p:nvSpPr>
        <p:spPr>
          <a:xfrm>
            <a:off x="65615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86"/>
          <p:cNvSpPr/>
          <p:nvPr/>
        </p:nvSpPr>
        <p:spPr>
          <a:xfrm>
            <a:off x="2257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86"/>
          <p:cNvSpPr/>
          <p:nvPr/>
        </p:nvSpPr>
        <p:spPr>
          <a:xfrm>
            <a:off x="3781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final_v2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86"/>
          <p:cNvSpPr/>
          <p:nvPr/>
        </p:nvSpPr>
        <p:spPr>
          <a:xfrm>
            <a:off x="5305200" y="237450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86"/>
          <p:cNvSpPr/>
          <p:nvPr/>
        </p:nvSpPr>
        <p:spPr>
          <a:xfrm>
            <a:off x="6906250" y="2398250"/>
            <a:ext cx="1044000" cy="497100"/>
          </a:xfrm>
          <a:prstGeom prst="rect">
            <a:avLst/>
          </a:prstGeom>
          <a:solidFill>
            <a:srgbClr val="93C47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.git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86"/>
          <p:cNvSpPr/>
          <p:nvPr/>
        </p:nvSpPr>
        <p:spPr>
          <a:xfrm>
            <a:off x="5450750" y="3001225"/>
            <a:ext cx="768600" cy="468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my_data.csv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86"/>
          <p:cNvSpPr/>
          <p:nvPr/>
        </p:nvSpPr>
        <p:spPr>
          <a:xfrm>
            <a:off x="7696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86"/>
          <p:cNvSpPr/>
          <p:nvPr/>
        </p:nvSpPr>
        <p:spPr>
          <a:xfrm>
            <a:off x="2446000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86"/>
          <p:cNvSpPr/>
          <p:nvPr/>
        </p:nvSpPr>
        <p:spPr>
          <a:xfrm>
            <a:off x="3948375" y="294365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v2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86"/>
          <p:cNvSpPr/>
          <p:nvPr/>
        </p:nvSpPr>
        <p:spPr>
          <a:xfrm>
            <a:off x="7696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86"/>
          <p:cNvSpPr/>
          <p:nvPr/>
        </p:nvSpPr>
        <p:spPr>
          <a:xfrm>
            <a:off x="7696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86"/>
          <p:cNvSpPr/>
          <p:nvPr/>
        </p:nvSpPr>
        <p:spPr>
          <a:xfrm>
            <a:off x="2446000" y="3546825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analysis_v2.py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86"/>
          <p:cNvSpPr/>
          <p:nvPr/>
        </p:nvSpPr>
        <p:spPr>
          <a:xfrm>
            <a:off x="2446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model_v2.md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86"/>
          <p:cNvSpPr/>
          <p:nvPr/>
        </p:nvSpPr>
        <p:spPr>
          <a:xfrm>
            <a:off x="3945375" y="35128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analysis_v3.py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86"/>
          <p:cNvSpPr/>
          <p:nvPr/>
        </p:nvSpPr>
        <p:spPr>
          <a:xfrm>
            <a:off x="3970000" y="4150000"/>
            <a:ext cx="768600" cy="497100"/>
          </a:xfrm>
          <a:prstGeom prst="rect">
            <a:avLst/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model_v2.md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86"/>
          <p:cNvSpPr/>
          <p:nvPr/>
        </p:nvSpPr>
        <p:spPr>
          <a:xfrm rot="-1468581">
            <a:off x="596225" y="2167065"/>
            <a:ext cx="6894711" cy="67046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7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Too many subdirectory, unnecessary work!</a:t>
            </a:r>
            <a:endParaRPr sz="23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8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7"/>
          <p:cNvSpPr/>
          <p:nvPr/>
        </p:nvSpPr>
        <p:spPr>
          <a:xfrm>
            <a:off x="403860" y="832925"/>
            <a:ext cx="8023800" cy="647700"/>
          </a:xfrm>
          <a:prstGeom prst="roundRect">
            <a:avLst>
              <a:gd name="adj" fmla="val 16667"/>
            </a:avLst>
          </a:prstGeom>
          <a:solidFill>
            <a:srgbClr val="FFCC8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87"/>
          <p:cNvSpPr/>
          <p:nvPr/>
        </p:nvSpPr>
        <p:spPr>
          <a:xfrm>
            <a:off x="311700" y="3265170"/>
            <a:ext cx="6950100" cy="1356300"/>
          </a:xfrm>
          <a:prstGeom prst="roundRect">
            <a:avLst>
              <a:gd name="adj" fmla="val 16667"/>
            </a:avLst>
          </a:prstGeom>
          <a:solidFill>
            <a:srgbClr val="FFCC8B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8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059" name="Google Shape;1059;p87"/>
          <p:cNvSpPr txBox="1">
            <a:spLocks noGrp="1"/>
          </p:cNvSpPr>
          <p:nvPr>
            <p:ph type="body" idx="4294967295"/>
          </p:nvPr>
        </p:nvSpPr>
        <p:spPr>
          <a:xfrm>
            <a:off x="190806" y="837600"/>
            <a:ext cx="8520600" cy="3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 b="1"/>
              <a:t>Branche(s) :</a:t>
            </a:r>
            <a:r>
              <a:rPr lang="en" sz="1400"/>
              <a:t> Allows you to have multiple versions of your work, and lets you track each version systematically.</a:t>
            </a:r>
            <a:endParaRPr sz="140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Each branch is like a parallel universe: changes you make in one branch do not affect other branches (until you </a:t>
            </a:r>
            <a:r>
              <a:rPr lang="en" sz="1400" b="1"/>
              <a:t>merge</a:t>
            </a:r>
            <a:r>
              <a:rPr lang="en" sz="1400"/>
              <a:t> them back together).</a:t>
            </a:r>
            <a:endParaRPr sz="140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In each branch:</a:t>
            </a:r>
            <a:endParaRPr sz="1400"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/>
              <a:t>Some files might be the same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/>
              <a:t>Others might be different</a:t>
            </a:r>
            <a:endParaRPr/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</a:pPr>
            <a:r>
              <a:rPr lang="en"/>
              <a:t>Some may not exist at all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Avoids endless subdirectories</a:t>
            </a:r>
            <a:endParaRPr sz="140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Everything is tracked</a:t>
            </a:r>
            <a:endParaRPr sz="140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Minimizes the risk of conflicting</a:t>
            </a:r>
            <a:endParaRPr sz="1400"/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400"/>
              <a:t>Branches allow us to work on different components of a project simultaneously.</a:t>
            </a:r>
            <a:endParaRPr sz="1400"/>
          </a:p>
        </p:txBody>
      </p:sp>
      <p:sp>
        <p:nvSpPr>
          <p:cNvPr id="1060" name="Google Shape;1060;p8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066" name="Google Shape;1066;p88"/>
          <p:cNvSpPr txBox="1">
            <a:spLocks noGrp="1"/>
          </p:cNvSpPr>
          <p:nvPr>
            <p:ph type="body" idx="4294967295"/>
          </p:nvPr>
        </p:nvSpPr>
        <p:spPr>
          <a:xfrm>
            <a:off x="58906" y="837600"/>
            <a:ext cx="8520600" cy="3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Example:</a:t>
            </a:r>
            <a:endParaRPr sz="1400" b="1"/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1 branch  →  master  →   ground truth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1 branch  →  for testing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 b="1"/>
              <a:t>1 branch  → for new development</a:t>
            </a:r>
            <a:endParaRPr sz="1400" b="1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 b="1"/>
          </a:p>
        </p:txBody>
      </p:sp>
      <p:sp>
        <p:nvSpPr>
          <p:cNvPr id="1067" name="Google Shape;1067;p8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Main branch</a:t>
            </a:r>
            <a:endParaRPr/>
          </a:p>
        </p:txBody>
      </p:sp>
      <p:sp>
        <p:nvSpPr>
          <p:cNvPr id="1073" name="Google Shape;1073;p89"/>
          <p:cNvSpPr txBox="1"/>
          <p:nvPr/>
        </p:nvSpPr>
        <p:spPr>
          <a:xfrm>
            <a:off x="677125" y="1482375"/>
            <a:ext cx="14160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4" name="Google Shape;1074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3726" y="1447700"/>
            <a:ext cx="806875" cy="5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9"/>
          <p:cNvSpPr txBox="1"/>
          <p:nvPr/>
        </p:nvSpPr>
        <p:spPr>
          <a:xfrm>
            <a:off x="405500" y="2956075"/>
            <a:ext cx="332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ground truth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6" name="Google Shape;1076;p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3723" y="2463648"/>
            <a:ext cx="536492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9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Analysis branch</a:t>
            </a:r>
            <a:endParaRPr/>
          </a:p>
        </p:txBody>
      </p:sp>
      <p:sp>
        <p:nvSpPr>
          <p:cNvPr id="1083" name="Google Shape;1083;p90"/>
          <p:cNvSpPr txBox="1"/>
          <p:nvPr/>
        </p:nvSpPr>
        <p:spPr>
          <a:xfrm>
            <a:off x="677125" y="1482375"/>
            <a:ext cx="1416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4" name="Google Shape;1084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31700" y="1482375"/>
            <a:ext cx="6746074" cy="295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085" name="Google Shape;1085;p9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77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9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Model branch</a:t>
            </a:r>
            <a:endParaRPr/>
          </a:p>
        </p:txBody>
      </p:sp>
      <p:sp>
        <p:nvSpPr>
          <p:cNvPr id="1091" name="Google Shape;1091;p91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2" name="Google Shape;109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38750" y="1441925"/>
            <a:ext cx="6736749" cy="28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92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Merging Analysis to Main</a:t>
            </a:r>
            <a:endParaRPr/>
          </a:p>
        </p:txBody>
      </p:sp>
      <p:sp>
        <p:nvSpPr>
          <p:cNvPr id="1099" name="Google Shape;1099;p92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0" name="Google Shape;1100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1875" y="1297525"/>
            <a:ext cx="6746075" cy="299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101" name="Google Shape;1101;p92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79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3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Merging Model to Main</a:t>
            </a:r>
            <a:endParaRPr/>
          </a:p>
        </p:txBody>
      </p:sp>
      <p:sp>
        <p:nvSpPr>
          <p:cNvPr id="1107" name="Google Shape;1107;p93"/>
          <p:cNvSpPr txBox="1"/>
          <p:nvPr/>
        </p:nvSpPr>
        <p:spPr>
          <a:xfrm>
            <a:off x="677125" y="1482375"/>
            <a:ext cx="14160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8" name="Google Shape;1108;p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5000" y="1360825"/>
            <a:ext cx="6746075" cy="2885844"/>
          </a:xfrm>
          <a:prstGeom prst="rect">
            <a:avLst/>
          </a:prstGeom>
          <a:noFill/>
          <a:ln>
            <a:noFill/>
          </a:ln>
        </p:spPr>
      </p:pic>
      <p:sp>
        <p:nvSpPr>
          <p:cNvPr id="1109" name="Google Shape;1109;p93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80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5">
          <a:extLst>
            <a:ext uri="{FF2B5EF4-FFF2-40B4-BE49-F238E27FC236}">
              <a16:creationId xmlns:a16="http://schemas.microsoft.com/office/drawing/2014/main" id="{F2866AA1-5E0F-2A90-E4B2-B6AF8A0B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93">
            <a:extLst>
              <a:ext uri="{FF2B5EF4-FFF2-40B4-BE49-F238E27FC236}">
                <a16:creationId xmlns:a16="http://schemas.microsoft.com/office/drawing/2014/main" id="{32702D9C-D945-4338-9CE9-7F184E87B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 dirty="0"/>
              <a:t>Best </a:t>
            </a:r>
            <a:r>
              <a:rPr lang="en" dirty="0">
                <a:solidFill>
                  <a:schemeClr val="accent1"/>
                </a:solidFill>
              </a:rPr>
              <a:t>practices</a:t>
            </a:r>
            <a:r>
              <a:rPr lang="en" dirty="0"/>
              <a:t> for working with branches</a:t>
            </a:r>
            <a:endParaRPr dirty="0"/>
          </a:p>
        </p:txBody>
      </p:sp>
      <p:sp>
        <p:nvSpPr>
          <p:cNvPr id="1107" name="Google Shape;1107;p93">
            <a:extLst>
              <a:ext uri="{FF2B5EF4-FFF2-40B4-BE49-F238E27FC236}">
                <a16:creationId xmlns:a16="http://schemas.microsoft.com/office/drawing/2014/main" id="{7A456490-6DCC-3FFB-F28D-E568611CBEAB}"/>
              </a:ext>
            </a:extLst>
          </p:cNvPr>
          <p:cNvSpPr txBox="1"/>
          <p:nvPr/>
        </p:nvSpPr>
        <p:spPr>
          <a:xfrm>
            <a:off x="688541" y="1102666"/>
            <a:ext cx="7518946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>
              <a:buSzPts val="1400"/>
            </a:pPr>
            <a:r>
              <a:rPr lang="en-US" b="1" dirty="0">
                <a:solidFill>
                  <a:schemeClr val="accent1"/>
                </a:solidFill>
              </a:rPr>
              <a:t>1.</a:t>
            </a:r>
            <a:r>
              <a:rPr lang="en-US" dirty="0"/>
              <a:t> Have a branch strategy: </a:t>
            </a:r>
          </a:p>
          <a:p>
            <a:pPr lvl="3">
              <a:buSzPts val="1400"/>
            </a:pPr>
            <a:r>
              <a:rPr lang="en-US" dirty="0"/>
              <a:t>       How big is your project? </a:t>
            </a:r>
          </a:p>
          <a:p>
            <a:pPr lvl="3">
              <a:buSzPts val="1400"/>
            </a:pPr>
            <a:r>
              <a:rPr lang="en-US" dirty="0"/>
              <a:t>       How many people are working on it?     	</a:t>
            </a:r>
          </a:p>
          <a:p>
            <a:pPr lvl="3">
              <a:buSzPts val="1400"/>
            </a:pPr>
            <a:r>
              <a:rPr lang="en-US" dirty="0"/>
              <a:t>       How often do you release?</a:t>
            </a:r>
          </a:p>
          <a:p>
            <a:pPr lvl="3">
              <a:buSzPts val="1400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400" b="1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one branch per feature/fix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b="1" dirty="0">
                <a:solidFill>
                  <a:schemeClr val="accent1"/>
                </a:solidFill>
              </a:rPr>
              <a:t>3.</a:t>
            </a:r>
            <a:r>
              <a:rPr lang="en-US" dirty="0"/>
              <a:t> Keep branches small and focused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en-US" sz="1400" b="1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Commit often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93">
            <a:extLst>
              <a:ext uri="{FF2B5EF4-FFF2-40B4-BE49-F238E27FC236}">
                <a16:creationId xmlns:a16="http://schemas.microsoft.com/office/drawing/2014/main" id="{B03150E5-EA08-E087-16CA-F0A55FE2DE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81</a:t>
            </a:fld>
            <a:endParaRPr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0469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94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Source and destination</a:t>
            </a:r>
            <a:endParaRPr/>
          </a:p>
        </p:txBody>
      </p:sp>
      <p:sp>
        <p:nvSpPr>
          <p:cNvPr id="1115" name="Google Shape;1115;p94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When merging two branches: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/>
              <a:t>The commits are called parent commits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highlight>
                  <a:srgbClr val="D9D9D9"/>
                </a:highlight>
              </a:rPr>
              <a:t>source</a:t>
            </a:r>
            <a:r>
              <a:rPr lang="en" sz="1600"/>
              <a:t> : the branch we want to merge </a:t>
            </a:r>
            <a:r>
              <a:rPr lang="en" sz="1600" b="1"/>
              <a:t>from</a:t>
            </a:r>
            <a:endParaRPr sz="1600" b="1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highlight>
                  <a:srgbClr val="D9D9D9"/>
                </a:highlight>
              </a:rPr>
              <a:t>destination</a:t>
            </a:r>
            <a:r>
              <a:rPr lang="en" sz="1600"/>
              <a:t>: the branch we want to merge </a:t>
            </a:r>
            <a:r>
              <a:rPr lang="en" sz="1600" b="1"/>
              <a:t>into</a:t>
            </a:r>
            <a:endParaRPr sz="16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1600" b="1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Char char="●"/>
            </a:pPr>
            <a:r>
              <a:rPr lang="en" sz="1600"/>
              <a:t>When merging </a:t>
            </a:r>
            <a:r>
              <a:rPr lang="en" sz="1600">
                <a:highlight>
                  <a:srgbClr val="D9D9D9"/>
                </a:highlight>
              </a:rPr>
              <a:t>analysis</a:t>
            </a:r>
            <a:r>
              <a:rPr lang="en" sz="1600"/>
              <a:t> to </a:t>
            </a:r>
            <a:r>
              <a:rPr lang="en" sz="1600">
                <a:highlight>
                  <a:srgbClr val="D9D9D9"/>
                </a:highlight>
              </a:rPr>
              <a:t>main</a:t>
            </a:r>
            <a:r>
              <a:rPr lang="en" sz="1600"/>
              <a:t>:</a:t>
            </a:r>
            <a:endParaRPr sz="1600"/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highlight>
                  <a:srgbClr val="D9D9D9"/>
                </a:highlight>
              </a:rPr>
              <a:t>analysis</a:t>
            </a:r>
            <a:r>
              <a:rPr lang="en" sz="1600"/>
              <a:t> = </a:t>
            </a:r>
            <a:r>
              <a:rPr lang="en" sz="1600">
                <a:highlight>
                  <a:srgbClr val="D9D9D9"/>
                </a:highlight>
              </a:rPr>
              <a:t>source</a:t>
            </a:r>
            <a:endParaRPr sz="1600">
              <a:highlight>
                <a:srgbClr val="D9D9D9"/>
              </a:highlight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○"/>
            </a:pPr>
            <a:r>
              <a:rPr lang="en" sz="1600">
                <a:highlight>
                  <a:srgbClr val="D9D9D9"/>
                </a:highlight>
              </a:rPr>
              <a:t>main</a:t>
            </a:r>
            <a:r>
              <a:rPr lang="en" sz="1600"/>
              <a:t>      = </a:t>
            </a:r>
            <a:r>
              <a:rPr lang="en" sz="1600">
                <a:highlight>
                  <a:srgbClr val="D9D9D9"/>
                </a:highlight>
              </a:rPr>
              <a:t>destination</a:t>
            </a:r>
            <a:endParaRPr sz="1600">
              <a:highlight>
                <a:srgbClr val="D9D9D9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sz="1600">
              <a:solidFill>
                <a:schemeClr val="dk1"/>
              </a:solidFill>
            </a:endParaRPr>
          </a:p>
        </p:txBody>
      </p:sp>
      <p:sp>
        <p:nvSpPr>
          <p:cNvPr id="1116" name="Google Shape;1116;p94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82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5"/>
          <p:cNvSpPr/>
          <p:nvPr/>
        </p:nvSpPr>
        <p:spPr>
          <a:xfrm>
            <a:off x="311700" y="1248900"/>
            <a:ext cx="24981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95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123" name="Google Shape;1123;p95"/>
          <p:cNvSpPr txBox="1">
            <a:spLocks noGrp="1"/>
          </p:cNvSpPr>
          <p:nvPr>
            <p:ph type="body" idx="4294967295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git branch</a:t>
            </a:r>
            <a:r>
              <a:rPr lang="en"/>
              <a:t>                    : List the existing branches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analysis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main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*model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highlight>
                  <a:srgbClr val="D9D9D9"/>
                </a:highlight>
              </a:rPr>
              <a:t>* </a:t>
            </a:r>
            <a:r>
              <a:rPr lang="en">
                <a:highlight>
                  <a:schemeClr val="lt1"/>
                </a:highlight>
              </a:rPr>
              <a:t>= current branch</a:t>
            </a:r>
            <a:endParaRPr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rgbClr val="6AA84F"/>
              </a:solidFill>
            </a:endParaRPr>
          </a:p>
        </p:txBody>
      </p:sp>
      <p:sp>
        <p:nvSpPr>
          <p:cNvPr id="1124" name="Google Shape;1124;p95"/>
          <p:cNvSpPr/>
          <p:nvPr/>
        </p:nvSpPr>
        <p:spPr>
          <a:xfrm>
            <a:off x="249475" y="1106725"/>
            <a:ext cx="5623200" cy="560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95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83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96"/>
          <p:cNvSpPr/>
          <p:nvPr/>
        </p:nvSpPr>
        <p:spPr>
          <a:xfrm>
            <a:off x="352775" y="3668055"/>
            <a:ext cx="34125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96"/>
          <p:cNvSpPr/>
          <p:nvPr/>
        </p:nvSpPr>
        <p:spPr>
          <a:xfrm>
            <a:off x="352775" y="2430975"/>
            <a:ext cx="34125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96"/>
          <p:cNvSpPr/>
          <p:nvPr/>
        </p:nvSpPr>
        <p:spPr>
          <a:xfrm>
            <a:off x="393225" y="1095050"/>
            <a:ext cx="34125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96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134" name="Google Shape;1134;p96"/>
          <p:cNvSpPr txBox="1">
            <a:spLocks noGrp="1"/>
          </p:cNvSpPr>
          <p:nvPr>
            <p:ph type="body" idx="4294967295"/>
          </p:nvPr>
        </p:nvSpPr>
        <p:spPr>
          <a:xfrm>
            <a:off x="347557" y="997827"/>
            <a:ext cx="8520600" cy="36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18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switch -c &lt;new branch&gt;</a:t>
            </a:r>
            <a:r>
              <a:rPr lang="en" dirty="0"/>
              <a:t>  : Creates a new branch and switches to it.</a:t>
            </a:r>
            <a:endParaRPr dirty="0"/>
          </a:p>
          <a:p>
            <a:pPr marL="457200" lvl="0" indent="-36307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18"/>
              <a:buChar char="●"/>
            </a:pPr>
            <a:r>
              <a:rPr lang="en" dirty="0"/>
              <a:t>Let’s create a new branch and make some modifications, stage, and commit.</a:t>
            </a:r>
            <a:endParaRPr dirty="0"/>
          </a:p>
          <a:p>
            <a:pPr marL="457200" lvl="0" indent="-36307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18"/>
              <a:buChar char="●"/>
            </a:pPr>
            <a:r>
              <a:rPr lang="en" dirty="0"/>
              <a:t>Then let’s compare our branches: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8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diff main analysis </a:t>
            </a:r>
            <a:r>
              <a:rPr lang="en" dirty="0"/>
              <a:t>        : Compares branches   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endParaRPr dirty="0"/>
          </a:p>
          <a:p>
            <a:pPr marL="457200" lvl="0" indent="-36307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118"/>
              <a:buChar char="●"/>
            </a:pPr>
            <a:r>
              <a:rPr lang="en" dirty="0"/>
              <a:t>Let’s switch branches: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18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switch  &lt;branch&gt;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118"/>
              <a:buNone/>
            </a:pPr>
            <a:r>
              <a:rPr lang="en" dirty="0">
                <a:solidFill>
                  <a:schemeClr val="dk1"/>
                </a:solidFill>
              </a:rPr>
              <a:t>   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135" name="Google Shape;1135;p96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84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97"/>
          <p:cNvSpPr/>
          <p:nvPr/>
        </p:nvSpPr>
        <p:spPr>
          <a:xfrm>
            <a:off x="311700" y="2823125"/>
            <a:ext cx="7484100" cy="780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97"/>
          <p:cNvSpPr/>
          <p:nvPr/>
        </p:nvSpPr>
        <p:spPr>
          <a:xfrm>
            <a:off x="375875" y="3828742"/>
            <a:ext cx="39423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97"/>
          <p:cNvSpPr/>
          <p:nvPr/>
        </p:nvSpPr>
        <p:spPr>
          <a:xfrm>
            <a:off x="375875" y="2938768"/>
            <a:ext cx="3942300" cy="3258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97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branches</a:t>
            </a:r>
            <a:endParaRPr/>
          </a:p>
        </p:txBody>
      </p:sp>
      <p:sp>
        <p:nvSpPr>
          <p:cNvPr id="1144" name="Google Shape;1144;p97"/>
          <p:cNvSpPr txBox="1">
            <a:spLocks noGrp="1"/>
          </p:cNvSpPr>
          <p:nvPr>
            <p:ph type="body" idx="4294967295"/>
          </p:nvPr>
        </p:nvSpPr>
        <p:spPr>
          <a:xfrm>
            <a:off x="103440" y="1152474"/>
            <a:ext cx="8884800" cy="37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dirty="0"/>
              <a:t>Each branch should be a specific task. Don’t be overambitious!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dirty="0"/>
              <a:t>Avoid working on the same file in two different branches at the same time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dirty="0"/>
              <a:t>Once you complete your task, you should first </a:t>
            </a:r>
            <a:r>
              <a:rPr lang="en" b="1" dirty="0"/>
              <a:t>switch</a:t>
            </a:r>
            <a:r>
              <a:rPr lang="en" dirty="0"/>
              <a:t> to </a:t>
            </a:r>
            <a:r>
              <a:rPr lang="en" dirty="0">
                <a:highlight>
                  <a:srgbClr val="C0C0C0"/>
                </a:highlight>
              </a:rPr>
              <a:t>main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dirty="0"/>
              <a:t>Then merge your feature branch into </a:t>
            </a:r>
            <a:r>
              <a:rPr lang="en" dirty="0">
                <a:highlight>
                  <a:srgbClr val="C0C0C0"/>
                </a:highlight>
              </a:rPr>
              <a:t>main</a:t>
            </a:r>
            <a:r>
              <a:rPr lang="en" dirty="0"/>
              <a:t> in order to keep your work up to date and accurate. 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  git merge source destination   </a:t>
            </a:r>
            <a:r>
              <a:rPr lang="en" dirty="0"/>
              <a:t>: Merges source to destination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  git merge analysis             :</a:t>
            </a:r>
            <a:r>
              <a:rPr lang="en" dirty="0"/>
              <a:t> To merge, you need to be in the destination            				              branch. </a:t>
            </a:r>
            <a:endParaRPr dirty="0"/>
          </a:p>
        </p:txBody>
      </p:sp>
      <p:sp>
        <p:nvSpPr>
          <p:cNvPr id="1145" name="Google Shape;1145;p97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85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98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RECAP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2106"/>
              <a:buNone/>
            </a:pPr>
            <a:r>
              <a:rPr lang="en" sz="2355">
                <a:solidFill>
                  <a:srgbClr val="FF0000"/>
                </a:solidFill>
              </a:rPr>
              <a:t>Daily Workflow</a:t>
            </a:r>
            <a:endParaRPr sz="2355">
              <a:solidFill>
                <a:srgbClr val="FF0000"/>
              </a:solidFill>
            </a:endParaRPr>
          </a:p>
        </p:txBody>
      </p:sp>
      <p:sp>
        <p:nvSpPr>
          <p:cNvPr id="1151" name="Google Shape;1151;p98"/>
          <p:cNvSpPr txBox="1">
            <a:spLocks noGrp="1"/>
          </p:cNvSpPr>
          <p:nvPr>
            <p:ph type="body" idx="4294967295"/>
          </p:nvPr>
        </p:nvSpPr>
        <p:spPr>
          <a:xfrm>
            <a:off x="179900" y="1379975"/>
            <a:ext cx="8860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branch               </a:t>
            </a:r>
            <a:r>
              <a:rPr lang="en" dirty="0"/>
              <a:t>: Make sure you are on the right branch (</a:t>
            </a:r>
            <a:r>
              <a:rPr lang="en" b="1" dirty="0">
                <a:solidFill>
                  <a:schemeClr val="accent1"/>
                </a:solidFill>
              </a:rPr>
              <a:t>NOT master!</a:t>
            </a:r>
            <a:r>
              <a:rPr lang="en" dirty="0"/>
              <a:t>)before starting to work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status               </a:t>
            </a:r>
            <a:r>
              <a:rPr lang="en" dirty="0"/>
              <a:t>: Make sure that you know the current status.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b="1" dirty="0"/>
              <a:t>Work on my project</a:t>
            </a:r>
            <a:r>
              <a:rPr lang="en" dirty="0"/>
              <a:t>                    : Continue working on your project if you are happy with the current status.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add file(s)          </a:t>
            </a:r>
            <a:r>
              <a:rPr lang="en" dirty="0"/>
              <a:t>: Stage your changes. 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commit -m “Message”  </a:t>
            </a:r>
            <a:r>
              <a:rPr lang="en" dirty="0"/>
              <a:t>: Commit your stages. Make frequent and small commits.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b="1" dirty="0"/>
              <a:t>Happy with results                      </a:t>
            </a:r>
            <a:r>
              <a:rPr lang="en" dirty="0"/>
              <a:t>: You are happy with your progress and results.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switch main          :</a:t>
            </a:r>
            <a:r>
              <a:rPr lang="en" dirty="0">
                <a:latin typeface="Arial"/>
                <a:ea typeface="Arial"/>
                <a:cs typeface="Arial"/>
                <a:sym typeface="Arial"/>
              </a:rPr>
              <a:t>Switch to the branch you want to merge your feature branch to .   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merge branch         </a:t>
            </a:r>
            <a:r>
              <a:rPr lang="en" dirty="0"/>
              <a:t>: Merge the branch to main to update the main branch.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1260"/>
              <a:buNone/>
            </a:pPr>
            <a:r>
              <a:rPr lang="en" dirty="0">
                <a:latin typeface="Courier New"/>
                <a:ea typeface="Courier New"/>
                <a:cs typeface="Courier New"/>
                <a:sym typeface="Courier New"/>
              </a:rPr>
              <a:t>git switch -c new_branch </a:t>
            </a:r>
            <a:r>
              <a:rPr lang="en" dirty="0"/>
              <a:t>: You are ready to work on a new task in a new branch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51260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152" name="Google Shape;1152;p98"/>
          <p:cNvSpPr/>
          <p:nvPr/>
        </p:nvSpPr>
        <p:spPr>
          <a:xfrm>
            <a:off x="216000" y="428331"/>
            <a:ext cx="8636604" cy="4174500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98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86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99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Feedback</a:t>
            </a:r>
            <a:endParaRPr/>
          </a:p>
        </p:txBody>
      </p:sp>
      <p:sp>
        <p:nvSpPr>
          <p:cNvPr id="1159" name="Google Shape;1159;p99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87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160" name="Google Shape;116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600" y="1081850"/>
            <a:ext cx="3048000" cy="330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 txBox="1"/>
          <p:nvPr/>
        </p:nvSpPr>
        <p:spPr>
          <a:xfrm>
            <a:off x="-769425" y="468700"/>
            <a:ext cx="75579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6" name="Google Shape;1166;p100"/>
          <p:cNvCxnSpPr/>
          <p:nvPr/>
        </p:nvCxnSpPr>
        <p:spPr>
          <a:xfrm>
            <a:off x="2866920" y="2155590"/>
            <a:ext cx="0" cy="25146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67" name="Google Shape;1167;p100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Merge Types</a:t>
            </a:r>
            <a:endParaRPr/>
          </a:p>
        </p:txBody>
      </p:sp>
      <p:sp>
        <p:nvSpPr>
          <p:cNvPr id="1168" name="Google Shape;1168;p100"/>
          <p:cNvSpPr txBox="1">
            <a:spLocks noGrp="1"/>
          </p:cNvSpPr>
          <p:nvPr>
            <p:ph type="body" idx="4294967295"/>
          </p:nvPr>
        </p:nvSpPr>
        <p:spPr>
          <a:xfrm>
            <a:off x="20454" y="1062423"/>
            <a:ext cx="8884920" cy="378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b="1">
                <a:solidFill>
                  <a:schemeClr val="dk1"/>
                </a:solidFill>
              </a:rPr>
              <a:t>Fast-forward merge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Before merging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Main   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Feature Branch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9" name="Google Shape;1169;p100"/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100"/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100"/>
          <p:cNvSpPr/>
          <p:nvPr/>
        </p:nvSpPr>
        <p:spPr>
          <a:xfrm>
            <a:off x="3177540" y="339090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00"/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100"/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100"/>
          <p:cNvSpPr txBox="1"/>
          <p:nvPr/>
        </p:nvSpPr>
        <p:spPr>
          <a:xfrm>
            <a:off x="3173521" y="340614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5" name="Google Shape;1175;p100"/>
          <p:cNvCxnSpPr/>
          <p:nvPr/>
        </p:nvCxnSpPr>
        <p:spPr>
          <a:xfrm>
            <a:off x="2324100" y="2554188"/>
            <a:ext cx="289560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6" name="Google Shape;1176;p100"/>
          <p:cNvCxnSpPr>
            <a:stCxn id="1170" idx="2"/>
            <a:endCxn id="1174" idx="1"/>
          </p:cNvCxnSpPr>
          <p:nvPr/>
        </p:nvCxnSpPr>
        <p:spPr>
          <a:xfrm rot="-5400000" flipH="1">
            <a:off x="2588070" y="2974530"/>
            <a:ext cx="824400" cy="346500"/>
          </a:xfrm>
          <a:prstGeom prst="bentConnector2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7" name="Google Shape;1177;p100"/>
          <p:cNvSpPr/>
          <p:nvPr/>
        </p:nvSpPr>
        <p:spPr>
          <a:xfrm>
            <a:off x="2613660" y="1874180"/>
            <a:ext cx="464820" cy="307777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100"/>
          <p:cNvSpPr txBox="1"/>
          <p:nvPr/>
        </p:nvSpPr>
        <p:spPr>
          <a:xfrm>
            <a:off x="2559773" y="1861917"/>
            <a:ext cx="5725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100"/>
          <p:cNvSpPr/>
          <p:nvPr/>
        </p:nvSpPr>
        <p:spPr>
          <a:xfrm>
            <a:off x="3112560" y="4000500"/>
            <a:ext cx="659340" cy="288538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0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0" name="Google Shape;1180;p100"/>
          <p:cNvCxnSpPr/>
          <p:nvPr/>
        </p:nvCxnSpPr>
        <p:spPr>
          <a:xfrm rot="10800000">
            <a:off x="3392700" y="3693593"/>
            <a:ext cx="0" cy="306907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1" name="Google Shape;1181;p100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88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6" name="Google Shape;1186;p101"/>
          <p:cNvCxnSpPr>
            <a:stCxn id="1187" idx="2"/>
            <a:endCxn id="1188" idx="1"/>
          </p:cNvCxnSpPr>
          <p:nvPr/>
        </p:nvCxnSpPr>
        <p:spPr>
          <a:xfrm rot="-5400000" flipH="1">
            <a:off x="2675670" y="2886930"/>
            <a:ext cx="824400" cy="521700"/>
          </a:xfrm>
          <a:prstGeom prst="bentConnector2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9" name="Google Shape;1189;p101"/>
          <p:cNvSpPr txBox="1">
            <a:spLocks noGrp="1"/>
          </p:cNvSpPr>
          <p:nvPr>
            <p:ph type="title"/>
          </p:nvPr>
        </p:nvSpPr>
        <p:spPr>
          <a:xfrm>
            <a:off x="457200" y="342900"/>
            <a:ext cx="8470800" cy="4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Merge Types</a:t>
            </a:r>
            <a:endParaRPr/>
          </a:p>
        </p:txBody>
      </p:sp>
      <p:sp>
        <p:nvSpPr>
          <p:cNvPr id="1190" name="Google Shape;1190;p101"/>
          <p:cNvSpPr txBox="1">
            <a:spLocks noGrp="1"/>
          </p:cNvSpPr>
          <p:nvPr>
            <p:ph type="body" idx="4294967295"/>
          </p:nvPr>
        </p:nvSpPr>
        <p:spPr>
          <a:xfrm>
            <a:off x="15240" y="1055825"/>
            <a:ext cx="8884920" cy="3785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 b="1">
                <a:solidFill>
                  <a:schemeClr val="dk1"/>
                </a:solidFill>
              </a:rPr>
              <a:t>Fast-forward merge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b="1"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After merging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Main    </a:t>
            </a:r>
            <a:endParaRPr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>
              <a:solidFill>
                <a:schemeClr val="dk1"/>
              </a:solidFill>
            </a:endParaRPr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Feature Branch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1" name="Google Shape;1191;p101"/>
          <p:cNvSpPr/>
          <p:nvPr/>
        </p:nvSpPr>
        <p:spPr>
          <a:xfrm>
            <a:off x="1859280" y="240030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101"/>
          <p:cNvSpPr/>
          <p:nvPr/>
        </p:nvSpPr>
        <p:spPr>
          <a:xfrm>
            <a:off x="2606040" y="240792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01"/>
          <p:cNvSpPr/>
          <p:nvPr/>
        </p:nvSpPr>
        <p:spPr>
          <a:xfrm>
            <a:off x="3322320" y="339090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101"/>
          <p:cNvSpPr txBox="1"/>
          <p:nvPr/>
        </p:nvSpPr>
        <p:spPr>
          <a:xfrm>
            <a:off x="1878121" y="240030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B1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101"/>
          <p:cNvSpPr txBox="1"/>
          <p:nvPr/>
        </p:nvSpPr>
        <p:spPr>
          <a:xfrm>
            <a:off x="2571541" y="241554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B2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101"/>
          <p:cNvSpPr txBox="1"/>
          <p:nvPr/>
        </p:nvSpPr>
        <p:spPr>
          <a:xfrm>
            <a:off x="3348781" y="340614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5" name="Google Shape;1195;p101"/>
          <p:cNvCxnSpPr/>
          <p:nvPr/>
        </p:nvCxnSpPr>
        <p:spPr>
          <a:xfrm>
            <a:off x="2324100" y="2554188"/>
            <a:ext cx="289560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6" name="Google Shape;1196;p101"/>
          <p:cNvCxnSpPr/>
          <p:nvPr/>
        </p:nvCxnSpPr>
        <p:spPr>
          <a:xfrm>
            <a:off x="3059221" y="2571750"/>
            <a:ext cx="289560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7" name="Google Shape;1197;p101"/>
          <p:cNvSpPr/>
          <p:nvPr/>
        </p:nvSpPr>
        <p:spPr>
          <a:xfrm>
            <a:off x="3307080" y="2407920"/>
            <a:ext cx="441960" cy="327660"/>
          </a:xfrm>
          <a:prstGeom prst="rect">
            <a:avLst/>
          </a:prstGeom>
          <a:solidFill>
            <a:srgbClr val="FFFF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101"/>
          <p:cNvSpPr txBox="1"/>
          <p:nvPr/>
        </p:nvSpPr>
        <p:spPr>
          <a:xfrm>
            <a:off x="3303061" y="2430780"/>
            <a:ext cx="40427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B3</a:t>
            </a:r>
            <a:endParaRPr sz="14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101"/>
          <p:cNvCxnSpPr/>
          <p:nvPr/>
        </p:nvCxnSpPr>
        <p:spPr>
          <a:xfrm rot="10800000">
            <a:off x="3528060" y="2865120"/>
            <a:ext cx="0" cy="43434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0" name="Google Shape;1200;p101"/>
          <p:cNvSpPr/>
          <p:nvPr/>
        </p:nvSpPr>
        <p:spPr>
          <a:xfrm>
            <a:off x="2697480" y="1866560"/>
            <a:ext cx="464820" cy="307777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101"/>
          <p:cNvSpPr txBox="1"/>
          <p:nvPr/>
        </p:nvSpPr>
        <p:spPr>
          <a:xfrm>
            <a:off x="2658833" y="1861917"/>
            <a:ext cx="57259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101"/>
          <p:cNvSpPr/>
          <p:nvPr/>
        </p:nvSpPr>
        <p:spPr>
          <a:xfrm>
            <a:off x="3912660" y="1884777"/>
            <a:ext cx="659340" cy="288538"/>
          </a:xfrm>
          <a:prstGeom prst="roundRect">
            <a:avLst>
              <a:gd name="adj" fmla="val 16667"/>
            </a:avLst>
          </a:prstGeom>
          <a:solidFill>
            <a:srgbClr val="BFBFBF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000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3" name="Google Shape;1203;p101"/>
          <p:cNvCxnSpPr>
            <a:stCxn id="1201" idx="2"/>
            <a:endCxn id="1198" idx="0"/>
          </p:cNvCxnSpPr>
          <p:nvPr/>
        </p:nvCxnSpPr>
        <p:spPr>
          <a:xfrm>
            <a:off x="2945130" y="2169694"/>
            <a:ext cx="560100" cy="26100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4" name="Google Shape;1204;p101"/>
          <p:cNvCxnSpPr>
            <a:stCxn id="1202" idx="2"/>
            <a:endCxn id="1197" idx="0"/>
          </p:cNvCxnSpPr>
          <p:nvPr/>
        </p:nvCxnSpPr>
        <p:spPr>
          <a:xfrm flipH="1">
            <a:off x="3528030" y="2173315"/>
            <a:ext cx="714300" cy="234600"/>
          </a:xfrm>
          <a:prstGeom prst="straightConnector1">
            <a:avLst/>
          </a:prstGeom>
          <a:noFill/>
          <a:ln w="9525" cap="flat" cmpd="sng">
            <a:solidFill>
              <a:srgbClr val="20202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5" name="Google Shape;1205;p101"/>
          <p:cNvSpPr txBox="1"/>
          <p:nvPr/>
        </p:nvSpPr>
        <p:spPr>
          <a:xfrm>
            <a:off x="4873199" y="2571750"/>
            <a:ext cx="4092787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additional commit is on main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branch commits easily added to main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main branch history remains linear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101"/>
          <p:cNvSpPr txBox="1">
            <a:spLocks noGrp="1"/>
          </p:cNvSpPr>
          <p:nvPr>
            <p:ph type="sldNum" idx="12"/>
          </p:nvPr>
        </p:nvSpPr>
        <p:spPr>
          <a:xfrm>
            <a:off x="361950" y="4969050"/>
            <a:ext cx="774900" cy="1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| </a:t>
            </a:r>
            <a:fld id="{00000000-1234-1234-1234-123412341234}" type="slidenum">
              <a:rPr lang="en">
                <a:solidFill>
                  <a:schemeClr val="lt1"/>
                </a:solidFill>
              </a:rPr>
              <a:t>89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02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Remote Repositories</a:t>
            </a:r>
            <a:endParaRPr/>
          </a:p>
        </p:txBody>
      </p:sp>
      <p:pic>
        <p:nvPicPr>
          <p:cNvPr id="1216" name="Google Shape;121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9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102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8" name="Google Shape;1218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0400" y="809303"/>
            <a:ext cx="2596776" cy="1501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167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55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265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2" name="Google Shape;122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337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3" name="Google Shape;1223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21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1321" y="3517577"/>
            <a:ext cx="946051" cy="856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5" name="Google Shape;1225;p102"/>
          <p:cNvCxnSpPr>
            <a:endCxn id="1216" idx="0"/>
          </p:cNvCxnSpPr>
          <p:nvPr/>
        </p:nvCxnSpPr>
        <p:spPr>
          <a:xfrm flipH="1">
            <a:off x="1322996" y="1810577"/>
            <a:ext cx="2396100" cy="170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6" name="Google Shape;1226;p102"/>
          <p:cNvCxnSpPr>
            <a:endCxn id="1219" idx="0"/>
          </p:cNvCxnSpPr>
          <p:nvPr/>
        </p:nvCxnSpPr>
        <p:spPr>
          <a:xfrm flipH="1">
            <a:off x="2389796" y="2131877"/>
            <a:ext cx="1578000" cy="138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7" name="Google Shape;1227;p102"/>
          <p:cNvCxnSpPr>
            <a:endCxn id="1220" idx="0"/>
          </p:cNvCxnSpPr>
          <p:nvPr/>
        </p:nvCxnSpPr>
        <p:spPr>
          <a:xfrm flipH="1">
            <a:off x="3508546" y="2216777"/>
            <a:ext cx="774600" cy="130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8" name="Google Shape;1228;p102"/>
          <p:cNvCxnSpPr>
            <a:stCxn id="1218" idx="2"/>
          </p:cNvCxnSpPr>
          <p:nvPr/>
        </p:nvCxnSpPr>
        <p:spPr>
          <a:xfrm flipH="1">
            <a:off x="4477288" y="2310352"/>
            <a:ext cx="31500" cy="1180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29" name="Google Shape;1229;p102"/>
          <p:cNvCxnSpPr>
            <a:endCxn id="1222" idx="0"/>
          </p:cNvCxnSpPr>
          <p:nvPr/>
        </p:nvCxnSpPr>
        <p:spPr>
          <a:xfrm>
            <a:off x="5241597" y="2259377"/>
            <a:ext cx="424800" cy="125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30" name="Google Shape;1230;p102"/>
          <p:cNvCxnSpPr>
            <a:endCxn id="1223" idx="0"/>
          </p:cNvCxnSpPr>
          <p:nvPr/>
        </p:nvCxnSpPr>
        <p:spPr>
          <a:xfrm>
            <a:off x="5684447" y="1974377"/>
            <a:ext cx="1100700" cy="1543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231" name="Google Shape;1231;p102"/>
          <p:cNvCxnSpPr>
            <a:endCxn id="1224" idx="0"/>
          </p:cNvCxnSpPr>
          <p:nvPr/>
        </p:nvCxnSpPr>
        <p:spPr>
          <a:xfrm>
            <a:off x="5848247" y="1755977"/>
            <a:ext cx="2156100" cy="1761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6" name="Google Shape;1236;p103"/>
          <p:cNvSpPr/>
          <p:nvPr/>
        </p:nvSpPr>
        <p:spPr>
          <a:xfrm>
            <a:off x="252000" y="4534775"/>
            <a:ext cx="16716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103"/>
          <p:cNvSpPr/>
          <p:nvPr/>
        </p:nvSpPr>
        <p:spPr>
          <a:xfrm>
            <a:off x="311700" y="3300425"/>
            <a:ext cx="6848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103"/>
          <p:cNvSpPr txBox="1"/>
          <p:nvPr/>
        </p:nvSpPr>
        <p:spPr>
          <a:xfrm>
            <a:off x="252000" y="1073375"/>
            <a:ext cx="86400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a directory where you want to copy (</a:t>
            </a:r>
            <a:r>
              <a:rPr lang="en" sz="1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clone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the remote repository in your local environment.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the remote repository in GitHub.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HTTPS or SSH and copy the url.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your directory where you want to clone the remote.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lang="en" sz="1400" b="0" i="0" u="sng" strike="noStrike" cap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https://github.com/</a:t>
            </a: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&lt;username&gt;/&lt;remote_project&gt;.git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cloning don’t forget to go in that repository.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 </a:t>
            </a:r>
            <a:r>
              <a:rPr lang="e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creates a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remote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called </a:t>
            </a: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D9D9D9"/>
                </a:highlight>
                <a:latin typeface="Arial"/>
                <a:ea typeface="Arial"/>
                <a:cs typeface="Arial"/>
                <a:sym typeface="Arial"/>
              </a:rPr>
              <a:t>origin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points to the original repository.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remote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-v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:Displays the name of the remote together with the url.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103"/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an existing remote repository: Clone</a:t>
            </a:r>
            <a:br>
              <a:rPr lang="en"/>
            </a:br>
            <a:br>
              <a:rPr lang="en"/>
            </a:br>
            <a:endParaRPr/>
          </a:p>
        </p:txBody>
      </p:sp>
      <p:pic>
        <p:nvPicPr>
          <p:cNvPr id="1240" name="Google Shape;1240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8300" y="2008950"/>
            <a:ext cx="653725" cy="2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4"/>
          <p:cNvSpPr txBox="1"/>
          <p:nvPr/>
        </p:nvSpPr>
        <p:spPr>
          <a:xfrm>
            <a:off x="252000" y="1035275"/>
            <a:ext cx="86400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a directory where you want to copy (</a:t>
            </a:r>
            <a:r>
              <a:rPr lang="en" sz="14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fork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the remote repository in your local environment.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the remote repository in GitHub.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`Create a new fork`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an Owner and Rename the repository</a:t>
            </a:r>
            <a:endParaRPr/>
          </a:p>
          <a:p>
            <a:pPr marL="139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 `Copy the main branch only`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your GitHub space, a fork of the original repository will be created.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04"/>
          <p:cNvSpPr txBox="1">
            <a:spLocks noGrp="1"/>
          </p:cNvSpPr>
          <p:nvPr>
            <p:ph type="title"/>
          </p:nvPr>
        </p:nvSpPr>
        <p:spPr>
          <a:xfrm>
            <a:off x="311700" y="3154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an existing remote repository: Fork</a:t>
            </a:r>
            <a:endParaRPr/>
          </a:p>
        </p:txBody>
      </p:sp>
      <p:pic>
        <p:nvPicPr>
          <p:cNvPr id="1247" name="Google Shape;1247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0310" y="1940675"/>
            <a:ext cx="1650380" cy="423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8" name="Google Shape;1248;p10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7827" y="3603981"/>
            <a:ext cx="1338146" cy="434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rgbClr val="0C0C0C"/>
                </a:solidFill>
              </a:rPr>
              <a:t>Clone vs Fork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1254" name="Google Shape;1254;p105"/>
          <p:cNvSpPr txBox="1"/>
          <p:nvPr/>
        </p:nvSpPr>
        <p:spPr>
          <a:xfrm>
            <a:off x="122630" y="1371600"/>
            <a:ext cx="452399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a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 copy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a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local computer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Requires use of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and pull updates with Git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for collaboration</a:t>
            </a:r>
            <a:endParaRPr/>
          </a:p>
        </p:txBody>
      </p:sp>
      <p:sp>
        <p:nvSpPr>
          <p:cNvPr id="1255" name="Google Shape;1255;p105"/>
          <p:cNvSpPr txBox="1"/>
          <p:nvPr/>
        </p:nvSpPr>
        <p:spPr>
          <a:xfrm>
            <a:off x="4592754" y="1347951"/>
            <a:ext cx="4706738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Forking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Creates an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independent copy </a:t>
            </a: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 be done within </a:t>
            </a:r>
            <a:r>
              <a:rPr lang="en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 changes through pull requests (PR)</a:t>
            </a:r>
            <a:endParaRPr/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main purpose is to experiment and make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independent development can be used for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collaboration as well.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06"/>
          <p:cNvSpPr/>
          <p:nvPr/>
        </p:nvSpPr>
        <p:spPr>
          <a:xfrm>
            <a:off x="311700" y="17386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06"/>
          <p:cNvSpPr/>
          <p:nvPr/>
        </p:nvSpPr>
        <p:spPr>
          <a:xfrm>
            <a:off x="311700" y="21742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106"/>
          <p:cNvSpPr/>
          <p:nvPr/>
        </p:nvSpPr>
        <p:spPr>
          <a:xfrm>
            <a:off x="311700" y="389780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06"/>
          <p:cNvSpPr/>
          <p:nvPr/>
        </p:nvSpPr>
        <p:spPr>
          <a:xfrm>
            <a:off x="311700" y="306935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0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a remote repository</a:t>
            </a:r>
            <a:endParaRPr/>
          </a:p>
        </p:txBody>
      </p:sp>
      <p:sp>
        <p:nvSpPr>
          <p:cNvPr id="1265" name="Google Shape;1265;p106"/>
          <p:cNvSpPr/>
          <p:nvPr/>
        </p:nvSpPr>
        <p:spPr>
          <a:xfrm>
            <a:off x="311700" y="346447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106"/>
          <p:cNvSpPr txBox="1"/>
          <p:nvPr/>
        </p:nvSpPr>
        <p:spPr>
          <a:xfrm>
            <a:off x="152400" y="1269015"/>
            <a:ext cx="8892539" cy="363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sure that your local repo is up to date with the remote repo and check the status of your local repo.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git pull origin main          :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Fetch and merge the latest changes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your changes to your files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git add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git commit -m “Message”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git push origin main          :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Push changes to the remote 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check our remote on GitHub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107"/>
          <p:cNvSpPr/>
          <p:nvPr/>
        </p:nvSpPr>
        <p:spPr>
          <a:xfrm>
            <a:off x="311700" y="17386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07"/>
          <p:cNvSpPr/>
          <p:nvPr/>
        </p:nvSpPr>
        <p:spPr>
          <a:xfrm>
            <a:off x="311700" y="217422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07"/>
          <p:cNvSpPr/>
          <p:nvPr/>
        </p:nvSpPr>
        <p:spPr>
          <a:xfrm>
            <a:off x="311700" y="389780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07"/>
          <p:cNvSpPr/>
          <p:nvPr/>
        </p:nvSpPr>
        <p:spPr>
          <a:xfrm>
            <a:off x="311700" y="3069350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/>
              <a:t>Working with a remote repository</a:t>
            </a:r>
            <a:endParaRPr/>
          </a:p>
        </p:txBody>
      </p:sp>
      <p:sp>
        <p:nvSpPr>
          <p:cNvPr id="1276" name="Google Shape;1276;p107"/>
          <p:cNvSpPr/>
          <p:nvPr/>
        </p:nvSpPr>
        <p:spPr>
          <a:xfrm>
            <a:off x="311700" y="3464475"/>
            <a:ext cx="3191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07"/>
          <p:cNvSpPr txBox="1"/>
          <p:nvPr/>
        </p:nvSpPr>
        <p:spPr>
          <a:xfrm>
            <a:off x="272575" y="1253775"/>
            <a:ext cx="86109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sure that your local repo is sync with the remote repo and check status of your local repo.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status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a &lt;new branch&gt; and make you changes on your files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&lt;file&gt;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“Message”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&lt;new branch&gt;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remote repository (GitHub) create a PR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the pull request. This is done by the assigned person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07"/>
          <p:cNvSpPr/>
          <p:nvPr/>
        </p:nvSpPr>
        <p:spPr>
          <a:xfrm>
            <a:off x="272575" y="4320540"/>
            <a:ext cx="5343365" cy="565935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08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RECAP</a:t>
            </a:r>
            <a:endParaRPr sz="2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solidFill>
                  <a:srgbClr val="FF0000"/>
                </a:solidFill>
              </a:rPr>
              <a:t>Daily Workflow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284" name="Google Shape;1284;p108"/>
          <p:cNvSpPr txBox="1">
            <a:spLocks noGrp="1"/>
          </p:cNvSpPr>
          <p:nvPr>
            <p:ph type="body" idx="1"/>
          </p:nvPr>
        </p:nvSpPr>
        <p:spPr>
          <a:xfrm>
            <a:off x="141900" y="716280"/>
            <a:ext cx="8860200" cy="432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pull origin main  </a:t>
            </a:r>
            <a:r>
              <a:rPr lang="en" sz="1100"/>
              <a:t>: Fetch and merge the latest changes from the remote  `master` (or `main`) branch into your local                                            		                         `master`  branch.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endParaRPr sz="1100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5"/>
              <a:buFont typeface="Arial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checkout &lt;feature_branch&gt; </a:t>
            </a:r>
            <a:r>
              <a:rPr lang="en" sz="1100"/>
              <a:t>: Switch to the local branch you want to work on.</a:t>
            </a:r>
            <a:endParaRPr sz="1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status              </a:t>
            </a:r>
            <a:r>
              <a:rPr lang="en" sz="1100"/>
              <a:t>: Check the current status of your repo.</a:t>
            </a:r>
            <a:endParaRPr sz="11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b="1"/>
              <a:t>Work on my project                   </a:t>
            </a:r>
            <a:r>
              <a:rPr lang="en" sz="1100"/>
              <a:t>: Continue working on your project if you are happy with the current status.</a:t>
            </a:r>
            <a:endParaRPr sz="1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add file(s)         </a:t>
            </a:r>
            <a:r>
              <a:rPr lang="en" sz="1100"/>
              <a:t>: Stage your changes often. </a:t>
            </a:r>
            <a:endParaRPr sz="1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commit -m “Message” </a:t>
            </a:r>
            <a:r>
              <a:rPr lang="en" sz="1100"/>
              <a:t>: Commit your staged changes. Make frequent and small commits.</a:t>
            </a:r>
            <a:endParaRPr sz="11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b="1"/>
              <a:t>Happy with results    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push –u origin &lt;feature_branch&gt; </a:t>
            </a:r>
            <a:r>
              <a:rPr lang="en" sz="1100"/>
              <a:t>: If it is the first time that the branch is    created and you want to track the remote branch,                                                                                    use the option `</a:t>
            </a: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-u</a:t>
            </a:r>
            <a:r>
              <a:rPr lang="en" sz="1100"/>
              <a:t>` . Otherwise, you can omit this option.   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 b="1"/>
              <a:t>Create a Pull Request (PR )         </a:t>
            </a:r>
            <a:r>
              <a:rPr lang="en" sz="1100"/>
              <a:t>: On GitHub/GitLab, open a pull request for code review and approval. Assign a reviewer.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/>
              <a:t>Merge to master/main                    : Once approved, the reviewer merges the changes into the main branch.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switch main          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Switch to the master branch (or main branch).</a:t>
            </a:r>
            <a:endParaRPr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00">
                <a:latin typeface="Courier New"/>
                <a:ea typeface="Courier New"/>
                <a:cs typeface="Courier New"/>
                <a:sym typeface="Courier New"/>
              </a:rPr>
              <a:t>git pull origin main</a:t>
            </a:r>
            <a:r>
              <a:rPr lang="en" sz="1100"/>
              <a:t>            : Update your local repository with the latest changes from master (or main)</a:t>
            </a:r>
            <a:endParaRPr sz="1100"/>
          </a:p>
          <a:p>
            <a:pPr marL="457200" lvl="0" indent="-28575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09"/>
          <p:cNvSpPr/>
          <p:nvPr/>
        </p:nvSpPr>
        <p:spPr>
          <a:xfrm>
            <a:off x="1040975" y="3812025"/>
            <a:ext cx="40977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109"/>
          <p:cNvSpPr/>
          <p:nvPr/>
        </p:nvSpPr>
        <p:spPr>
          <a:xfrm>
            <a:off x="1065600" y="3396775"/>
            <a:ext cx="40731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109"/>
          <p:cNvSpPr/>
          <p:nvPr/>
        </p:nvSpPr>
        <p:spPr>
          <a:xfrm>
            <a:off x="1040975" y="2981525"/>
            <a:ext cx="40731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109"/>
          <p:cNvSpPr/>
          <p:nvPr/>
        </p:nvSpPr>
        <p:spPr>
          <a:xfrm>
            <a:off x="1040975" y="2566275"/>
            <a:ext cx="40731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109"/>
          <p:cNvSpPr/>
          <p:nvPr/>
        </p:nvSpPr>
        <p:spPr>
          <a:xfrm>
            <a:off x="1040975" y="2151025"/>
            <a:ext cx="40731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109"/>
          <p:cNvSpPr/>
          <p:nvPr/>
        </p:nvSpPr>
        <p:spPr>
          <a:xfrm>
            <a:off x="1040975" y="1706000"/>
            <a:ext cx="4073100" cy="2607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1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2"/>
              <a:buFont typeface="Arial"/>
              <a:buNone/>
            </a:pPr>
            <a:r>
              <a:rPr lang="en"/>
              <a:t>Creating a new remote repository from existing local repo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endParaRPr/>
          </a:p>
        </p:txBody>
      </p:sp>
      <p:sp>
        <p:nvSpPr>
          <p:cNvPr id="1300" name="Google Shape;1300;p109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109"/>
          <p:cNvSpPr txBox="1"/>
          <p:nvPr/>
        </p:nvSpPr>
        <p:spPr>
          <a:xfrm>
            <a:off x="540850" y="1203525"/>
            <a:ext cx="72966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your machine, go to the directory where you want to create the repository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mkdir &lt;repository-name&gt;               </a:t>
            </a: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This is the name of your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cd &lt;repository-name&gt;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init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touch README.md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add README.md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commit -m “First commit”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10"/>
          <p:cNvSpPr/>
          <p:nvPr/>
        </p:nvSpPr>
        <p:spPr>
          <a:xfrm>
            <a:off x="539825" y="2571750"/>
            <a:ext cx="26454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110"/>
          <p:cNvSpPr/>
          <p:nvPr/>
        </p:nvSpPr>
        <p:spPr>
          <a:xfrm>
            <a:off x="572375" y="1740150"/>
            <a:ext cx="7392300" cy="3075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1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>
                <a:solidFill>
                  <a:srgbClr val="000000"/>
                </a:solidFill>
              </a:rPr>
              <a:t>Creating a new remote repository from existing repository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13" name="Google Shape;1313;p110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110"/>
          <p:cNvSpPr txBox="1"/>
          <p:nvPr/>
        </p:nvSpPr>
        <p:spPr>
          <a:xfrm>
            <a:off x="501342" y="1488950"/>
            <a:ext cx="81486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remote add origin </a:t>
            </a:r>
            <a:r>
              <a:rPr lang="en" sz="1400" b="0" i="0" u="sng" strike="noStrike" cap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git@github.com</a:t>
            </a: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:&lt;username&gt;/&lt;repository_name&gt;.git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 push –u origin main</a:t>
            </a: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Let’s check the GitHub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11"/>
          <p:cNvSpPr txBox="1"/>
          <p:nvPr/>
        </p:nvSpPr>
        <p:spPr>
          <a:xfrm>
            <a:off x="540850" y="1203525"/>
            <a:ext cx="78804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to your GitHub account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New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your repository name (&lt;repository-name&gt;), select Private or Public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Click 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Click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Select HTTPS or SSH and copy the url to clone it to your local environment.</a:t>
            </a:r>
            <a:endParaRPr sz="1400" b="0" i="0" u="none" strike="noStrike" cap="none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1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629"/>
              <a:buNone/>
            </a:pPr>
            <a:r>
              <a:rPr lang="en">
                <a:solidFill>
                  <a:srgbClr val="000000"/>
                </a:solidFill>
              </a:rPr>
              <a:t>Creating a new remote repository on GitHub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25" name="Google Shape;1325;p111"/>
          <p:cNvSpPr txBox="1"/>
          <p:nvPr/>
        </p:nvSpPr>
        <p:spPr>
          <a:xfrm>
            <a:off x="8959675" y="10887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6" name="Google Shape;1326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5150" y="1634475"/>
            <a:ext cx="1594705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1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6725" y="2072175"/>
            <a:ext cx="808000" cy="3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1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32599" y="2941525"/>
            <a:ext cx="1032751" cy="3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9" name="Google Shape;1329;p1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97625" y="3443875"/>
            <a:ext cx="653725" cy="2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CC-branded">
  <a:themeElements>
    <a:clrScheme name="Simple Light">
      <a:dk1>
        <a:srgbClr val="60B669"/>
      </a:dk1>
      <a:lt1>
        <a:srgbClr val="FFFFFF"/>
      </a:lt1>
      <a:dk2>
        <a:srgbClr val="000000"/>
      </a:dk2>
      <a:lt2>
        <a:srgbClr val="D1E6CD"/>
      </a:lt2>
      <a:accent1>
        <a:srgbClr val="DC002D"/>
      </a:accent1>
      <a:accent2>
        <a:srgbClr val="009CEF"/>
      </a:accent2>
      <a:accent3>
        <a:srgbClr val="772D68"/>
      </a:accent3>
      <a:accent4>
        <a:srgbClr val="FFDC64"/>
      </a:accent4>
      <a:accent5>
        <a:srgbClr val="EC6581"/>
      </a:accent5>
      <a:accent6>
        <a:srgbClr val="35B6B4"/>
      </a:accent6>
      <a:hlink>
        <a:srgbClr val="60B6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4902</Words>
  <Application>Microsoft Office PowerPoint</Application>
  <PresentationFormat>On-screen Show (16:9)</PresentationFormat>
  <Paragraphs>1004</Paragraphs>
  <Slides>99</Slides>
  <Notes>98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4" baseType="lpstr">
      <vt:lpstr>Noto Sans Symbols</vt:lpstr>
      <vt:lpstr>Open Sans</vt:lpstr>
      <vt:lpstr>Courier New</vt:lpstr>
      <vt:lpstr>Arial</vt:lpstr>
      <vt:lpstr>DCC-branded</vt:lpstr>
      <vt:lpstr>Introduction To Git &amp; GitHub Part 1 03/03/2026 Burcu Beygu Koopmans dcc@rug.nl </vt:lpstr>
      <vt:lpstr>Reproducible Software Development Learning Line</vt:lpstr>
      <vt:lpstr>Outline</vt:lpstr>
      <vt:lpstr>Workshop presentation</vt:lpstr>
      <vt:lpstr>What is version control?</vt:lpstr>
      <vt:lpstr>Git vs GitHub</vt:lpstr>
      <vt:lpstr>Git vs GitHub</vt:lpstr>
      <vt:lpstr>What is a Repository?</vt:lpstr>
      <vt:lpstr>What is a Repository?</vt:lpstr>
      <vt:lpstr>What is a Repository?</vt:lpstr>
      <vt:lpstr>What is a Repository?</vt:lpstr>
      <vt:lpstr>Local vs Remote Repository</vt:lpstr>
      <vt:lpstr>Local vs Remote Repository</vt:lpstr>
      <vt:lpstr>Local vs Remote Repository</vt:lpstr>
      <vt:lpstr>Local vs Remote Repository</vt:lpstr>
      <vt:lpstr>Setting up a GitHub account</vt:lpstr>
      <vt:lpstr>Setting up a GitHub account</vt:lpstr>
      <vt:lpstr>Setting up SSH key</vt:lpstr>
      <vt:lpstr>Creating a remote repository in GitHub</vt:lpstr>
      <vt:lpstr>Creating a remote repository in GitHub</vt:lpstr>
      <vt:lpstr>Creating a remote repository in GitHub</vt:lpstr>
      <vt:lpstr>Creating a remote repository in GitHub</vt:lpstr>
      <vt:lpstr>Creating a remote repository in GitHub</vt:lpstr>
      <vt:lpstr>Creating a remote repository in GitHub</vt:lpstr>
      <vt:lpstr>Creating a remote repository in GitHub</vt:lpstr>
      <vt:lpstr>Creating a remote repository in GitHub</vt:lpstr>
      <vt:lpstr>Working with Git</vt:lpstr>
      <vt:lpstr>Configure Git</vt:lpstr>
      <vt:lpstr>Configure Git</vt:lpstr>
      <vt:lpstr>What is a Repository?</vt:lpstr>
      <vt:lpstr>Local  Repository</vt:lpstr>
      <vt:lpstr>Local  Repository</vt:lpstr>
      <vt:lpstr>Creating a local  repository</vt:lpstr>
      <vt:lpstr>Git Workflow</vt:lpstr>
      <vt:lpstr>Git Workflow</vt:lpstr>
      <vt:lpstr>Git Workflow</vt:lpstr>
      <vt:lpstr>Git Workflow</vt:lpstr>
      <vt:lpstr>Commit Structure</vt:lpstr>
      <vt:lpstr>Commit Structure</vt:lpstr>
      <vt:lpstr>Monitor </vt:lpstr>
      <vt:lpstr>Compare  </vt:lpstr>
      <vt:lpstr>Compare  </vt:lpstr>
      <vt:lpstr>Compare  </vt:lpstr>
      <vt:lpstr>Compare  </vt:lpstr>
      <vt:lpstr>Compare  </vt:lpstr>
      <vt:lpstr>Compare  </vt:lpstr>
      <vt:lpstr>Compare  </vt:lpstr>
      <vt:lpstr>Compare  </vt:lpstr>
      <vt:lpstr>Compare  </vt:lpstr>
      <vt:lpstr>Compare   </vt:lpstr>
      <vt:lpstr>Git Workflow</vt:lpstr>
      <vt:lpstr>Track</vt:lpstr>
      <vt:lpstr>Track</vt:lpstr>
      <vt:lpstr>Track</vt:lpstr>
      <vt:lpstr>View specific commit</vt:lpstr>
      <vt:lpstr>Compare commits</vt:lpstr>
      <vt:lpstr>View changes per commit</vt:lpstr>
      <vt:lpstr>Unstage</vt:lpstr>
      <vt:lpstr>Undo changes </vt:lpstr>
      <vt:lpstr>Restore</vt:lpstr>
      <vt:lpstr>Restore</vt:lpstr>
      <vt:lpstr>Restore</vt:lpstr>
      <vt:lpstr>Restore</vt:lpstr>
      <vt:lpstr>Restore</vt:lpstr>
      <vt:lpstr>Restore</vt:lpstr>
      <vt:lpstr>Restore</vt:lpstr>
      <vt:lpstr>Restore</vt:lpstr>
      <vt:lpstr>Restore</vt:lpstr>
      <vt:lpstr>Restore</vt:lpstr>
      <vt:lpstr>Cleaning repository</vt:lpstr>
      <vt:lpstr>Ignoring files</vt:lpstr>
      <vt:lpstr>Working with branches</vt:lpstr>
      <vt:lpstr>Working with branches</vt:lpstr>
      <vt:lpstr>Working with branches</vt:lpstr>
      <vt:lpstr>Working with branches</vt:lpstr>
      <vt:lpstr>Main branch</vt:lpstr>
      <vt:lpstr>Analysis branch</vt:lpstr>
      <vt:lpstr>Model branch</vt:lpstr>
      <vt:lpstr>Merging Analysis to Main</vt:lpstr>
      <vt:lpstr>Merging Model to Main</vt:lpstr>
      <vt:lpstr>Best practices for working with branches</vt:lpstr>
      <vt:lpstr>Source and destination</vt:lpstr>
      <vt:lpstr>Working with branches</vt:lpstr>
      <vt:lpstr>Working with branches</vt:lpstr>
      <vt:lpstr>Working with branches</vt:lpstr>
      <vt:lpstr>RECAP Daily Workflow</vt:lpstr>
      <vt:lpstr>Feedback</vt:lpstr>
      <vt:lpstr>Merge Types</vt:lpstr>
      <vt:lpstr>Merge Types</vt:lpstr>
      <vt:lpstr>Working with Remote Repositories</vt:lpstr>
      <vt:lpstr>Working with an existing remote repository: Clone  </vt:lpstr>
      <vt:lpstr>Working with an existing remote repository: Fork</vt:lpstr>
      <vt:lpstr>Clone vs Fork</vt:lpstr>
      <vt:lpstr>Working with a remote repository</vt:lpstr>
      <vt:lpstr>Working with a remote repository</vt:lpstr>
      <vt:lpstr>RECAP Daily Workflow</vt:lpstr>
      <vt:lpstr>Creating a new remote repository from existing local repo </vt:lpstr>
      <vt:lpstr>Creating a new remote repository from existing repository</vt:lpstr>
      <vt:lpstr>Creating a new remote repository on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B. Koopmans-Beygu</cp:lastModifiedBy>
  <cp:revision>4</cp:revision>
  <dcterms:modified xsi:type="dcterms:W3CDTF">2026-03-03T11:56:06Z</dcterms:modified>
</cp:coreProperties>
</file>