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2"/>
  </p:notesMasterIdLst>
  <p:sldIdLst>
    <p:sldId id="256" r:id="rId2"/>
    <p:sldId id="329" r:id="rId3"/>
    <p:sldId id="257" r:id="rId4"/>
    <p:sldId id="341" r:id="rId5"/>
    <p:sldId id="332" r:id="rId6"/>
    <p:sldId id="333" r:id="rId7"/>
    <p:sldId id="334" r:id="rId8"/>
    <p:sldId id="335" r:id="rId9"/>
    <p:sldId id="336" r:id="rId10"/>
    <p:sldId id="337" r:id="rId11"/>
    <p:sldId id="363" r:id="rId12"/>
    <p:sldId id="375" r:id="rId13"/>
    <p:sldId id="364" r:id="rId14"/>
    <p:sldId id="340" r:id="rId15"/>
    <p:sldId id="338" r:id="rId16"/>
    <p:sldId id="373" r:id="rId17"/>
    <p:sldId id="374" r:id="rId18"/>
    <p:sldId id="339" r:id="rId19"/>
    <p:sldId id="365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9" r:id="rId33"/>
    <p:sldId id="369" r:id="rId34"/>
    <p:sldId id="366" r:id="rId35"/>
    <p:sldId id="343" r:id="rId36"/>
    <p:sldId id="376" r:id="rId37"/>
    <p:sldId id="377" r:id="rId38"/>
    <p:sldId id="378" r:id="rId39"/>
    <p:sldId id="370" r:id="rId40"/>
    <p:sldId id="368" r:id="rId41"/>
    <p:sldId id="371" r:id="rId42"/>
    <p:sldId id="380" r:id="rId43"/>
    <p:sldId id="362" r:id="rId44"/>
    <p:sldId id="367" r:id="rId45"/>
    <p:sldId id="381" r:id="rId46"/>
    <p:sldId id="384" r:id="rId47"/>
    <p:sldId id="382" r:id="rId48"/>
    <p:sldId id="385" r:id="rId49"/>
    <p:sldId id="386" r:id="rId50"/>
    <p:sldId id="387" r:id="rId51"/>
    <p:sldId id="388" r:id="rId52"/>
    <p:sldId id="389" r:id="rId53"/>
    <p:sldId id="383" r:id="rId54"/>
    <p:sldId id="379" r:id="rId55"/>
    <p:sldId id="357" r:id="rId56"/>
    <p:sldId id="358" r:id="rId57"/>
    <p:sldId id="392" r:id="rId58"/>
    <p:sldId id="393" r:id="rId59"/>
    <p:sldId id="391" r:id="rId60"/>
    <p:sldId id="390" r:id="rId6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5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22A6FD3-2DE2-1639-4098-D44A5901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A859F03-2979-D6F1-4B5F-62E5919F3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4902787-33A1-7BC3-1399-C6661A74D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117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216DED73-1B1E-A47E-17A7-4B1ABBA1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8badc01a4e_0_895:notes">
            <a:extLst>
              <a:ext uri="{FF2B5EF4-FFF2-40B4-BE49-F238E27FC236}">
                <a16:creationId xmlns:a16="http://schemas.microsoft.com/office/drawing/2014/main" id="{423DDFEB-56CE-EADC-1997-7CC5D6540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8badc01a4e_0_895:notes">
            <a:extLst>
              <a:ext uri="{FF2B5EF4-FFF2-40B4-BE49-F238E27FC236}">
                <a16:creationId xmlns:a16="http://schemas.microsoft.com/office/drawing/2014/main" id="{F3AACCE3-08F2-8488-761F-99F9E6BE7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760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C30798E8-B478-7745-E41F-9FA39F04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F7845D3F-D98E-09CA-81F9-92697D452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E83D7407-D69E-8819-AC4B-14BB2D9521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916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75D369B1-702A-7F4F-CC56-310B8C69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A5FF4892-EFB9-7242-3F70-D041FCBD4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7825B8D0-C047-AB96-F6B4-7103AAEF5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0922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435E7094-BCF6-8A53-081F-1CAA33F7F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5917139F-A6BE-11C4-C433-FA72D96C2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74E83524-6847-FFBE-3F6D-55D84C68D5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904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F7B63ED1-43C4-5AE9-9C33-ECCA3B49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B81A788D-719B-EEE0-181A-2A8D4B8B8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EE896C6F-0A1B-CBD3-6E7B-86F8FC362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227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F8B3BD69-5D6F-0A67-33EE-7EB656B6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020FBC38-6647-2AFF-2C1E-05D193B56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C03B21B8-7CFA-81B8-65E2-110A1B4C3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1877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35A8B99B-B15A-4550-1547-677C5C84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085581F4-928E-9EFF-E380-82958059C6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5531D6F4-19C6-780A-58B6-09CF739E4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3614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C2E85B14-C45F-AAB4-4210-E9443D51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CE4A8684-B1F9-8381-34D7-C4C2738E33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C89E79AA-CF4A-01ED-E7CE-AB78C7430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88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8ADF6AD7-3235-15F2-217A-D233409B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3E90E74F-2874-1135-B33E-ACA29BDF6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19953BB7-EF5E-DBF4-6F5D-CFFD7C2891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5641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167A3AE8-A167-CAC7-05CE-838E7AEE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0FB7A669-CE47-065A-19B9-450CB5E384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DDDE3047-9B53-73C6-2DCA-063F0A964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467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0D339CE6-6468-19D0-3E0E-44F660CA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8badc01a4e_0_1532:notes">
            <a:extLst>
              <a:ext uri="{FF2B5EF4-FFF2-40B4-BE49-F238E27FC236}">
                <a16:creationId xmlns:a16="http://schemas.microsoft.com/office/drawing/2014/main" id="{FF60A071-AB63-9953-92BD-6855851AD3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8badc01a4e_0_1532:notes">
            <a:extLst>
              <a:ext uri="{FF2B5EF4-FFF2-40B4-BE49-F238E27FC236}">
                <a16:creationId xmlns:a16="http://schemas.microsoft.com/office/drawing/2014/main" id="{220C6052-6B85-D6C7-5D45-DC784A494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668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8badc01a4e_0_1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8badc01a4e_0_1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66D7A782-0DE0-CFC0-1EAD-AB0A81C5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8badc01a4e_0_1532:notes">
            <a:extLst>
              <a:ext uri="{FF2B5EF4-FFF2-40B4-BE49-F238E27FC236}">
                <a16:creationId xmlns:a16="http://schemas.microsoft.com/office/drawing/2014/main" id="{686CAFC9-55DE-BC7F-79A0-C24819C42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8badc01a4e_0_1532:notes">
            <a:extLst>
              <a:ext uri="{FF2B5EF4-FFF2-40B4-BE49-F238E27FC236}">
                <a16:creationId xmlns:a16="http://schemas.microsoft.com/office/drawing/2014/main" id="{920C4047-D6AB-9E1A-EF5F-95CD816D9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7740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F0A585AC-1ABA-D3A4-D997-28E703C5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8badc01a4e_0_1532:notes">
            <a:extLst>
              <a:ext uri="{FF2B5EF4-FFF2-40B4-BE49-F238E27FC236}">
                <a16:creationId xmlns:a16="http://schemas.microsoft.com/office/drawing/2014/main" id="{C9D19951-4CBB-DAA1-7D79-1C67B8489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8badc01a4e_0_1532:notes">
            <a:extLst>
              <a:ext uri="{FF2B5EF4-FFF2-40B4-BE49-F238E27FC236}">
                <a16:creationId xmlns:a16="http://schemas.microsoft.com/office/drawing/2014/main" id="{3659FB73-13CA-2C6F-1924-5A3BABD0E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05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210F2F46-59EE-C46E-8B43-9921438E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8badc01a4e_0_1532:notes">
            <a:extLst>
              <a:ext uri="{FF2B5EF4-FFF2-40B4-BE49-F238E27FC236}">
                <a16:creationId xmlns:a16="http://schemas.microsoft.com/office/drawing/2014/main" id="{3F126933-284F-4181-0940-AC7C541EB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8badc01a4e_0_1532:notes">
            <a:extLst>
              <a:ext uri="{FF2B5EF4-FFF2-40B4-BE49-F238E27FC236}">
                <a16:creationId xmlns:a16="http://schemas.microsoft.com/office/drawing/2014/main" id="{B1846733-F274-7FE7-25A5-B69264A334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920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E493FE21-8954-A0D0-093D-84ADAF4E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8badc01a4e_0_1532:notes">
            <a:extLst>
              <a:ext uri="{FF2B5EF4-FFF2-40B4-BE49-F238E27FC236}">
                <a16:creationId xmlns:a16="http://schemas.microsoft.com/office/drawing/2014/main" id="{2773F872-F86F-F89A-D662-D12987C49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8badc01a4e_0_1532:notes">
            <a:extLst>
              <a:ext uri="{FF2B5EF4-FFF2-40B4-BE49-F238E27FC236}">
                <a16:creationId xmlns:a16="http://schemas.microsoft.com/office/drawing/2014/main" id="{E27C63C2-7E0A-B58B-C506-E51442E1E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497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8badc01a4e_0_1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8badc01a4e_0_1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8badc01a4e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18badc01a4e_0_1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8badc01a4e_0_1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8badc01a4e_0_1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8badc01a4e_0_1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8badc01a4e_0_1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8badc01a4e_0_1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8badc01a4e_0_1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8badc01a4e_0_1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18badc01a4e_0_1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18badc01a4e_0_1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18badc01a4e_0_1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18badc01a4e_0_1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18badc01a4e_0_1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8badc01a4e_0_1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8badc01a4e_0_1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8badc01a4e_0_1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8badc01a4e_0_1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18badc01a4e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18badc01a4e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8badc01a4e_0_1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8badc01a4e_0_1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90d8437e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190d8437e6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8771886F-7D4C-2981-47DC-D85A4ECF8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979E3A48-D8A9-0D67-CC99-B33DE89DA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24599053-F0FC-3AF0-90BC-5D6BE26DF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5003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ABC2D13E-3744-F35E-7284-19F6160C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7E01D3E2-DC10-E21A-4145-A1FDC61993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F812CCF2-A3A3-3BEF-C24D-A4EB65003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30988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8badc01a4e_0_1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8badc01a4e_0_1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C6A77B88-0F4D-A623-3A3D-4310739E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8badc01a4e_0_1575:notes">
            <a:extLst>
              <a:ext uri="{FF2B5EF4-FFF2-40B4-BE49-F238E27FC236}">
                <a16:creationId xmlns:a16="http://schemas.microsoft.com/office/drawing/2014/main" id="{19E89254-459C-3D64-EAEB-84B68E924B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8badc01a4e_0_1575:notes">
            <a:extLst>
              <a:ext uri="{FF2B5EF4-FFF2-40B4-BE49-F238E27FC236}">
                <a16:creationId xmlns:a16="http://schemas.microsoft.com/office/drawing/2014/main" id="{BCC2BA9C-B690-FAF2-7A59-A30285B96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7351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FA39F266-BF77-3E65-797A-EB9372D2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8badc01a4e_0_1575:notes">
            <a:extLst>
              <a:ext uri="{FF2B5EF4-FFF2-40B4-BE49-F238E27FC236}">
                <a16:creationId xmlns:a16="http://schemas.microsoft.com/office/drawing/2014/main" id="{E497BBF4-8FA3-A65D-A6FC-5CBDC02536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8badc01a4e_0_1575:notes">
            <a:extLst>
              <a:ext uri="{FF2B5EF4-FFF2-40B4-BE49-F238E27FC236}">
                <a16:creationId xmlns:a16="http://schemas.microsoft.com/office/drawing/2014/main" id="{A2E2A9C6-69AF-2E66-0DF2-8731C2B03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8227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B8A20302-E52D-1B26-F148-DD27FDA8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8badc01a4e_0_1575:notes">
            <a:extLst>
              <a:ext uri="{FF2B5EF4-FFF2-40B4-BE49-F238E27FC236}">
                <a16:creationId xmlns:a16="http://schemas.microsoft.com/office/drawing/2014/main" id="{4A92E8F2-E5AB-5F18-B10F-BFC3557C9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8badc01a4e_0_1575:notes">
            <a:extLst>
              <a:ext uri="{FF2B5EF4-FFF2-40B4-BE49-F238E27FC236}">
                <a16:creationId xmlns:a16="http://schemas.microsoft.com/office/drawing/2014/main" id="{2E26389B-E8FF-11D6-973E-D2EFF5B112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9380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CAC6F757-472A-51E0-F640-E455024B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F9E68434-EB0B-C050-BA6F-92B55ACF4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C49C171E-F497-18EF-810F-9543BEC77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9311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8902B9B2-4099-DAB1-792A-50BBDCE1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519CCE44-8108-90EE-0174-53C493CB4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CB753520-E83D-0CBE-12EE-496B779A2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14031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59E46BD2-035C-6984-65AA-0115AD7B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7E86B0D2-88DE-17F1-EF2D-2E4F0DC69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C21D8CCB-92DB-2994-C772-1CBF7293C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54213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C662E889-04BC-CA5E-36FF-CBB2B4A4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65A28EEE-80B9-FA0E-3AD6-DB86CE8D7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0A7DCD7D-1BE1-39AA-5DF8-59F6EA33D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45383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190d8437e6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190d8437e6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029AF6F4-CEC5-9638-299A-FBBCDFD2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E4B43E6F-F19F-1732-EF5C-0A4C2B072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6EB75B76-8551-CC7A-3DB4-27CAC718F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2964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6B8E665A-563C-1507-8459-00692363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1F6495CF-A0D3-1FB2-67D3-75BCE543A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E8B6E76D-050A-37F3-670E-FC83DAEE1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2417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C4983EB2-6D98-BD56-8405-5B5A5F8E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58C7B329-DCE6-C6C2-62BE-4827FEB56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ED8783A6-3B42-95CB-BA11-823C015DC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2575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3F54DBA5-2F2F-F30F-B900-47E624432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93921FC2-64D1-0F2F-36F7-7B11EECCF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DD0E13F8-FE31-9738-6845-533856AB5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964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EB2BFB62-B7DB-B4A0-DFF7-6BA8D46F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331E3504-743F-00FB-DA72-B1FFA5BC1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A2E5E30F-41B8-B374-C978-78C1D5C17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4966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CF5013F8-B021-0B8C-EA70-51D94D02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39408384-A5AB-A947-4C97-D5AEDE616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F5EC59B5-7F8F-B749-7F2B-D0CD2B7DD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6425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E45B604D-3BBF-4AA7-1EEB-7308289D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B1A07D67-5D6E-A04F-BBF3-82A498EC0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BFE66C6C-14EB-47B9-581B-2C5180A22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5024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3EA15B36-7C03-E1EF-07D6-EFE39F662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BAE24623-BC08-B85F-4AB4-C5DFCFF7FB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8C7E5807-A237-75E5-89CD-E9AF6C47C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26549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0C3FC65D-430A-EF2C-7E18-1966C5B2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7B1EE05B-C0E1-B03F-3766-14BF086CC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8A2137B7-5546-558C-BB5C-49910FDA7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1412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30EB4DFC-8082-82B0-CE9C-20D2F800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5995E109-5D88-D5AA-CEFF-460DFA36D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53AF0185-1F66-8AD1-9FDB-F28F35F57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8104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21ADC2DE-AD47-F5C3-F496-63033624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ba7365ef_0_107:notes">
            <a:extLst>
              <a:ext uri="{FF2B5EF4-FFF2-40B4-BE49-F238E27FC236}">
                <a16:creationId xmlns:a16="http://schemas.microsoft.com/office/drawing/2014/main" id="{3EF9C4A2-787E-016D-2FDB-6F01F2312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ba7365ef_0_107:notes">
            <a:extLst>
              <a:ext uri="{FF2B5EF4-FFF2-40B4-BE49-F238E27FC236}">
                <a16:creationId xmlns:a16="http://schemas.microsoft.com/office/drawing/2014/main" id="{13B9E093-CCC5-FA77-BC07-2C9633B8C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26734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E614018E-F4D1-F5AA-13E4-115527B9D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8badc01a4e_0_1524:notes">
            <a:extLst>
              <a:ext uri="{FF2B5EF4-FFF2-40B4-BE49-F238E27FC236}">
                <a16:creationId xmlns:a16="http://schemas.microsoft.com/office/drawing/2014/main" id="{6FB78ED6-0525-E7A1-0867-82005D6E3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8badc01a4e_0_1524:notes">
            <a:extLst>
              <a:ext uri="{FF2B5EF4-FFF2-40B4-BE49-F238E27FC236}">
                <a16:creationId xmlns:a16="http://schemas.microsoft.com/office/drawing/2014/main" id="{B4B549F1-9C33-C07A-82A8-38A6CD8ED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19956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ECFEF7F4-0775-C8A8-F46A-12B9CA4A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8badc01a4e_0_1524:notes">
            <a:extLst>
              <a:ext uri="{FF2B5EF4-FFF2-40B4-BE49-F238E27FC236}">
                <a16:creationId xmlns:a16="http://schemas.microsoft.com/office/drawing/2014/main" id="{2FE91F93-FA99-7F84-FFB5-DB6F347F1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8badc01a4e_0_1524:notes">
            <a:extLst>
              <a:ext uri="{FF2B5EF4-FFF2-40B4-BE49-F238E27FC236}">
                <a16:creationId xmlns:a16="http://schemas.microsoft.com/office/drawing/2014/main" id="{1533816E-EB73-3010-3279-BE0335255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50012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85A9AD96-933C-9D42-ECD7-01F5E33D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8badc01a4e_0_1524:notes">
            <a:extLst>
              <a:ext uri="{FF2B5EF4-FFF2-40B4-BE49-F238E27FC236}">
                <a16:creationId xmlns:a16="http://schemas.microsoft.com/office/drawing/2014/main" id="{313EB5DD-F552-F41A-BBEF-E04C122ED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8badc01a4e_0_1524:notes">
            <a:extLst>
              <a:ext uri="{FF2B5EF4-FFF2-40B4-BE49-F238E27FC236}">
                <a16:creationId xmlns:a16="http://schemas.microsoft.com/office/drawing/2014/main" id="{80BB27DF-2D1A-8C6E-E207-1FF5D0EBC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0420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149E5D08-29DF-770F-C439-CC42E595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8badc01a4e_0_1524:notes">
            <a:extLst>
              <a:ext uri="{FF2B5EF4-FFF2-40B4-BE49-F238E27FC236}">
                <a16:creationId xmlns:a16="http://schemas.microsoft.com/office/drawing/2014/main" id="{5883D707-BCFE-6428-1028-C73DE2EBF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8badc01a4e_0_1524:notes">
            <a:extLst>
              <a:ext uri="{FF2B5EF4-FFF2-40B4-BE49-F238E27FC236}">
                <a16:creationId xmlns:a16="http://schemas.microsoft.com/office/drawing/2014/main" id="{6BBBC7DF-3949-CCC5-87CB-3A650B57C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0237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33E6ABF2-615D-59BB-3404-B5058B31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8badc01a4e_0_1524:notes">
            <a:extLst>
              <a:ext uri="{FF2B5EF4-FFF2-40B4-BE49-F238E27FC236}">
                <a16:creationId xmlns:a16="http://schemas.microsoft.com/office/drawing/2014/main" id="{74F99512-9F7A-2920-744E-BD23B91ED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8badc01a4e_0_1524:notes">
            <a:extLst>
              <a:ext uri="{FF2B5EF4-FFF2-40B4-BE49-F238E27FC236}">
                <a16:creationId xmlns:a16="http://schemas.microsoft.com/office/drawing/2014/main" id="{7E94633A-3D21-96AE-8794-81B16851E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56285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CB8AB5CA-8C99-891E-39CC-642362D3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8badc01a4e_0_1524:notes">
            <a:extLst>
              <a:ext uri="{FF2B5EF4-FFF2-40B4-BE49-F238E27FC236}">
                <a16:creationId xmlns:a16="http://schemas.microsoft.com/office/drawing/2014/main" id="{53B2A997-AFE8-9B3A-A307-19B8DACDF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8badc01a4e_0_1524:notes">
            <a:extLst>
              <a:ext uri="{FF2B5EF4-FFF2-40B4-BE49-F238E27FC236}">
                <a16:creationId xmlns:a16="http://schemas.microsoft.com/office/drawing/2014/main" id="{A44A5F29-7A90-CB0A-F7C8-9EC001E5F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4750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g.nl/digital-competence-centre/?lang=e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/>
              <a:t>Introduction To Git &amp; GitHub Part 2</a:t>
            </a:r>
            <a:endParaRPr sz="61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9310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Burcu Beygu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burcu.beygu@rug.nl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5936835" y="4508150"/>
            <a:ext cx="3200201" cy="603542"/>
            <a:chOff x="5936835" y="4508150"/>
            <a:chExt cx="3200201" cy="603542"/>
          </a:xfrm>
        </p:grpSpPr>
        <p:pic>
          <p:nvPicPr>
            <p:cNvPr id="57" name="Google Shape;57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36835" y="4518348"/>
              <a:ext cx="2220923" cy="5933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 txBox="1"/>
            <p:nvPr/>
          </p:nvSpPr>
          <p:spPr>
            <a:xfrm>
              <a:off x="8147477" y="4508150"/>
              <a:ext cx="989559" cy="55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8405C67-44C6-0C0C-B9E5-F1DD538B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B084A9F7-146F-A791-A912-3FC9E48C0E7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 dirty="0">
                <a:hlinkClick r:id="rId3"/>
              </a:rPr>
              <a:t>DCC RUG</a:t>
            </a:r>
            <a:endParaRPr sz="6100" dirty="0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A9581B61-8B85-0699-395E-8444732A77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19310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</a:rPr>
              <a:t>dcc@rug.nl</a:t>
            </a:r>
            <a:endParaRPr sz="1300" dirty="0">
              <a:solidFill>
                <a:schemeClr val="dk1"/>
              </a:solidFill>
            </a:endParaRPr>
          </a:p>
        </p:txBody>
      </p:sp>
      <p:grpSp>
        <p:nvGrpSpPr>
          <p:cNvPr id="56" name="Google Shape;56;p13">
            <a:extLst>
              <a:ext uri="{FF2B5EF4-FFF2-40B4-BE49-F238E27FC236}">
                <a16:creationId xmlns:a16="http://schemas.microsoft.com/office/drawing/2014/main" id="{80E72190-07A5-2C87-8DB7-FDAD6A8B8A11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5936835" y="4508150"/>
            <a:chExt cx="3200201" cy="603542"/>
          </a:xfrm>
        </p:grpSpPr>
        <p:pic>
          <p:nvPicPr>
            <p:cNvPr id="57" name="Google Shape;57;p13">
              <a:extLst>
                <a:ext uri="{FF2B5EF4-FFF2-40B4-BE49-F238E27FC236}">
                  <a16:creationId xmlns:a16="http://schemas.microsoft.com/office/drawing/2014/main" id="{BC983E1C-0F09-44BB-8B73-AC0D7EF5C0AB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36835" y="4518348"/>
              <a:ext cx="2220923" cy="5933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>
              <a:extLst>
                <a:ext uri="{FF2B5EF4-FFF2-40B4-BE49-F238E27FC236}">
                  <a16:creationId xmlns:a16="http://schemas.microsoft.com/office/drawing/2014/main" id="{386DA1D9-1CF3-E5C1-6D93-E51EBF433E0E}"/>
                </a:ext>
              </a:extLst>
            </p:cNvPr>
            <p:cNvSpPr txBox="1"/>
            <p:nvPr/>
          </p:nvSpPr>
          <p:spPr>
            <a:xfrm>
              <a:off x="8147477" y="4508150"/>
              <a:ext cx="989559" cy="55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59" name="Google Shape;59;p13">
            <a:extLst>
              <a:ext uri="{FF2B5EF4-FFF2-40B4-BE49-F238E27FC236}">
                <a16:creationId xmlns:a16="http://schemas.microsoft.com/office/drawing/2014/main" id="{5B363FEC-0DA3-CA44-29DB-B4FB88D166D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7248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/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/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103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687875"/>
            <a:ext cx="8520600" cy="3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25768" lvl="0" indent="-285750" algn="l" rtl="0">
              <a:spcBef>
                <a:spcPts val="12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dirty="0"/>
              <a:t>Set up a remote repository in GitHub</a:t>
            </a:r>
            <a:endParaRPr dirty="0"/>
          </a:p>
          <a:p>
            <a:pPr marL="902653" lvl="1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" dirty="0"/>
              <a:t>Add README and License</a:t>
            </a:r>
          </a:p>
          <a:p>
            <a:pPr marL="902653" lvl="1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" dirty="0"/>
              <a:t>Branch protection</a:t>
            </a:r>
          </a:p>
          <a:p>
            <a:pPr marL="902653" lvl="1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" dirty="0"/>
              <a:t>Public vs Private </a:t>
            </a:r>
          </a:p>
          <a:p>
            <a:pPr marL="902653" lvl="1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" dirty="0"/>
              <a:t>Adding collaborator</a:t>
            </a:r>
          </a:p>
          <a:p>
            <a:pPr marL="902653" lvl="1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/>
              <a:t>Clone vs Fork</a:t>
            </a:r>
            <a:endParaRPr dirty="0"/>
          </a:p>
          <a:p>
            <a:pPr marL="425768" lvl="0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dirty="0"/>
              <a:t>Recap</a:t>
            </a:r>
            <a:endParaRPr dirty="0"/>
          </a:p>
          <a:p>
            <a:pPr marL="902653" lvl="1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" dirty="0"/>
              <a:t>Working with branches</a:t>
            </a:r>
          </a:p>
          <a:p>
            <a:pPr marL="902653" lvl="1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" dirty="0"/>
              <a:t>Create &amp; switch between branches</a:t>
            </a:r>
          </a:p>
          <a:p>
            <a:pPr marL="902653" lvl="1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" dirty="0"/>
              <a:t>Merging branches</a:t>
            </a:r>
            <a:endParaRPr dirty="0"/>
          </a:p>
          <a:p>
            <a:pPr marL="1074103" lvl="2" indent="0">
              <a:buSzPct val="100000"/>
              <a:buNone/>
            </a:pPr>
            <a:endParaRPr dirty="0"/>
          </a:p>
          <a:p>
            <a:pPr marL="425768" lvl="0" indent="-285750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dirty="0"/>
              <a:t>Collaborative work with GitHub</a:t>
            </a:r>
            <a:endParaRPr dirty="0"/>
          </a:p>
          <a:p>
            <a:pPr marL="882968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dirty="0"/>
              <a:t>Synchronizing the local repository with the remote repository</a:t>
            </a:r>
          </a:p>
          <a:p>
            <a:pPr marL="1054418" lvl="2" indent="0">
              <a:buSzPct val="100000"/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pull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82968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dirty="0"/>
              <a:t>Open a pull request</a:t>
            </a:r>
          </a:p>
          <a:p>
            <a:pPr marL="1054418" lvl="2" indent="0">
              <a:buSzPct val="100000"/>
              <a:buNone/>
            </a:pPr>
            <a:r>
              <a:rPr lang="en-US" dirty="0"/>
              <a:t>Assign </a:t>
            </a:r>
          </a:p>
          <a:p>
            <a:pPr marL="1054418" lvl="2" indent="0">
              <a:buSzPct val="100000"/>
              <a:buNone/>
            </a:pPr>
            <a:r>
              <a:rPr lang="en-US" dirty="0"/>
              <a:t>Code review</a:t>
            </a:r>
          </a:p>
          <a:p>
            <a:pPr marL="1054418" lvl="2" indent="0">
              <a:buSzPct val="100000"/>
              <a:buNone/>
            </a:pPr>
            <a:r>
              <a:rPr lang="en-US" dirty="0"/>
              <a:t>Merge pull request</a:t>
            </a:r>
          </a:p>
          <a:p>
            <a:pPr marL="1054418" lvl="2" indent="0">
              <a:buSzPct val="100000"/>
              <a:buNone/>
            </a:pPr>
            <a:endParaRPr lang="en-US" dirty="0"/>
          </a:p>
          <a:p>
            <a:pPr marL="428625" lvl="2" indent="-342900">
              <a:buSzPct val="100000"/>
              <a:buFont typeface="Arial" panose="020B0604020202020204" pitchFamily="34" charset="0"/>
              <a:buChar char="•"/>
            </a:pPr>
            <a:r>
              <a:rPr lang="en-US" sz="1900" dirty="0"/>
              <a:t>Merge conflicts</a:t>
            </a:r>
          </a:p>
          <a:p>
            <a:pPr marL="630238" lvl="2" indent="0">
              <a:buSzPct val="100000"/>
              <a:buNone/>
            </a:pPr>
            <a:endParaRPr lang="en-US" dirty="0"/>
          </a:p>
          <a:p>
            <a:pPr marL="433388" lvl="2" indent="-342900">
              <a:buSzPct val="100000"/>
              <a:buFont typeface="Arial" panose="020B0604020202020204" pitchFamily="34" charset="0"/>
              <a:buChar char="•"/>
            </a:pPr>
            <a:r>
              <a:rPr lang="en-US" sz="1900" dirty="0"/>
              <a:t>Merge Types</a:t>
            </a:r>
          </a:p>
          <a:p>
            <a:pPr marL="1054418" lvl="2" indent="0">
              <a:buSzPct val="100000"/>
              <a:buNone/>
            </a:pPr>
            <a:endParaRPr lang="en-US" dirty="0"/>
          </a:p>
          <a:p>
            <a:pPr marL="1054418" lvl="2" indent="0">
              <a:buSzPct val="1000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4AF091C5-EB68-DA1B-E9E2-3E307DA7B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30">
            <a:extLst>
              <a:ext uri="{FF2B5EF4-FFF2-40B4-BE49-F238E27FC236}">
                <a16:creationId xmlns:a16="http://schemas.microsoft.com/office/drawing/2014/main" id="{60F9AA2A-D508-B5D3-A8D5-09AF8D8702D1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368" name="Google Shape;368;p30">
              <a:extLst>
                <a:ext uri="{FF2B5EF4-FFF2-40B4-BE49-F238E27FC236}">
                  <a16:creationId xmlns:a16="http://schemas.microsoft.com/office/drawing/2014/main" id="{BBBE33C4-1CF3-A7F6-D985-A7D6DA09F4E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0">
              <a:extLst>
                <a:ext uri="{FF2B5EF4-FFF2-40B4-BE49-F238E27FC236}">
                  <a16:creationId xmlns:a16="http://schemas.microsoft.com/office/drawing/2014/main" id="{D29310FB-FEFA-8785-C0A6-9B24D6CDE247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sp>
        <p:nvSpPr>
          <p:cNvPr id="370" name="Google Shape;370;p30">
            <a:extLst>
              <a:ext uri="{FF2B5EF4-FFF2-40B4-BE49-F238E27FC236}">
                <a16:creationId xmlns:a16="http://schemas.microsoft.com/office/drawing/2014/main" id="{BC89340A-C11F-AE79-D9F7-284D6A48E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Remote Repositories</a:t>
            </a:r>
            <a:endParaRPr dirty="0"/>
          </a:p>
        </p:txBody>
      </p:sp>
      <p:pic>
        <p:nvPicPr>
          <p:cNvPr id="371" name="Google Shape;371;p30">
            <a:extLst>
              <a:ext uri="{FF2B5EF4-FFF2-40B4-BE49-F238E27FC236}">
                <a16:creationId xmlns:a16="http://schemas.microsoft.com/office/drawing/2014/main" id="{5057D5D8-DF9C-8E4B-A37D-CCBE75346EA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0">
            <a:extLst>
              <a:ext uri="{FF2B5EF4-FFF2-40B4-BE49-F238E27FC236}">
                <a16:creationId xmlns:a16="http://schemas.microsoft.com/office/drawing/2014/main" id="{AB2FC430-A33C-C3E1-CD01-D92D50C3FF5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97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0">
            <a:extLst>
              <a:ext uri="{FF2B5EF4-FFF2-40B4-BE49-F238E27FC236}">
                <a16:creationId xmlns:a16="http://schemas.microsoft.com/office/drawing/2014/main" id="{4DA7BDF7-0E86-314C-5914-1CC02CF23146}"/>
              </a:ext>
            </a:extLst>
          </p:cNvPr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4" name="Google Shape;374;p30">
            <a:extLst>
              <a:ext uri="{FF2B5EF4-FFF2-40B4-BE49-F238E27FC236}">
                <a16:creationId xmlns:a16="http://schemas.microsoft.com/office/drawing/2014/main" id="{F5F4B874-4C45-B3DD-5A02-CAF59A884E8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0400" y="809303"/>
            <a:ext cx="2596776" cy="15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0">
            <a:extLst>
              <a:ext uri="{FF2B5EF4-FFF2-40B4-BE49-F238E27FC236}">
                <a16:creationId xmlns:a16="http://schemas.microsoft.com/office/drawing/2014/main" id="{0202F7A4-CF0A-9FE1-0113-1F109200AF3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677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0">
            <a:extLst>
              <a:ext uri="{FF2B5EF4-FFF2-40B4-BE49-F238E27FC236}">
                <a16:creationId xmlns:a16="http://schemas.microsoft.com/office/drawing/2014/main" id="{CF64FF5B-686D-02F2-D169-FC087707B38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552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0">
            <a:extLst>
              <a:ext uri="{FF2B5EF4-FFF2-40B4-BE49-F238E27FC236}">
                <a16:creationId xmlns:a16="http://schemas.microsoft.com/office/drawing/2014/main" id="{B3364E54-A38E-4E3E-D565-BD048FC70A5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657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>
            <a:extLst>
              <a:ext uri="{FF2B5EF4-FFF2-40B4-BE49-F238E27FC236}">
                <a16:creationId xmlns:a16="http://schemas.microsoft.com/office/drawing/2014/main" id="{4298E1CA-05D3-D6D0-270C-D8A7D357D71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337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0">
            <a:extLst>
              <a:ext uri="{FF2B5EF4-FFF2-40B4-BE49-F238E27FC236}">
                <a16:creationId xmlns:a16="http://schemas.microsoft.com/office/drawing/2014/main" id="{3E73F0F3-CF0A-B6CC-35EC-E4E82CE42FC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212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0">
            <a:extLst>
              <a:ext uri="{FF2B5EF4-FFF2-40B4-BE49-F238E27FC236}">
                <a16:creationId xmlns:a16="http://schemas.microsoft.com/office/drawing/2014/main" id="{2C504BBE-FC74-5350-162D-A87E1ECB089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132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1" name="Google Shape;381;p30">
            <a:extLst>
              <a:ext uri="{FF2B5EF4-FFF2-40B4-BE49-F238E27FC236}">
                <a16:creationId xmlns:a16="http://schemas.microsoft.com/office/drawing/2014/main" id="{A7E1CF2E-0202-C7D5-51F4-2628552A3C7B}"/>
              </a:ext>
            </a:extLst>
          </p:cNvPr>
          <p:cNvCxnSpPr>
            <a:endCxn id="372" idx="0"/>
          </p:cNvCxnSpPr>
          <p:nvPr/>
        </p:nvCxnSpPr>
        <p:spPr>
          <a:xfrm flipH="1">
            <a:off x="1322996" y="1810577"/>
            <a:ext cx="2396100" cy="170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2" name="Google Shape;382;p30">
            <a:extLst>
              <a:ext uri="{FF2B5EF4-FFF2-40B4-BE49-F238E27FC236}">
                <a16:creationId xmlns:a16="http://schemas.microsoft.com/office/drawing/2014/main" id="{D91DD376-5EF7-A0DB-3463-DAAD3B093BB6}"/>
              </a:ext>
            </a:extLst>
          </p:cNvPr>
          <p:cNvCxnSpPr>
            <a:endCxn id="375" idx="0"/>
          </p:cNvCxnSpPr>
          <p:nvPr/>
        </p:nvCxnSpPr>
        <p:spPr>
          <a:xfrm flipH="1">
            <a:off x="2389796" y="2131877"/>
            <a:ext cx="1578000" cy="138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3" name="Google Shape;383;p30">
            <a:extLst>
              <a:ext uri="{FF2B5EF4-FFF2-40B4-BE49-F238E27FC236}">
                <a16:creationId xmlns:a16="http://schemas.microsoft.com/office/drawing/2014/main" id="{901E4322-98EA-661A-3AC9-2BE18EEA17B9}"/>
              </a:ext>
            </a:extLst>
          </p:cNvPr>
          <p:cNvCxnSpPr>
            <a:endCxn id="376" idx="0"/>
          </p:cNvCxnSpPr>
          <p:nvPr/>
        </p:nvCxnSpPr>
        <p:spPr>
          <a:xfrm flipH="1">
            <a:off x="3508546" y="2216777"/>
            <a:ext cx="774600" cy="13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4" name="Google Shape;384;p30">
            <a:extLst>
              <a:ext uri="{FF2B5EF4-FFF2-40B4-BE49-F238E27FC236}">
                <a16:creationId xmlns:a16="http://schemas.microsoft.com/office/drawing/2014/main" id="{41056495-CA95-45AD-8D7C-3F98A7669E38}"/>
              </a:ext>
            </a:extLst>
          </p:cNvPr>
          <p:cNvCxnSpPr>
            <a:stCxn id="374" idx="2"/>
          </p:cNvCxnSpPr>
          <p:nvPr/>
        </p:nvCxnSpPr>
        <p:spPr>
          <a:xfrm flipH="1">
            <a:off x="4477288" y="2310353"/>
            <a:ext cx="31500" cy="118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5" name="Google Shape;385;p30">
            <a:extLst>
              <a:ext uri="{FF2B5EF4-FFF2-40B4-BE49-F238E27FC236}">
                <a16:creationId xmlns:a16="http://schemas.microsoft.com/office/drawing/2014/main" id="{68D32BB1-A943-C823-40BA-EE467C7822FB}"/>
              </a:ext>
            </a:extLst>
          </p:cNvPr>
          <p:cNvCxnSpPr>
            <a:endCxn id="378" idx="0"/>
          </p:cNvCxnSpPr>
          <p:nvPr/>
        </p:nvCxnSpPr>
        <p:spPr>
          <a:xfrm>
            <a:off x="5241597" y="2259377"/>
            <a:ext cx="424800" cy="125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6" name="Google Shape;386;p30">
            <a:extLst>
              <a:ext uri="{FF2B5EF4-FFF2-40B4-BE49-F238E27FC236}">
                <a16:creationId xmlns:a16="http://schemas.microsoft.com/office/drawing/2014/main" id="{12F784A6-F5C2-78DB-CEDD-09752D96CFC5}"/>
              </a:ext>
            </a:extLst>
          </p:cNvPr>
          <p:cNvCxnSpPr>
            <a:endCxn id="379" idx="0"/>
          </p:cNvCxnSpPr>
          <p:nvPr/>
        </p:nvCxnSpPr>
        <p:spPr>
          <a:xfrm>
            <a:off x="5684447" y="1974377"/>
            <a:ext cx="1100700" cy="154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7" name="Google Shape;387;p30">
            <a:extLst>
              <a:ext uri="{FF2B5EF4-FFF2-40B4-BE49-F238E27FC236}">
                <a16:creationId xmlns:a16="http://schemas.microsoft.com/office/drawing/2014/main" id="{D3A703A3-EE47-A4F4-F4FF-DCD52BA80E5B}"/>
              </a:ext>
            </a:extLst>
          </p:cNvPr>
          <p:cNvCxnSpPr>
            <a:endCxn id="380" idx="0"/>
          </p:cNvCxnSpPr>
          <p:nvPr/>
        </p:nvCxnSpPr>
        <p:spPr>
          <a:xfrm>
            <a:off x="5848247" y="1755977"/>
            <a:ext cx="2156100" cy="17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8845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597A531E-E4D8-1CE4-347F-CC8A310D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4193C316-40D7-103D-D131-52D3615F0FD0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AAEC3DB0-2146-2E67-99BE-7B0F0DB49E6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4F1F8E32-BAE0-56E6-F68C-71F460B35EF0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C5C7873E-56D8-71EF-3240-50DB63C4CD1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C660C3E1-5586-37F2-4347-7FB4F5522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8489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B8FA2-C139-A77B-E01F-A34149EDEFE3}"/>
              </a:ext>
            </a:extLst>
          </p:cNvPr>
          <p:cNvSpPr txBox="1"/>
          <p:nvPr/>
        </p:nvSpPr>
        <p:spPr>
          <a:xfrm>
            <a:off x="504496" y="1292772"/>
            <a:ext cx="67239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before it is good to have a plan: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do you need a remote repository?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you need a private or public repository?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Who are your collaborators?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 you imagine collaboration and contribution to will work?</a:t>
            </a:r>
          </a:p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-US" dirty="0"/>
              <a:t>What are the rules on working branches and protecting main branch?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license do you need?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You can of course always make changes and make decisions later on, however, little pre-</a:t>
            </a:r>
            <a:r>
              <a:rPr lang="en-US" dirty="0" err="1"/>
              <a:t>planing</a:t>
            </a:r>
            <a:r>
              <a:rPr lang="en-US" dirty="0"/>
              <a:t> and discovery is always useful.</a:t>
            </a:r>
          </a:p>
        </p:txBody>
      </p:sp>
    </p:spTree>
    <p:extLst>
      <p:ext uri="{BB962C8B-B14F-4D97-AF65-F5344CB8AC3E}">
        <p14:creationId xmlns:p14="http://schemas.microsoft.com/office/powerpoint/2010/main" val="48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E8AA17EA-9D99-6654-5350-32F364D3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4DD281F6-3C07-E457-D5AF-D2518CF1D443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62C70E24-3231-1612-2EF5-52EAE9F0414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23FEBEC6-6887-4B3D-2664-E9DFA37415E2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4B645865-AE06-3D32-C9B9-9420E2BD8E6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BD5E3D1E-3328-1167-911D-ED3659306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5335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7D227-854F-B7A4-3B0A-F4A6E8F37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755" y="1166649"/>
            <a:ext cx="3020217" cy="206610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D210A1B-36EF-0EA9-77E1-DD22BFDC6B7E}"/>
              </a:ext>
            </a:extLst>
          </p:cNvPr>
          <p:cNvSpPr/>
          <p:nvPr/>
        </p:nvSpPr>
        <p:spPr>
          <a:xfrm>
            <a:off x="2278117" y="2310880"/>
            <a:ext cx="780393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B2F5D5-96E9-C585-7F98-C154EE1D475E}"/>
              </a:ext>
            </a:extLst>
          </p:cNvPr>
          <p:cNvCxnSpPr>
            <a:stCxn id="4" idx="6"/>
          </p:cNvCxnSpPr>
          <p:nvPr/>
        </p:nvCxnSpPr>
        <p:spPr>
          <a:xfrm>
            <a:off x="3058510" y="2653780"/>
            <a:ext cx="110358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C371E53-E0E6-D0A0-BCA5-7507C84B9BDA}"/>
              </a:ext>
            </a:extLst>
          </p:cNvPr>
          <p:cNvSpPr txBox="1"/>
          <p:nvPr/>
        </p:nvSpPr>
        <p:spPr>
          <a:xfrm>
            <a:off x="4387269" y="2571750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New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132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F6DC7639-5ADF-DB29-FA8D-C70A7B75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55BDB18A-7930-6B08-DE70-D315A1AE7012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DCFF5430-1D12-A383-66C9-766A23EEAC4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B3F1CBD2-6E80-28D1-9A1F-4CE93F5BEFA3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59EB3E76-C8AD-23C3-5EE0-0BAD11ECC0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AEDCA298-828A-3F06-F002-35300FD65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9045EC-6C42-3F29-A885-F50901112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06" y="702408"/>
            <a:ext cx="4071329" cy="435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69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05F99119-E475-10AF-4150-A402E989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79D3E67A-4F43-5A73-DFA2-AC5FF9369CAD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1CCB5751-078E-48E0-1A89-6C5F5D91921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42CC3A11-9EED-56B3-2D4A-8A849DAB474B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B639D737-086C-BC9D-D847-6AAA3EE89AC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E8A81EBA-8C80-7D72-4679-081EE6E668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7D4979-AF44-4B45-3BD2-365D9D077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877" y="702408"/>
            <a:ext cx="3993585" cy="437838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9947AFD-E42E-B042-BFD2-79F5B4365FEF}"/>
              </a:ext>
            </a:extLst>
          </p:cNvPr>
          <p:cNvSpPr/>
          <p:nvPr/>
        </p:nvSpPr>
        <p:spPr>
          <a:xfrm>
            <a:off x="1316421" y="1316421"/>
            <a:ext cx="693682" cy="569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59AECE-7FFA-B2FB-3DC8-7BC4A08F0697}"/>
              </a:ext>
            </a:extLst>
          </p:cNvPr>
          <p:cNvSpPr/>
          <p:nvPr/>
        </p:nvSpPr>
        <p:spPr>
          <a:xfrm>
            <a:off x="3565634" y="2758667"/>
            <a:ext cx="693682" cy="4328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F9E689-0F99-A61F-7ABD-CDCBCD1680DF}"/>
              </a:ext>
            </a:extLst>
          </p:cNvPr>
          <p:cNvSpPr/>
          <p:nvPr/>
        </p:nvSpPr>
        <p:spPr>
          <a:xfrm>
            <a:off x="3628697" y="3610303"/>
            <a:ext cx="693682" cy="3283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E12CC3-FBA2-64DE-1BCF-339A66182DFB}"/>
              </a:ext>
            </a:extLst>
          </p:cNvPr>
          <p:cNvSpPr/>
          <p:nvPr/>
        </p:nvSpPr>
        <p:spPr>
          <a:xfrm>
            <a:off x="3544614" y="4004440"/>
            <a:ext cx="693682" cy="3530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1662A3-6F76-E5A8-D61F-1F48EEE4598B}"/>
              </a:ext>
            </a:extLst>
          </p:cNvPr>
          <p:cNvSpPr/>
          <p:nvPr/>
        </p:nvSpPr>
        <p:spPr>
          <a:xfrm>
            <a:off x="472966" y="2114594"/>
            <a:ext cx="3933495" cy="4328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16D05D-249B-422B-BF84-D94E3168059D}"/>
              </a:ext>
            </a:extLst>
          </p:cNvPr>
          <p:cNvSpPr/>
          <p:nvPr/>
        </p:nvSpPr>
        <p:spPr>
          <a:xfrm>
            <a:off x="3153103" y="4357491"/>
            <a:ext cx="1106213" cy="3716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4C21677-EA3C-DF19-DDC4-E00AA577B883}"/>
              </a:ext>
            </a:extLst>
          </p:cNvPr>
          <p:cNvSpPr/>
          <p:nvPr/>
        </p:nvSpPr>
        <p:spPr>
          <a:xfrm>
            <a:off x="3460531" y="4776289"/>
            <a:ext cx="846092" cy="3354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118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6803DDE0-715E-C39A-C909-01CAD3FE0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F27991D4-D3F7-7771-75A3-41E81B7E54F2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CAF23390-DED2-2468-574F-B2323CA4F3C4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12F46AB5-F38B-94D1-702F-245C9E1F993F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95C1312F-8C4D-FA45-5B90-8623676093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54DEFC02-F2AF-633A-52AB-08FDDD6B17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136293-A26E-13A7-A52D-066FD188A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04" y="712607"/>
            <a:ext cx="7564863" cy="37434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0677BB-3C0B-0F00-12AF-59D217C879C7}"/>
              </a:ext>
            </a:extLst>
          </p:cNvPr>
          <p:cNvSpPr/>
          <p:nvPr/>
        </p:nvSpPr>
        <p:spPr>
          <a:xfrm>
            <a:off x="650929" y="922149"/>
            <a:ext cx="4835471" cy="333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5FF03-77D3-1738-7D89-25BB703883D0}"/>
              </a:ext>
            </a:extLst>
          </p:cNvPr>
          <p:cNvSpPr txBox="1"/>
          <p:nvPr/>
        </p:nvSpPr>
        <p:spPr>
          <a:xfrm>
            <a:off x="2666332" y="609411"/>
            <a:ext cx="29899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Everything involving that particular repository</a:t>
            </a:r>
            <a:endParaRPr lang="LID4096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0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CC923214-9D1E-5A1D-9FAC-639338A2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51D51062-A9C1-444E-3692-587A53BB9AC3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7E869295-7B5E-B7BE-BD33-3DE9AB991D9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6E8973F8-2998-A873-DC24-B3C646AF5A94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4C941641-C8CF-8724-D57D-205CA79554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9D8B800B-C435-BAF6-F8CA-2CB1FD553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A6A84B-67E9-FDA4-3CE3-4E37AB2DB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04" y="712607"/>
            <a:ext cx="7564863" cy="374348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E87ECE3-B920-D616-1DD5-841D2ECC46A9}"/>
              </a:ext>
            </a:extLst>
          </p:cNvPr>
          <p:cNvSpPr/>
          <p:nvPr/>
        </p:nvSpPr>
        <p:spPr>
          <a:xfrm>
            <a:off x="4840014" y="969579"/>
            <a:ext cx="520262" cy="2049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8030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AE941F3F-CDCB-61C1-ADAB-CAFF18A4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63EF9BBA-3D6A-781D-164C-CED49A128C29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6E3E38B8-78FB-C15A-78FF-15C7FBB00935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42840209-CEA7-0324-618A-32D6D16968F9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446EA1A5-BC26-14B7-7F19-2368E53A45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797D1192-CCF1-8DCC-AEC2-26B23EBC6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GitHub- branch protection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5C261D-7332-9978-A7A4-EDC393C94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85" y="917224"/>
            <a:ext cx="2069651" cy="330905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EE7D06D-9535-6A4A-D3F5-05D0C1A5D662}"/>
              </a:ext>
            </a:extLst>
          </p:cNvPr>
          <p:cNvSpPr/>
          <p:nvPr/>
        </p:nvSpPr>
        <p:spPr>
          <a:xfrm>
            <a:off x="141890" y="2128345"/>
            <a:ext cx="748862" cy="1891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5ABCAC-6B49-A6D6-9FD5-C8C48E6E0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407" y="1442544"/>
            <a:ext cx="5818979" cy="118630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65C4BB4-C9F5-4D89-D365-C63B9752D2DE}"/>
              </a:ext>
            </a:extLst>
          </p:cNvPr>
          <p:cNvSpPr/>
          <p:nvPr/>
        </p:nvSpPr>
        <p:spPr>
          <a:xfrm>
            <a:off x="4871545" y="2128345"/>
            <a:ext cx="866351" cy="315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DE23F6-98EF-D454-8E84-81F955ECBE46}"/>
              </a:ext>
            </a:extLst>
          </p:cNvPr>
          <p:cNvCxnSpPr/>
          <p:nvPr/>
        </p:nvCxnSpPr>
        <p:spPr>
          <a:xfrm>
            <a:off x="2325836" y="2183524"/>
            <a:ext cx="5025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01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B8088F90-0D3E-0FD2-BEA4-DBB666E0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25D4DB9C-B1CC-734E-7D21-021C57A69A20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9F480ED0-A0D9-E574-F063-6A890A58F19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5862AB93-7691-3A34-8B7B-0E99D361D184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FF6C2CF2-123D-2E55-32DC-DC4B189E326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DCE1C046-C3CF-96B9-4160-10CCA2601F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GitHub- branch protection</a:t>
            </a: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0036DA-7CA4-8B53-7048-B44FAE012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799" y="606695"/>
            <a:ext cx="3160980" cy="450499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0CF660-0CBA-02A8-E102-F901A2B7A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06" y="627405"/>
            <a:ext cx="4164422" cy="400131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E9E9B02-6F96-C418-36E0-62B6FD4B4662}"/>
              </a:ext>
            </a:extLst>
          </p:cNvPr>
          <p:cNvSpPr/>
          <p:nvPr/>
        </p:nvSpPr>
        <p:spPr>
          <a:xfrm>
            <a:off x="467506" y="1621309"/>
            <a:ext cx="480848" cy="3862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7F4237-D810-6F42-CBDF-D4AA29E7D7F9}"/>
              </a:ext>
            </a:extLst>
          </p:cNvPr>
          <p:cNvSpPr/>
          <p:nvPr/>
        </p:nvSpPr>
        <p:spPr>
          <a:xfrm>
            <a:off x="3783294" y="3750345"/>
            <a:ext cx="480848" cy="3862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73DAD-A521-2116-1CEA-C0FCD839680F}"/>
              </a:ext>
            </a:extLst>
          </p:cNvPr>
          <p:cNvSpPr txBox="1"/>
          <p:nvPr/>
        </p:nvSpPr>
        <p:spPr>
          <a:xfrm>
            <a:off x="1010025" y="2087877"/>
            <a:ext cx="43368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First, make sure to protect the main branch and decide on the rules</a:t>
            </a:r>
            <a:endParaRPr lang="LID4096" sz="1100" dirty="0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6AE45E-C766-3F75-0E33-8096DC7D9E9A}"/>
              </a:ext>
            </a:extLst>
          </p:cNvPr>
          <p:cNvSpPr/>
          <p:nvPr/>
        </p:nvSpPr>
        <p:spPr>
          <a:xfrm>
            <a:off x="5280799" y="509280"/>
            <a:ext cx="480848" cy="3862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9146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5684CD73-04A8-26B4-C946-B2995FBA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B599EE88-971E-1D11-6E5C-238EA084AA95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2895800D-18F5-932D-5770-B4AB4F27CF53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90012F4E-5B61-A665-D809-E62375E7BAD8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70E12F13-07EC-7B20-4475-BCCB816E14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F76F03CB-FD0F-9A04-F31E-DA1E8BEFCA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up a remote repository in GitHub- adding collaborators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4AA34-50A8-23DD-B59A-A03179AACF7B}"/>
              </a:ext>
            </a:extLst>
          </p:cNvPr>
          <p:cNvSpPr txBox="1"/>
          <p:nvPr/>
        </p:nvSpPr>
        <p:spPr>
          <a:xfrm>
            <a:off x="311700" y="852069"/>
            <a:ext cx="72058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/>
              <a:t>Collaborators are the developers who contribute the code or have responsibility for code </a:t>
            </a:r>
          </a:p>
          <a:p>
            <a:pPr algn="just"/>
            <a:r>
              <a:rPr lang="en-US" dirty="0"/>
              <a:t>review or managing the repository. Independent of a repository being a Public or Private</a:t>
            </a:r>
          </a:p>
          <a:p>
            <a:pPr algn="just"/>
            <a:r>
              <a:rPr lang="en-US" dirty="0"/>
              <a:t>repository, you might define the collaborators.</a:t>
            </a:r>
            <a:endParaRPr lang="LID4096" dirty="0"/>
          </a:p>
        </p:txBody>
      </p:sp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92ED50CF-B421-A446-070D-298128A4DD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032" y="1628243"/>
            <a:ext cx="5151154" cy="281723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2754151-9DED-42F3-1BCE-F4AB4EA1CFA4}"/>
              </a:ext>
            </a:extLst>
          </p:cNvPr>
          <p:cNvSpPr/>
          <p:nvPr/>
        </p:nvSpPr>
        <p:spPr>
          <a:xfrm>
            <a:off x="4316277" y="3959817"/>
            <a:ext cx="627682" cy="4107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821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7A6F2131-E0CE-26B0-59AF-6FFCFFBEA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7">
            <a:extLst>
              <a:ext uri="{FF2B5EF4-FFF2-40B4-BE49-F238E27FC236}">
                <a16:creationId xmlns:a16="http://schemas.microsoft.com/office/drawing/2014/main" id="{59D632B6-F5BB-4FBF-C0E6-1A761182C9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 vs Fork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77D00E-F5BE-6B88-85B2-7498B446F20C}"/>
              </a:ext>
            </a:extLst>
          </p:cNvPr>
          <p:cNvSpPr txBox="1"/>
          <p:nvPr/>
        </p:nvSpPr>
        <p:spPr>
          <a:xfrm>
            <a:off x="122630" y="1371600"/>
            <a:ext cx="4523995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Cloning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Creates a </a:t>
            </a:r>
            <a:r>
              <a:rPr lang="en-US" sz="1600" b="1" dirty="0"/>
              <a:t>linked copy </a:t>
            </a:r>
            <a:r>
              <a:rPr lang="en-US" sz="1600" dirty="0"/>
              <a:t>on a </a:t>
            </a:r>
            <a:r>
              <a:rPr lang="en-US" sz="1600" b="1" dirty="0"/>
              <a:t>local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Requires use of </a:t>
            </a:r>
            <a:r>
              <a:rPr lang="en-US" sz="1600" b="1" dirty="0"/>
              <a:t>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Push and pull updates with 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Used for collaboration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D6885-8E6D-08F7-5519-91C395696064}"/>
              </a:ext>
            </a:extLst>
          </p:cNvPr>
          <p:cNvSpPr txBox="1"/>
          <p:nvPr/>
        </p:nvSpPr>
        <p:spPr>
          <a:xfrm>
            <a:off x="4592754" y="1347951"/>
            <a:ext cx="4706738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Forking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Creates an </a:t>
            </a:r>
            <a:r>
              <a:rPr lang="en-US" sz="1600" b="1" dirty="0"/>
              <a:t>independent copy </a:t>
            </a:r>
            <a:r>
              <a:rPr lang="en-US" sz="1600" dirty="0"/>
              <a:t>on </a:t>
            </a:r>
            <a:r>
              <a:rPr lang="en-US" sz="1600" b="1" dirty="0"/>
              <a:t>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 be done within </a:t>
            </a:r>
            <a:r>
              <a:rPr lang="en-US" sz="1600" b="1" dirty="0"/>
              <a:t>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Submit changes through pull requests (PR)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main purpose is to experiment and make </a:t>
            </a:r>
          </a:p>
          <a:p>
            <a:r>
              <a:rPr lang="en-US" sz="1600" dirty="0"/>
              <a:t>an independent development can be used for </a:t>
            </a:r>
          </a:p>
          <a:p>
            <a:r>
              <a:rPr lang="en-US" sz="1600" dirty="0"/>
              <a:t>collaboration as well.</a:t>
            </a:r>
          </a:p>
        </p:txBody>
      </p:sp>
    </p:spTree>
    <p:extLst>
      <p:ext uri="{BB962C8B-B14F-4D97-AF65-F5344CB8AC3E}">
        <p14:creationId xmlns:p14="http://schemas.microsoft.com/office/powerpoint/2010/main" val="2720891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7"/>
          <p:cNvSpPr/>
          <p:nvPr/>
        </p:nvSpPr>
        <p:spPr>
          <a:xfrm>
            <a:off x="252000" y="4534775"/>
            <a:ext cx="1671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77"/>
          <p:cNvSpPr/>
          <p:nvPr/>
        </p:nvSpPr>
        <p:spPr>
          <a:xfrm>
            <a:off x="311700" y="3300425"/>
            <a:ext cx="6848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77"/>
          <p:cNvSpPr txBox="1"/>
          <p:nvPr/>
        </p:nvSpPr>
        <p:spPr>
          <a:xfrm>
            <a:off x="252000" y="1073375"/>
            <a:ext cx="8640000" cy="3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Go to a directory where you want to copy (</a:t>
            </a:r>
            <a:r>
              <a:rPr lang="en" b="1" dirty="0">
                <a:solidFill>
                  <a:srgbClr val="C00000"/>
                </a:solidFill>
              </a:rPr>
              <a:t>clone</a:t>
            </a:r>
            <a:r>
              <a:rPr lang="en" dirty="0"/>
              <a:t>) the remote repository in your local environment.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Go to the remote repository in GitHub.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Click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Select HTTPS or SSH and copy the url.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Go to your directory where you want to clone the remote. 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clone </a:t>
            </a:r>
            <a:r>
              <a:rPr lang="en" u="sng" dirty="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https://github.com/</a:t>
            </a: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&lt;username&gt;/&lt;remote_project&gt;.git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After cloning, don’t forget to go into that repository.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 </a:t>
            </a:r>
            <a:r>
              <a:rPr lang="en" b="1" dirty="0"/>
              <a:t>automatically</a:t>
            </a:r>
            <a:r>
              <a:rPr lang="en" dirty="0"/>
              <a:t> creates a </a:t>
            </a:r>
            <a:r>
              <a:rPr lang="en" dirty="0">
                <a:highlight>
                  <a:srgbClr val="D9D9D9"/>
                </a:highlight>
              </a:rPr>
              <a:t>remote</a:t>
            </a:r>
            <a:r>
              <a:rPr lang="en" dirty="0"/>
              <a:t> called </a:t>
            </a:r>
            <a:r>
              <a:rPr lang="en" dirty="0">
                <a:highlight>
                  <a:srgbClr val="D9D9D9"/>
                </a:highlight>
              </a:rPr>
              <a:t>origin</a:t>
            </a:r>
            <a:r>
              <a:rPr lang="en" dirty="0"/>
              <a:t> that points to the original repository.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remote</a:t>
            </a:r>
            <a:r>
              <a:rPr lang="en" dirty="0"/>
              <a:t>   </a:t>
            </a: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-v  </a:t>
            </a:r>
            <a:r>
              <a:rPr lang="en" dirty="0"/>
              <a:t>: Displays the name of the remote together with the url.</a:t>
            </a:r>
            <a:endParaRPr dirty="0"/>
          </a:p>
        </p:txBody>
      </p:sp>
      <p:sp>
        <p:nvSpPr>
          <p:cNvPr id="902" name="Google Shape;902;p77"/>
          <p:cNvSpPr txBox="1">
            <a:spLocks noGrp="1"/>
          </p:cNvSpPr>
          <p:nvPr>
            <p:ph type="title"/>
          </p:nvPr>
        </p:nvSpPr>
        <p:spPr>
          <a:xfrm>
            <a:off x="311700" y="31548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an (existing) remote repository: Clone</a:t>
            </a:r>
            <a:br>
              <a:rPr lang="en" dirty="0"/>
            </a:br>
            <a:br>
              <a:rPr lang="en" dirty="0"/>
            </a:br>
            <a:endParaRPr dirty="0"/>
          </a:p>
        </p:txBody>
      </p:sp>
      <p:pic>
        <p:nvPicPr>
          <p:cNvPr id="903" name="Google Shape;90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8300" y="2008950"/>
            <a:ext cx="653725" cy="20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2E695B1E-5ABA-DC56-DFC9-6B32D5AE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7">
            <a:extLst>
              <a:ext uri="{FF2B5EF4-FFF2-40B4-BE49-F238E27FC236}">
                <a16:creationId xmlns:a16="http://schemas.microsoft.com/office/drawing/2014/main" id="{8CA8FBE9-39DF-48B3-3E3A-A01991114C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48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an (existing) remote repository- ssh key</a:t>
            </a:r>
            <a:br>
              <a:rPr lang="en" dirty="0"/>
            </a:br>
            <a:br>
              <a:rPr lang="en" dirty="0"/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6037C-821B-C5FA-31F3-9CD5B1BAC65C}"/>
              </a:ext>
            </a:extLst>
          </p:cNvPr>
          <p:cNvSpPr txBox="1"/>
          <p:nvPr/>
        </p:nvSpPr>
        <p:spPr>
          <a:xfrm>
            <a:off x="472964" y="989548"/>
            <a:ext cx="73782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Generate a key on your local computer</a:t>
            </a:r>
          </a:p>
          <a:p>
            <a:endParaRPr lang="nl-NL" dirty="0"/>
          </a:p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ssh-keygen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-t ed25519 -C "your_email@example.com"</a:t>
            </a:r>
          </a:p>
          <a:p>
            <a:endParaRPr lang="en-US" dirty="0"/>
          </a:p>
          <a:p>
            <a:r>
              <a:rPr lang="en-US" dirty="0"/>
              <a:t>2) Start the SSH agent and add your key: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eval "$(ssh-agent -s)"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ssh-add ~/.ssh/id_ed25519</a:t>
            </a:r>
          </a:p>
          <a:p>
            <a:endParaRPr lang="en-US" dirty="0"/>
          </a:p>
          <a:p>
            <a:r>
              <a:rPr lang="en-US" dirty="0"/>
              <a:t>3) Add your public key to GitHub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 ~/.ssh/id_ed25519.pub</a:t>
            </a:r>
          </a:p>
          <a:p>
            <a:endParaRPr lang="en-US" dirty="0"/>
          </a:p>
          <a:p>
            <a:r>
              <a:rPr lang="en-US" dirty="0"/>
              <a:t>Go to GitHub -&gt; Settings -&gt; SSH and GPG keys -&gt; New SSH key and paste it.</a:t>
            </a:r>
          </a:p>
          <a:p>
            <a:endParaRPr lang="en-US" dirty="0"/>
          </a:p>
          <a:p>
            <a:r>
              <a:rPr lang="en-US" dirty="0"/>
              <a:t>4) Test your connection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ssh –T git@github.com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411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BCF02EB1-CDB4-2361-5B59-032003B2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0;p77">
            <a:extLst>
              <a:ext uri="{FF2B5EF4-FFF2-40B4-BE49-F238E27FC236}">
                <a16:creationId xmlns:a16="http://schemas.microsoft.com/office/drawing/2014/main" id="{0D097B0E-48C7-CA83-16C2-83E6318E0DB5}"/>
              </a:ext>
            </a:extLst>
          </p:cNvPr>
          <p:cNvSpPr/>
          <p:nvPr/>
        </p:nvSpPr>
        <p:spPr>
          <a:xfrm>
            <a:off x="324618" y="3203114"/>
            <a:ext cx="2054372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dirty="0"/>
          </a:p>
        </p:txBody>
      </p:sp>
      <p:sp>
        <p:nvSpPr>
          <p:cNvPr id="900" name="Google Shape;900;p77">
            <a:extLst>
              <a:ext uri="{FF2B5EF4-FFF2-40B4-BE49-F238E27FC236}">
                <a16:creationId xmlns:a16="http://schemas.microsoft.com/office/drawing/2014/main" id="{2466B700-FF0C-91C1-19FB-4363269AAC16}"/>
              </a:ext>
            </a:extLst>
          </p:cNvPr>
          <p:cNvSpPr/>
          <p:nvPr/>
        </p:nvSpPr>
        <p:spPr>
          <a:xfrm>
            <a:off x="311699" y="1826344"/>
            <a:ext cx="7762917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set-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origin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git@github.com:username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repository_name.git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02" name="Google Shape;902;p77">
            <a:extLst>
              <a:ext uri="{FF2B5EF4-FFF2-40B4-BE49-F238E27FC236}">
                <a16:creationId xmlns:a16="http://schemas.microsoft.com/office/drawing/2014/main" id="{49231F1D-4A28-90A0-C022-B4B4C705E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48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an (existing) remote repository- add remote</a:t>
            </a:r>
            <a:br>
              <a:rPr lang="en" dirty="0"/>
            </a:br>
            <a:br>
              <a:rPr lang="en" dirty="0"/>
            </a:b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8A7A4A-6CD0-6453-00E1-427221CC16C7}"/>
              </a:ext>
            </a:extLst>
          </p:cNvPr>
          <p:cNvSpPr txBox="1"/>
          <p:nvPr/>
        </p:nvSpPr>
        <p:spPr>
          <a:xfrm>
            <a:off x="278064" y="1258100"/>
            <a:ext cx="69725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forget to add the remote repository: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way, you can pull and push via the already defined ssh key.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information about all remotes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-v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F5E1F-D7DA-B0D6-B293-40966651BC88}"/>
              </a:ext>
            </a:extLst>
          </p:cNvPr>
          <p:cNvSpPr txBox="1"/>
          <p:nvPr/>
        </p:nvSpPr>
        <p:spPr>
          <a:xfrm>
            <a:off x="324618" y="3781309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a new remote</a:t>
            </a:r>
            <a:endParaRPr lang="LID4096" dirty="0"/>
          </a:p>
        </p:txBody>
      </p:sp>
      <p:sp>
        <p:nvSpPr>
          <p:cNvPr id="6" name="Google Shape;900;p77">
            <a:extLst>
              <a:ext uri="{FF2B5EF4-FFF2-40B4-BE49-F238E27FC236}">
                <a16:creationId xmlns:a16="http://schemas.microsoft.com/office/drawing/2014/main" id="{0F5366C8-664A-A5E1-DC9D-41D652D6577B}"/>
              </a:ext>
            </a:extLst>
          </p:cNvPr>
          <p:cNvSpPr/>
          <p:nvPr/>
        </p:nvSpPr>
        <p:spPr>
          <a:xfrm>
            <a:off x="311699" y="4251831"/>
            <a:ext cx="8181372" cy="322308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https://github.com/username/repository_name.git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366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5FA99EEB-04E9-AD7A-E19F-239692B6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7">
            <a:extLst>
              <a:ext uri="{FF2B5EF4-FFF2-40B4-BE49-F238E27FC236}">
                <a16:creationId xmlns:a16="http://schemas.microsoft.com/office/drawing/2014/main" id="{CC31A6CE-5813-109D-D3D9-CEC06FDE0AF4}"/>
              </a:ext>
            </a:extLst>
          </p:cNvPr>
          <p:cNvSpPr txBox="1"/>
          <p:nvPr/>
        </p:nvSpPr>
        <p:spPr>
          <a:xfrm>
            <a:off x="252000" y="1035275"/>
            <a:ext cx="8640000" cy="3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Go to a directory where you want to copy (</a:t>
            </a:r>
            <a:r>
              <a:rPr lang="en" b="1" dirty="0">
                <a:solidFill>
                  <a:srgbClr val="C00000"/>
                </a:solidFill>
              </a:rPr>
              <a:t>fork</a:t>
            </a:r>
            <a:r>
              <a:rPr lang="en" dirty="0"/>
              <a:t>) the remote repository in your local environment.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Go to the remote repository in GitHub.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Click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Select `Create a new fork`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Select an Owner and Rename the repository</a:t>
            </a:r>
          </a:p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Select `Copy the main branch only`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Click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your GitHub space, a fork of the original repository will be created.</a:t>
            </a:r>
            <a:endParaRPr dirty="0"/>
          </a:p>
        </p:txBody>
      </p:sp>
      <p:sp>
        <p:nvSpPr>
          <p:cNvPr id="902" name="Google Shape;902;p77">
            <a:extLst>
              <a:ext uri="{FF2B5EF4-FFF2-40B4-BE49-F238E27FC236}">
                <a16:creationId xmlns:a16="http://schemas.microsoft.com/office/drawing/2014/main" id="{A0CAE681-95D7-20F4-6266-9267334DE2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48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an (existing) remote repository: Fork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242B42-8CE1-F0AC-5F38-A4964E0C3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10" y="1940675"/>
            <a:ext cx="1650380" cy="423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603E19-DBF3-AF40-008F-364CC6987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27" y="3603981"/>
            <a:ext cx="1338146" cy="43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20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19615456-EFFC-3BB4-5D8C-C92F1DCA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7">
            <a:extLst>
              <a:ext uri="{FF2B5EF4-FFF2-40B4-BE49-F238E27FC236}">
                <a16:creationId xmlns:a16="http://schemas.microsoft.com/office/drawing/2014/main" id="{600DB034-85A0-D126-80EA-B6BA766410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98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Recap</a:t>
            </a:r>
            <a:b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Branches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530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774" name="Google Shape;774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75" name="Google Shape;775;p64"/>
          <p:cNvSpPr/>
          <p:nvPr/>
        </p:nvSpPr>
        <p:spPr>
          <a:xfrm>
            <a:off x="3503175" y="1320550"/>
            <a:ext cx="1653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my_project</a:t>
            </a:r>
            <a:endParaRPr/>
          </a:p>
        </p:txBody>
      </p:sp>
      <p:sp>
        <p:nvSpPr>
          <p:cNvPr id="776" name="Google Shape;776;p64"/>
          <p:cNvSpPr/>
          <p:nvPr/>
        </p:nvSpPr>
        <p:spPr>
          <a:xfrm>
            <a:off x="65615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draft</a:t>
            </a:r>
            <a:endParaRPr/>
          </a:p>
        </p:txBody>
      </p:sp>
      <p:sp>
        <p:nvSpPr>
          <p:cNvPr id="777" name="Google Shape;777;p64"/>
          <p:cNvSpPr/>
          <p:nvPr/>
        </p:nvSpPr>
        <p:spPr>
          <a:xfrm>
            <a:off x="2257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</a:t>
            </a:r>
            <a:endParaRPr/>
          </a:p>
        </p:txBody>
      </p:sp>
      <p:sp>
        <p:nvSpPr>
          <p:cNvPr id="778" name="Google Shape;778;p64"/>
          <p:cNvSpPr/>
          <p:nvPr/>
        </p:nvSpPr>
        <p:spPr>
          <a:xfrm>
            <a:off x="3781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final_v2</a:t>
            </a:r>
            <a:endParaRPr/>
          </a:p>
        </p:txBody>
      </p:sp>
      <p:sp>
        <p:nvSpPr>
          <p:cNvPr id="779" name="Google Shape;779;p64"/>
          <p:cNvSpPr/>
          <p:nvPr/>
        </p:nvSpPr>
        <p:spPr>
          <a:xfrm>
            <a:off x="5305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780" name="Google Shape;780;p64"/>
          <p:cNvSpPr/>
          <p:nvPr/>
        </p:nvSpPr>
        <p:spPr>
          <a:xfrm>
            <a:off x="6906250" y="239825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.git</a:t>
            </a:r>
            <a:endParaRPr/>
          </a:p>
        </p:txBody>
      </p:sp>
      <p:sp>
        <p:nvSpPr>
          <p:cNvPr id="781" name="Google Shape;781;p64"/>
          <p:cNvSpPr/>
          <p:nvPr/>
        </p:nvSpPr>
        <p:spPr>
          <a:xfrm>
            <a:off x="5450750" y="3001225"/>
            <a:ext cx="768600" cy="46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my_data.csv</a:t>
            </a:r>
            <a:endParaRPr sz="800"/>
          </a:p>
        </p:txBody>
      </p:sp>
      <p:sp>
        <p:nvSpPr>
          <p:cNvPr id="782" name="Google Shape;782;p64"/>
          <p:cNvSpPr/>
          <p:nvPr/>
        </p:nvSpPr>
        <p:spPr>
          <a:xfrm>
            <a:off x="769600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readme.md</a:t>
            </a:r>
            <a:endParaRPr sz="900"/>
          </a:p>
        </p:txBody>
      </p:sp>
      <p:sp>
        <p:nvSpPr>
          <p:cNvPr id="783" name="Google Shape;783;p64"/>
          <p:cNvSpPr/>
          <p:nvPr/>
        </p:nvSpPr>
        <p:spPr>
          <a:xfrm>
            <a:off x="2446000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readme.md</a:t>
            </a:r>
            <a:endParaRPr sz="900"/>
          </a:p>
        </p:txBody>
      </p:sp>
      <p:sp>
        <p:nvSpPr>
          <p:cNvPr id="784" name="Google Shape;784;p64"/>
          <p:cNvSpPr/>
          <p:nvPr/>
        </p:nvSpPr>
        <p:spPr>
          <a:xfrm>
            <a:off x="3948375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readme.md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v2</a:t>
            </a:r>
            <a:endParaRPr sz="900"/>
          </a:p>
        </p:txBody>
      </p:sp>
      <p:sp>
        <p:nvSpPr>
          <p:cNvPr id="785" name="Google Shape;785;p64"/>
          <p:cNvSpPr/>
          <p:nvPr/>
        </p:nvSpPr>
        <p:spPr>
          <a:xfrm>
            <a:off x="769600" y="3546825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analysis.py</a:t>
            </a:r>
            <a:endParaRPr sz="900"/>
          </a:p>
        </p:txBody>
      </p:sp>
      <p:sp>
        <p:nvSpPr>
          <p:cNvPr id="786" name="Google Shape;786;p64"/>
          <p:cNvSpPr/>
          <p:nvPr/>
        </p:nvSpPr>
        <p:spPr>
          <a:xfrm>
            <a:off x="7696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model.py</a:t>
            </a:r>
            <a:endParaRPr sz="900"/>
          </a:p>
        </p:txBody>
      </p:sp>
      <p:sp>
        <p:nvSpPr>
          <p:cNvPr id="787" name="Google Shape;787;p64"/>
          <p:cNvSpPr/>
          <p:nvPr/>
        </p:nvSpPr>
        <p:spPr>
          <a:xfrm>
            <a:off x="2446000" y="3546825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analysis_v2.py</a:t>
            </a:r>
            <a:endParaRPr sz="900"/>
          </a:p>
        </p:txBody>
      </p:sp>
      <p:sp>
        <p:nvSpPr>
          <p:cNvPr id="788" name="Google Shape;788;p64"/>
          <p:cNvSpPr/>
          <p:nvPr/>
        </p:nvSpPr>
        <p:spPr>
          <a:xfrm>
            <a:off x="24460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model_v2.md</a:t>
            </a:r>
            <a:endParaRPr sz="900"/>
          </a:p>
        </p:txBody>
      </p:sp>
      <p:sp>
        <p:nvSpPr>
          <p:cNvPr id="789" name="Google Shape;789;p64"/>
          <p:cNvSpPr/>
          <p:nvPr/>
        </p:nvSpPr>
        <p:spPr>
          <a:xfrm>
            <a:off x="3945375" y="35128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analysis_v3.py</a:t>
            </a:r>
            <a:endParaRPr sz="900"/>
          </a:p>
        </p:txBody>
      </p:sp>
      <p:sp>
        <p:nvSpPr>
          <p:cNvPr id="790" name="Google Shape;790;p64"/>
          <p:cNvSpPr/>
          <p:nvPr/>
        </p:nvSpPr>
        <p:spPr>
          <a:xfrm>
            <a:off x="39700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model_v2.md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796" name="Google Shape;796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97" name="Google Shape;797;p65"/>
          <p:cNvSpPr/>
          <p:nvPr/>
        </p:nvSpPr>
        <p:spPr>
          <a:xfrm>
            <a:off x="3503175" y="1320550"/>
            <a:ext cx="1653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my_project</a:t>
            </a:r>
            <a:endParaRPr/>
          </a:p>
        </p:txBody>
      </p:sp>
      <p:sp>
        <p:nvSpPr>
          <p:cNvPr id="798" name="Google Shape;798;p65"/>
          <p:cNvSpPr/>
          <p:nvPr/>
        </p:nvSpPr>
        <p:spPr>
          <a:xfrm>
            <a:off x="65615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draft</a:t>
            </a:r>
            <a:endParaRPr/>
          </a:p>
        </p:txBody>
      </p:sp>
      <p:sp>
        <p:nvSpPr>
          <p:cNvPr id="799" name="Google Shape;799;p65"/>
          <p:cNvSpPr/>
          <p:nvPr/>
        </p:nvSpPr>
        <p:spPr>
          <a:xfrm>
            <a:off x="2257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</a:t>
            </a:r>
            <a:endParaRPr/>
          </a:p>
        </p:txBody>
      </p:sp>
      <p:sp>
        <p:nvSpPr>
          <p:cNvPr id="800" name="Google Shape;800;p65"/>
          <p:cNvSpPr/>
          <p:nvPr/>
        </p:nvSpPr>
        <p:spPr>
          <a:xfrm>
            <a:off x="3781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final_v2</a:t>
            </a:r>
            <a:endParaRPr/>
          </a:p>
        </p:txBody>
      </p:sp>
      <p:sp>
        <p:nvSpPr>
          <p:cNvPr id="801" name="Google Shape;801;p65"/>
          <p:cNvSpPr/>
          <p:nvPr/>
        </p:nvSpPr>
        <p:spPr>
          <a:xfrm>
            <a:off x="5305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802" name="Google Shape;802;p65"/>
          <p:cNvSpPr/>
          <p:nvPr/>
        </p:nvSpPr>
        <p:spPr>
          <a:xfrm>
            <a:off x="6906250" y="239825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.git</a:t>
            </a:r>
            <a:endParaRPr/>
          </a:p>
        </p:txBody>
      </p:sp>
      <p:sp>
        <p:nvSpPr>
          <p:cNvPr id="803" name="Google Shape;803;p65"/>
          <p:cNvSpPr/>
          <p:nvPr/>
        </p:nvSpPr>
        <p:spPr>
          <a:xfrm>
            <a:off x="5450750" y="3001225"/>
            <a:ext cx="768600" cy="46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my_data.csv</a:t>
            </a:r>
            <a:endParaRPr sz="800"/>
          </a:p>
        </p:txBody>
      </p:sp>
      <p:sp>
        <p:nvSpPr>
          <p:cNvPr id="804" name="Google Shape;804;p65"/>
          <p:cNvSpPr/>
          <p:nvPr/>
        </p:nvSpPr>
        <p:spPr>
          <a:xfrm>
            <a:off x="769600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readme.md</a:t>
            </a:r>
            <a:endParaRPr sz="900"/>
          </a:p>
        </p:txBody>
      </p:sp>
      <p:sp>
        <p:nvSpPr>
          <p:cNvPr id="805" name="Google Shape;805;p65"/>
          <p:cNvSpPr/>
          <p:nvPr/>
        </p:nvSpPr>
        <p:spPr>
          <a:xfrm>
            <a:off x="2446000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readme.md</a:t>
            </a:r>
            <a:endParaRPr sz="900"/>
          </a:p>
        </p:txBody>
      </p:sp>
      <p:sp>
        <p:nvSpPr>
          <p:cNvPr id="806" name="Google Shape;806;p65"/>
          <p:cNvSpPr/>
          <p:nvPr/>
        </p:nvSpPr>
        <p:spPr>
          <a:xfrm>
            <a:off x="3948375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readme.md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v2</a:t>
            </a:r>
            <a:endParaRPr sz="900"/>
          </a:p>
        </p:txBody>
      </p:sp>
      <p:sp>
        <p:nvSpPr>
          <p:cNvPr id="807" name="Google Shape;807;p65"/>
          <p:cNvSpPr/>
          <p:nvPr/>
        </p:nvSpPr>
        <p:spPr>
          <a:xfrm>
            <a:off x="769600" y="3546825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analysis.py</a:t>
            </a:r>
            <a:endParaRPr sz="900"/>
          </a:p>
        </p:txBody>
      </p:sp>
      <p:sp>
        <p:nvSpPr>
          <p:cNvPr id="808" name="Google Shape;808;p65"/>
          <p:cNvSpPr/>
          <p:nvPr/>
        </p:nvSpPr>
        <p:spPr>
          <a:xfrm>
            <a:off x="7696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model.py</a:t>
            </a:r>
            <a:endParaRPr sz="900"/>
          </a:p>
        </p:txBody>
      </p:sp>
      <p:sp>
        <p:nvSpPr>
          <p:cNvPr id="809" name="Google Shape;809;p65"/>
          <p:cNvSpPr/>
          <p:nvPr/>
        </p:nvSpPr>
        <p:spPr>
          <a:xfrm>
            <a:off x="2446000" y="3546825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analysis_v2.py</a:t>
            </a:r>
            <a:endParaRPr sz="900"/>
          </a:p>
        </p:txBody>
      </p:sp>
      <p:sp>
        <p:nvSpPr>
          <p:cNvPr id="810" name="Google Shape;810;p65"/>
          <p:cNvSpPr/>
          <p:nvPr/>
        </p:nvSpPr>
        <p:spPr>
          <a:xfrm>
            <a:off x="24460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model_v2.md</a:t>
            </a:r>
            <a:endParaRPr sz="900"/>
          </a:p>
        </p:txBody>
      </p:sp>
      <p:sp>
        <p:nvSpPr>
          <p:cNvPr id="811" name="Google Shape;811;p65"/>
          <p:cNvSpPr/>
          <p:nvPr/>
        </p:nvSpPr>
        <p:spPr>
          <a:xfrm>
            <a:off x="3945375" y="35128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analysis_v3.py</a:t>
            </a:r>
            <a:endParaRPr sz="900"/>
          </a:p>
        </p:txBody>
      </p:sp>
      <p:sp>
        <p:nvSpPr>
          <p:cNvPr id="812" name="Google Shape;812;p65"/>
          <p:cNvSpPr/>
          <p:nvPr/>
        </p:nvSpPr>
        <p:spPr>
          <a:xfrm>
            <a:off x="39700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model_v2.md</a:t>
            </a:r>
            <a:endParaRPr sz="900"/>
          </a:p>
        </p:txBody>
      </p:sp>
      <p:sp>
        <p:nvSpPr>
          <p:cNvPr id="813" name="Google Shape;813;p65"/>
          <p:cNvSpPr/>
          <p:nvPr/>
        </p:nvSpPr>
        <p:spPr>
          <a:xfrm rot="-1468581">
            <a:off x="596225" y="2167065"/>
            <a:ext cx="6894711" cy="67046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7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FF0000"/>
                </a:solidFill>
              </a:rPr>
              <a:t>Too many subdirectory, unnecessary work!</a:t>
            </a:r>
            <a:endParaRPr sz="23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12D14D-07F4-53F8-03C2-BD83A25F3606}"/>
              </a:ext>
            </a:extLst>
          </p:cNvPr>
          <p:cNvSpPr/>
          <p:nvPr/>
        </p:nvSpPr>
        <p:spPr>
          <a:xfrm>
            <a:off x="403860" y="1272540"/>
            <a:ext cx="8023860" cy="6477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212596-4CAA-1BDF-3E18-67ECE3DB2CE4}"/>
              </a:ext>
            </a:extLst>
          </p:cNvPr>
          <p:cNvSpPr/>
          <p:nvPr/>
        </p:nvSpPr>
        <p:spPr>
          <a:xfrm>
            <a:off x="311700" y="3550920"/>
            <a:ext cx="6950160" cy="1356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18" name="Google Shape;818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819" name="Google Shape;819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 b="1" dirty="0">
                <a:solidFill>
                  <a:schemeClr val="dk1"/>
                </a:solidFill>
              </a:rPr>
              <a:t>Branche(s) :</a:t>
            </a:r>
            <a:r>
              <a:rPr lang="en" sz="1400" dirty="0">
                <a:solidFill>
                  <a:schemeClr val="dk1"/>
                </a:solidFill>
              </a:rPr>
              <a:t> Allows you to have multiple versions of your work, and lets you track each version systematically.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Each branch is like a parallel universe: changes you make in one branch do not affect other branches (until you </a:t>
            </a:r>
            <a:r>
              <a:rPr lang="en" sz="1400" b="1" dirty="0">
                <a:solidFill>
                  <a:schemeClr val="dk1"/>
                </a:solidFill>
              </a:rPr>
              <a:t>merge</a:t>
            </a:r>
            <a:r>
              <a:rPr lang="en" sz="1400" dirty="0">
                <a:solidFill>
                  <a:schemeClr val="dk1"/>
                </a:solidFill>
              </a:rPr>
              <a:t> them back together).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In each branch:</a:t>
            </a:r>
            <a:endParaRPr sz="14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dirty="0">
                <a:solidFill>
                  <a:schemeClr val="dk1"/>
                </a:solidFill>
              </a:rPr>
              <a:t>Some files might be the same</a:t>
            </a:r>
            <a:endParaRPr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dirty="0">
                <a:solidFill>
                  <a:schemeClr val="dk1"/>
                </a:solidFill>
              </a:rPr>
              <a:t>Others might be different</a:t>
            </a:r>
            <a:endParaRPr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dirty="0">
                <a:solidFill>
                  <a:schemeClr val="dk1"/>
                </a:solidFill>
              </a:rPr>
              <a:t>Some may not exist at all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Avoids endless subdirectories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Everything is tracked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Minimizes the risk of conflicting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Branches allow us to work on different components of a project simultaneously.</a:t>
            </a: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branch</a:t>
            </a:r>
            <a:endParaRPr/>
          </a:p>
        </p:txBody>
      </p:sp>
      <p:sp>
        <p:nvSpPr>
          <p:cNvPr id="825" name="Google Shape;825;p67"/>
          <p:cNvSpPr txBox="1"/>
          <p:nvPr/>
        </p:nvSpPr>
        <p:spPr>
          <a:xfrm>
            <a:off x="677125" y="1482375"/>
            <a:ext cx="1416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6" name="Google Shape;82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3726" y="1447700"/>
            <a:ext cx="806875" cy="5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7"/>
          <p:cNvSpPr txBox="1"/>
          <p:nvPr/>
        </p:nvSpPr>
        <p:spPr>
          <a:xfrm>
            <a:off x="405500" y="2956075"/>
            <a:ext cx="332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9D9"/>
                </a:highlight>
              </a:rPr>
              <a:t>main</a:t>
            </a:r>
            <a:r>
              <a:rPr lang="en"/>
              <a:t> : ground truth</a:t>
            </a:r>
            <a:endParaRPr/>
          </a:p>
        </p:txBody>
      </p:sp>
      <p:pic>
        <p:nvPicPr>
          <p:cNvPr id="828" name="Google Shape;82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3723" y="2463648"/>
            <a:ext cx="536492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branch</a:t>
            </a:r>
            <a:endParaRPr/>
          </a:p>
        </p:txBody>
      </p:sp>
      <p:sp>
        <p:nvSpPr>
          <p:cNvPr id="834" name="Google Shape;834;p68"/>
          <p:cNvSpPr txBox="1"/>
          <p:nvPr/>
        </p:nvSpPr>
        <p:spPr>
          <a:xfrm>
            <a:off x="677125" y="1482375"/>
            <a:ext cx="1416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5" name="Google Shape;83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700" y="1482375"/>
            <a:ext cx="6746074" cy="2950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branch</a:t>
            </a:r>
            <a:endParaRPr/>
          </a:p>
        </p:txBody>
      </p:sp>
      <p:sp>
        <p:nvSpPr>
          <p:cNvPr id="841" name="Google Shape;841;p69"/>
          <p:cNvSpPr txBox="1"/>
          <p:nvPr/>
        </p:nvSpPr>
        <p:spPr>
          <a:xfrm>
            <a:off x="677125" y="1482375"/>
            <a:ext cx="1416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pic>
        <p:nvPicPr>
          <p:cNvPr id="842" name="Google Shape;84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750" y="1441925"/>
            <a:ext cx="6736749" cy="28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Merging Analysis to Main</a:t>
            </a:r>
            <a:endParaRPr dirty="0"/>
          </a:p>
        </p:txBody>
      </p:sp>
      <p:sp>
        <p:nvSpPr>
          <p:cNvPr id="848" name="Google Shape;848;p70"/>
          <p:cNvSpPr txBox="1"/>
          <p:nvPr/>
        </p:nvSpPr>
        <p:spPr>
          <a:xfrm>
            <a:off x="677125" y="1482375"/>
            <a:ext cx="1416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pic>
        <p:nvPicPr>
          <p:cNvPr id="849" name="Google Shape;84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875" y="1297525"/>
            <a:ext cx="6746075" cy="2999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Merging Model to Main</a:t>
            </a:r>
            <a:endParaRPr/>
          </a:p>
        </p:txBody>
      </p:sp>
      <p:sp>
        <p:nvSpPr>
          <p:cNvPr id="855" name="Google Shape;855;p71"/>
          <p:cNvSpPr txBox="1"/>
          <p:nvPr/>
        </p:nvSpPr>
        <p:spPr>
          <a:xfrm>
            <a:off x="677125" y="1482375"/>
            <a:ext cx="1416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pic>
        <p:nvPicPr>
          <p:cNvPr id="856" name="Google Shape;85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000" y="1360825"/>
            <a:ext cx="6746075" cy="2885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and destination</a:t>
            </a:r>
            <a:endParaRPr/>
          </a:p>
        </p:txBody>
      </p:sp>
      <p:sp>
        <p:nvSpPr>
          <p:cNvPr id="862" name="Google Shape;862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When merging two branches: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The commits are called parent commits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 dirty="0">
                <a:solidFill>
                  <a:schemeClr val="dk1"/>
                </a:solidFill>
                <a:highlight>
                  <a:srgbClr val="D9D9D9"/>
                </a:highlight>
              </a:rPr>
              <a:t>source</a:t>
            </a:r>
            <a:r>
              <a:rPr lang="en" sz="1600" dirty="0">
                <a:solidFill>
                  <a:schemeClr val="dk1"/>
                </a:solidFill>
              </a:rPr>
              <a:t> : the branch we want to merge </a:t>
            </a:r>
            <a:r>
              <a:rPr lang="en" sz="1600" b="1" dirty="0">
                <a:solidFill>
                  <a:schemeClr val="dk1"/>
                </a:solidFill>
              </a:rPr>
              <a:t>from</a:t>
            </a:r>
            <a:endParaRPr sz="1600" b="1" dirty="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 dirty="0">
                <a:solidFill>
                  <a:schemeClr val="dk1"/>
                </a:solidFill>
                <a:highlight>
                  <a:srgbClr val="D9D9D9"/>
                </a:highlight>
              </a:rPr>
              <a:t>destination</a:t>
            </a:r>
            <a:r>
              <a:rPr lang="en" sz="1600" dirty="0">
                <a:solidFill>
                  <a:schemeClr val="dk1"/>
                </a:solidFill>
              </a:rPr>
              <a:t>: the branch we want to merge </a:t>
            </a:r>
            <a:r>
              <a:rPr lang="en" sz="1600" b="1" dirty="0">
                <a:solidFill>
                  <a:schemeClr val="dk1"/>
                </a:solidFill>
              </a:rPr>
              <a:t>into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When merging </a:t>
            </a:r>
            <a:r>
              <a:rPr lang="en" sz="1600" dirty="0">
                <a:solidFill>
                  <a:schemeClr val="dk1"/>
                </a:solidFill>
                <a:highlight>
                  <a:srgbClr val="D9D9D9"/>
                </a:highlight>
              </a:rPr>
              <a:t>analysis</a:t>
            </a:r>
            <a:r>
              <a:rPr lang="en" sz="1600" dirty="0">
                <a:solidFill>
                  <a:schemeClr val="dk1"/>
                </a:solidFill>
              </a:rPr>
              <a:t> to </a:t>
            </a:r>
            <a:r>
              <a:rPr lang="en" sz="1600" dirty="0">
                <a:solidFill>
                  <a:schemeClr val="dk1"/>
                </a:solidFill>
                <a:highlight>
                  <a:srgbClr val="D9D9D9"/>
                </a:highlight>
              </a:rPr>
              <a:t>main</a:t>
            </a:r>
            <a:r>
              <a:rPr lang="en" sz="1600" dirty="0">
                <a:solidFill>
                  <a:schemeClr val="dk1"/>
                </a:solidFill>
              </a:rPr>
              <a:t>: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 dirty="0">
                <a:solidFill>
                  <a:schemeClr val="dk1"/>
                </a:solidFill>
                <a:highlight>
                  <a:srgbClr val="D9D9D9"/>
                </a:highlight>
              </a:rPr>
              <a:t>analysis</a:t>
            </a:r>
            <a:r>
              <a:rPr lang="en" sz="1600" dirty="0">
                <a:solidFill>
                  <a:schemeClr val="dk1"/>
                </a:solidFill>
              </a:rPr>
              <a:t> = </a:t>
            </a:r>
            <a:r>
              <a:rPr lang="en" sz="1600" dirty="0">
                <a:solidFill>
                  <a:schemeClr val="dk1"/>
                </a:solidFill>
                <a:highlight>
                  <a:srgbClr val="D9D9D9"/>
                </a:highlight>
              </a:rPr>
              <a:t>source</a:t>
            </a:r>
            <a:endParaRPr sz="1600" dirty="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 dirty="0">
                <a:solidFill>
                  <a:schemeClr val="dk1"/>
                </a:solidFill>
                <a:highlight>
                  <a:srgbClr val="D9D9D9"/>
                </a:highlight>
              </a:rPr>
              <a:t>main</a:t>
            </a:r>
            <a:r>
              <a:rPr lang="en" sz="1600" dirty="0">
                <a:solidFill>
                  <a:schemeClr val="dk1"/>
                </a:solidFill>
              </a:rPr>
              <a:t>      = </a:t>
            </a:r>
            <a:r>
              <a:rPr lang="en" sz="1600" dirty="0">
                <a:solidFill>
                  <a:schemeClr val="dk1"/>
                </a:solidFill>
                <a:highlight>
                  <a:srgbClr val="D9D9D9"/>
                </a:highlight>
              </a:rPr>
              <a:t>destination</a:t>
            </a:r>
            <a:endParaRPr sz="1600" dirty="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3"/>
          <p:cNvSpPr/>
          <p:nvPr/>
        </p:nvSpPr>
        <p:spPr>
          <a:xfrm>
            <a:off x="311700" y="1248900"/>
            <a:ext cx="24981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869" name="Google Shape;869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branch</a:t>
            </a:r>
            <a:r>
              <a:rPr lang="en">
                <a:solidFill>
                  <a:schemeClr val="dk1"/>
                </a:solidFill>
              </a:rPr>
              <a:t>                    : List the existing branches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analysis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*model</a:t>
            </a:r>
            <a:endParaRPr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D9D9D9"/>
                </a:highlight>
              </a:rPr>
              <a:t>*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= current branch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870" name="Google Shape;870;p73"/>
          <p:cNvSpPr/>
          <p:nvPr/>
        </p:nvSpPr>
        <p:spPr>
          <a:xfrm>
            <a:off x="249475" y="1106725"/>
            <a:ext cx="5623200" cy="560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4"/>
          <p:cNvSpPr/>
          <p:nvPr/>
        </p:nvSpPr>
        <p:spPr>
          <a:xfrm>
            <a:off x="352775" y="3667344"/>
            <a:ext cx="3618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74"/>
          <p:cNvSpPr/>
          <p:nvPr/>
        </p:nvSpPr>
        <p:spPr>
          <a:xfrm>
            <a:off x="352775" y="2418000"/>
            <a:ext cx="3618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74"/>
          <p:cNvSpPr/>
          <p:nvPr/>
        </p:nvSpPr>
        <p:spPr>
          <a:xfrm>
            <a:off x="393225" y="1248925"/>
            <a:ext cx="3843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branches</a:t>
            </a:r>
            <a:endParaRPr dirty="0"/>
          </a:p>
        </p:txBody>
      </p:sp>
      <p:sp>
        <p:nvSpPr>
          <p:cNvPr id="879" name="Google Shape;879;p74"/>
          <p:cNvSpPr txBox="1">
            <a:spLocks noGrp="1"/>
          </p:cNvSpPr>
          <p:nvPr>
            <p:ph type="body" idx="1"/>
          </p:nvPr>
        </p:nvSpPr>
        <p:spPr>
          <a:xfrm>
            <a:off x="311700" y="1137476"/>
            <a:ext cx="8520600" cy="36252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-c &lt;new branch&gt;</a:t>
            </a:r>
            <a:r>
              <a:rPr lang="en" dirty="0">
                <a:solidFill>
                  <a:schemeClr val="dk1"/>
                </a:solidFill>
              </a:rPr>
              <a:t>                  : Creates a new branch and switches to it.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Let’s create a new branch and make some modifications, stage and commit.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Then let’s compare our branches: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diff main analysis </a:t>
            </a:r>
            <a:r>
              <a:rPr lang="en" dirty="0">
                <a:solidFill>
                  <a:schemeClr val="dk1"/>
                </a:solidFill>
              </a:rPr>
              <a:t>                    : Compares branches   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Let’s switch branches: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 &lt;branch&gt;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   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5"/>
          <p:cNvSpPr/>
          <p:nvPr/>
        </p:nvSpPr>
        <p:spPr>
          <a:xfrm>
            <a:off x="311700" y="2823125"/>
            <a:ext cx="7484100" cy="780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75"/>
          <p:cNvSpPr/>
          <p:nvPr/>
        </p:nvSpPr>
        <p:spPr>
          <a:xfrm>
            <a:off x="375875" y="3903700"/>
            <a:ext cx="39423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75"/>
          <p:cNvSpPr/>
          <p:nvPr/>
        </p:nvSpPr>
        <p:spPr>
          <a:xfrm>
            <a:off x="375875" y="3021475"/>
            <a:ext cx="3942300" cy="3258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888" name="Google Shape;888;p75"/>
          <p:cNvSpPr txBox="1">
            <a:spLocks noGrp="1"/>
          </p:cNvSpPr>
          <p:nvPr>
            <p:ph type="body" idx="1"/>
          </p:nvPr>
        </p:nvSpPr>
        <p:spPr>
          <a:xfrm>
            <a:off x="106680" y="1152474"/>
            <a:ext cx="8884920" cy="3785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Each branch should be a specific task. Don’t be overambitious!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Avoid working on the same file in two different branches at the same time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Once you complete your task, you should first </a:t>
            </a:r>
            <a:r>
              <a:rPr lang="en" b="1" dirty="0">
                <a:solidFill>
                  <a:schemeClr val="dk1"/>
                </a:solidFill>
              </a:rPr>
              <a:t>switch</a:t>
            </a:r>
            <a:r>
              <a:rPr lang="en" dirty="0">
                <a:solidFill>
                  <a:schemeClr val="dk1"/>
                </a:solidFill>
              </a:rPr>
              <a:t> to </a:t>
            </a:r>
            <a:r>
              <a:rPr lang="en" dirty="0">
                <a:solidFill>
                  <a:schemeClr val="dk1"/>
                </a:solidFill>
                <a:highlight>
                  <a:srgbClr val="C0C0C0"/>
                </a:highlight>
              </a:rPr>
              <a:t>main</a:t>
            </a:r>
            <a:r>
              <a:rPr lang="en" dirty="0">
                <a:solidFill>
                  <a:schemeClr val="dk1"/>
                </a:solidFill>
              </a:rPr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Then merge your feature branch into </a:t>
            </a:r>
            <a:r>
              <a:rPr lang="en" dirty="0">
                <a:solidFill>
                  <a:schemeClr val="dk1"/>
                </a:solidFill>
                <a:highlight>
                  <a:srgbClr val="C0C0C0"/>
                </a:highlight>
              </a:rPr>
              <a:t>main</a:t>
            </a:r>
            <a:r>
              <a:rPr lang="en" dirty="0">
                <a:solidFill>
                  <a:schemeClr val="dk1"/>
                </a:solidFill>
              </a:rPr>
              <a:t> in order to keep your work up to date and accurate. 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git merge source destination </a:t>
            </a:r>
            <a:r>
              <a:rPr lang="en" dirty="0">
                <a:solidFill>
                  <a:schemeClr val="dk1"/>
                </a:solidFill>
              </a:rPr>
              <a:t>: Merges source to destination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git merge analysis          :</a:t>
            </a:r>
            <a:r>
              <a:rPr lang="en" dirty="0">
                <a:solidFill>
                  <a:schemeClr val="dk1"/>
                </a:solidFill>
              </a:rPr>
              <a:t>In order to merge, you need to be in the     				           destination branch. </a:t>
            </a:r>
            <a:r>
              <a:rPr lang="en" dirty="0">
                <a:solidFill>
                  <a:schemeClr val="lt1"/>
                </a:solidFill>
              </a:rPr>
              <a:t>a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rgbClr val="FF0000"/>
                </a:solidFill>
              </a:rPr>
              <a:t>Daily Workflow</a:t>
            </a:r>
            <a:endParaRPr sz="2355">
              <a:solidFill>
                <a:srgbClr val="FF0000"/>
              </a:solidFill>
            </a:endParaRPr>
          </a:p>
        </p:txBody>
      </p:sp>
      <p:sp>
        <p:nvSpPr>
          <p:cNvPr id="894" name="Google Shape;894;p76"/>
          <p:cNvSpPr txBox="1">
            <a:spLocks noGrp="1"/>
          </p:cNvSpPr>
          <p:nvPr>
            <p:ph type="body" idx="1"/>
          </p:nvPr>
        </p:nvSpPr>
        <p:spPr>
          <a:xfrm>
            <a:off x="179900" y="1379975"/>
            <a:ext cx="8860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                </a:t>
            </a:r>
            <a:r>
              <a:rPr lang="en" dirty="0">
                <a:solidFill>
                  <a:schemeClr val="dk1"/>
                </a:solidFill>
              </a:rPr>
              <a:t>: Make sure you are on the right branch before starting to work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status                </a:t>
            </a:r>
            <a:r>
              <a:rPr lang="en" dirty="0">
                <a:solidFill>
                  <a:schemeClr val="dk1"/>
                </a:solidFill>
              </a:rPr>
              <a:t>  : Make sure that you know the current status of your repo.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Work on my project</a:t>
            </a:r>
            <a:r>
              <a:rPr lang="en" dirty="0">
                <a:solidFill>
                  <a:schemeClr val="dk1"/>
                </a:solidFill>
              </a:rPr>
              <a:t>                        : Continue working on your project if you are happy with the current status.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add file(s)            </a:t>
            </a:r>
            <a:r>
              <a:rPr lang="en" dirty="0">
                <a:solidFill>
                  <a:schemeClr val="dk1"/>
                </a:solidFill>
              </a:rPr>
              <a:t>: Stage your changes often. 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“Message”    </a:t>
            </a:r>
            <a:r>
              <a:rPr lang="en" dirty="0">
                <a:solidFill>
                  <a:schemeClr val="dk1"/>
                </a:solidFill>
              </a:rPr>
              <a:t>: Commit your stages. Make frequent and small commits.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Happy with results                          </a:t>
            </a:r>
            <a:r>
              <a:rPr lang="en" dirty="0">
                <a:solidFill>
                  <a:schemeClr val="dk1"/>
                </a:solidFill>
              </a:rPr>
              <a:t>: You are happy with your progress and results.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switch main            :</a:t>
            </a:r>
            <a:r>
              <a:rPr lang="en-US" dirty="0">
                <a:solidFill>
                  <a:schemeClr val="dk1"/>
                </a:solidFill>
                <a:latin typeface="+mn-lt"/>
                <a:cs typeface="Courier New" panose="02070309020205020404" pitchFamily="49" charset="0"/>
              </a:rPr>
              <a:t>Switch to the branch you want to merge your feature branch to .   </a:t>
            </a:r>
            <a:endParaRPr dirty="0">
              <a:solidFill>
                <a:schemeClr val="dk1"/>
              </a:solidFill>
              <a:latin typeface="+mn-lt"/>
              <a:cs typeface="Courier New" panose="02070309020205020404" pitchFamily="49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merge branch</a:t>
            </a: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dirty="0">
                <a:solidFill>
                  <a:schemeClr val="dk1"/>
                </a:solidFill>
              </a:rPr>
              <a:t>: Merge the branch to main to update the main branch.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-c</a:t>
            </a: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new_branch   </a:t>
            </a:r>
            <a:r>
              <a:rPr lang="en" dirty="0">
                <a:solidFill>
                  <a:schemeClr val="dk1"/>
                </a:solidFill>
              </a:rPr>
              <a:t>: You are ready to work on a new task in a new branch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FD295F-E885-639F-09E2-A51225A3D106}"/>
              </a:ext>
            </a:extLst>
          </p:cNvPr>
          <p:cNvSpPr/>
          <p:nvPr/>
        </p:nvSpPr>
        <p:spPr>
          <a:xfrm>
            <a:off x="396240" y="259080"/>
            <a:ext cx="8567860" cy="453729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6E3EF98A-5B11-1859-60E0-A3A357A4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43F2FFE7-9BE5-50C1-AD17-9F12A2A95E6C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FE537E3E-EF9A-C012-831F-28AEDBA3698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6C297310-6964-CF38-6E5E-B223B16EFDD1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2A5CB731-8706-7F5D-7EAB-CB4E3CC2F0E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9D8B7BF0-4D21-09F8-5662-5B80252AD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2664" y="2192412"/>
            <a:ext cx="46386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Collaborative work with GitHub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4034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A4AD27DA-F491-9D45-FC8B-7FD96ECA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644650F6-CA34-6F04-EC28-54EABFA82BBB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AD2EE5AF-5811-EC48-FD0C-58CE3BB42184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2E36F4C2-6AF1-0602-58A1-CD45E4F5D84F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687E34ED-CFF3-CBC9-764C-7BF9EEAD430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E43E9084-C446-2579-2FC3-52888B2DC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Collaborative work with GitHub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47A28-FCC3-FEAA-79EB-EAB656522F66}"/>
              </a:ext>
            </a:extLst>
          </p:cNvPr>
          <p:cNvSpPr txBox="1"/>
          <p:nvPr/>
        </p:nvSpPr>
        <p:spPr>
          <a:xfrm>
            <a:off x="2947554" y="945930"/>
            <a:ext cx="3441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COMMUNICATION</a:t>
            </a: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It is all about communication!</a:t>
            </a:r>
            <a:endParaRPr lang="LID4096" sz="18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725A8-1B54-7987-A2D2-12DF7F73795A}"/>
              </a:ext>
            </a:extLst>
          </p:cNvPr>
          <p:cNvSpPr txBox="1"/>
          <p:nvPr/>
        </p:nvSpPr>
        <p:spPr>
          <a:xfrm>
            <a:off x="417787" y="1970690"/>
            <a:ext cx="48205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Setting up collaboration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meaningful commit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Leaving clear and concise review notes and 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…….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56040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9"/>
          <p:cNvSpPr/>
          <p:nvPr/>
        </p:nvSpPr>
        <p:spPr>
          <a:xfrm>
            <a:off x="311700" y="173862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79"/>
          <p:cNvSpPr/>
          <p:nvPr/>
        </p:nvSpPr>
        <p:spPr>
          <a:xfrm>
            <a:off x="311700" y="217422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79"/>
          <p:cNvSpPr/>
          <p:nvPr/>
        </p:nvSpPr>
        <p:spPr>
          <a:xfrm>
            <a:off x="311700" y="3897800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79"/>
          <p:cNvSpPr/>
          <p:nvPr/>
        </p:nvSpPr>
        <p:spPr>
          <a:xfrm>
            <a:off x="311700" y="3069350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79"/>
          <p:cNvSpPr/>
          <p:nvPr/>
        </p:nvSpPr>
        <p:spPr>
          <a:xfrm>
            <a:off x="311700" y="346447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79"/>
          <p:cNvSpPr txBox="1"/>
          <p:nvPr/>
        </p:nvSpPr>
        <p:spPr>
          <a:xfrm>
            <a:off x="272575" y="1261524"/>
            <a:ext cx="86109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Make sure that your local repo is synced with the remote repo and check the status of your local repo.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/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git pull origin main          </a:t>
            </a: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dirty="0">
                <a:ea typeface="Courier New"/>
                <a:cs typeface="Courier New"/>
                <a:sym typeface="Courier New"/>
              </a:rPr>
              <a:t>Fetch and merge the latest changes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Go to a &lt;new branch&gt; and make you changes on your files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add &lt;file&gt;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commit -m “Message”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push origin &lt;new branch&gt;  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dirty="0">
                <a:ea typeface="Courier New"/>
                <a:cs typeface="Courier New"/>
                <a:sym typeface="Courier New"/>
              </a:rPr>
              <a:t>Push the changes to the remote repository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990725" lvl="2" indent="-285750">
              <a:buSzPts val="1400"/>
              <a:buFont typeface="Arial" panose="020B0604020202020204" pitchFamily="34" charset="0"/>
              <a:buChar char="•"/>
            </a:pPr>
            <a:r>
              <a:rPr lang="en" dirty="0"/>
              <a:t>On the remote repository (GitHub), create a </a:t>
            </a:r>
            <a:r>
              <a:rPr lang="en-US" dirty="0"/>
              <a:t>PR</a:t>
            </a:r>
          </a:p>
          <a:p>
            <a:pPr marL="1990725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Merge the pull request. This is done by the assigned person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553847-819D-20D9-6C7F-F1F5B3CEA737}"/>
              </a:ext>
            </a:extLst>
          </p:cNvPr>
          <p:cNvSpPr/>
          <p:nvPr/>
        </p:nvSpPr>
        <p:spPr>
          <a:xfrm>
            <a:off x="1969637" y="4320540"/>
            <a:ext cx="5343365" cy="5659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Google Shape;912;p78">
            <a:extLst>
              <a:ext uri="{FF2B5EF4-FFF2-40B4-BE49-F238E27FC236}">
                <a16:creationId xmlns:a16="http://schemas.microsoft.com/office/drawing/2014/main" id="{0D666949-EE17-2B04-00B6-7F12859EAA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45025"/>
            <a:ext cx="8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1">
              <a:buSzPct val="100000"/>
            </a:pPr>
            <a:r>
              <a:rPr lang="en-US" dirty="0"/>
              <a:t>Synchronizing the local repository with the remote repository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7512DD1D-01EE-5F77-C563-6632796F1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9">
            <a:extLst>
              <a:ext uri="{FF2B5EF4-FFF2-40B4-BE49-F238E27FC236}">
                <a16:creationId xmlns:a16="http://schemas.microsoft.com/office/drawing/2014/main" id="{1E82AC0F-93E9-EBC5-4028-F04C68270049}"/>
              </a:ext>
            </a:extLst>
          </p:cNvPr>
          <p:cNvSpPr/>
          <p:nvPr/>
        </p:nvSpPr>
        <p:spPr>
          <a:xfrm>
            <a:off x="311700" y="1436410"/>
            <a:ext cx="1323371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79">
            <a:extLst>
              <a:ext uri="{FF2B5EF4-FFF2-40B4-BE49-F238E27FC236}">
                <a16:creationId xmlns:a16="http://schemas.microsoft.com/office/drawing/2014/main" id="{374490C2-ED26-B826-5962-9EA66C95FB6C}"/>
              </a:ext>
            </a:extLst>
          </p:cNvPr>
          <p:cNvSpPr/>
          <p:nvPr/>
        </p:nvSpPr>
        <p:spPr>
          <a:xfrm>
            <a:off x="311700" y="3078942"/>
            <a:ext cx="2462497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                      </a:t>
            </a:r>
          </a:p>
        </p:txBody>
      </p:sp>
      <p:sp>
        <p:nvSpPr>
          <p:cNvPr id="6" name="Google Shape;912;p78">
            <a:extLst>
              <a:ext uri="{FF2B5EF4-FFF2-40B4-BE49-F238E27FC236}">
                <a16:creationId xmlns:a16="http://schemas.microsoft.com/office/drawing/2014/main" id="{870308B1-02B0-7119-1DA8-4D32FAB29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45025"/>
            <a:ext cx="8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1">
              <a:buSzPct val="100000"/>
            </a:pPr>
            <a:r>
              <a:rPr lang="en-US" dirty="0"/>
              <a:t>Synchronizing the local repository with the remote repository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EDF23-51E3-1154-9F42-45A456C18919}"/>
              </a:ext>
            </a:extLst>
          </p:cNvPr>
          <p:cNvSpPr txBox="1"/>
          <p:nvPr/>
        </p:nvSpPr>
        <p:spPr>
          <a:xfrm>
            <a:off x="395207" y="1432711"/>
            <a:ext cx="47099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fetch  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Downloads commits, branches, and tags from remote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Updates the local copy of the remote repo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It is always safe to perform.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It does not update the files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!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5669F-82F0-C369-9B04-1F4C4212099A}"/>
              </a:ext>
            </a:extLst>
          </p:cNvPr>
          <p:cNvSpPr txBox="1"/>
          <p:nvPr/>
        </p:nvSpPr>
        <p:spPr>
          <a:xfrm>
            <a:off x="311700" y="3556862"/>
            <a:ext cx="5846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  <a:r>
              <a:rPr lang="en-US" dirty="0"/>
              <a:t> +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en-US" dirty="0"/>
              <a:t> into your current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Sometimes risky, as it can cause conflicts since it performs a merge.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It does updates the files!</a:t>
            </a:r>
            <a:endParaRPr lang="LID4096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839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13C4094D-91E0-8EC7-2F80-934A8D30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9">
            <a:extLst>
              <a:ext uri="{FF2B5EF4-FFF2-40B4-BE49-F238E27FC236}">
                <a16:creationId xmlns:a16="http://schemas.microsoft.com/office/drawing/2014/main" id="{7039D2C0-7DFD-5B71-8E8E-A460E6E60151}"/>
              </a:ext>
            </a:extLst>
          </p:cNvPr>
          <p:cNvSpPr/>
          <p:nvPr/>
        </p:nvSpPr>
        <p:spPr>
          <a:xfrm>
            <a:off x="311700" y="1436410"/>
            <a:ext cx="1323371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79">
            <a:extLst>
              <a:ext uri="{FF2B5EF4-FFF2-40B4-BE49-F238E27FC236}">
                <a16:creationId xmlns:a16="http://schemas.microsoft.com/office/drawing/2014/main" id="{A96E5D7C-6D11-4691-135B-BB012D352973}"/>
              </a:ext>
            </a:extLst>
          </p:cNvPr>
          <p:cNvSpPr/>
          <p:nvPr/>
        </p:nvSpPr>
        <p:spPr>
          <a:xfrm>
            <a:off x="311700" y="3078942"/>
            <a:ext cx="2462497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                      </a:t>
            </a:r>
          </a:p>
        </p:txBody>
      </p:sp>
      <p:sp>
        <p:nvSpPr>
          <p:cNvPr id="6" name="Google Shape;912;p78">
            <a:extLst>
              <a:ext uri="{FF2B5EF4-FFF2-40B4-BE49-F238E27FC236}">
                <a16:creationId xmlns:a16="http://schemas.microsoft.com/office/drawing/2014/main" id="{1411E4AC-C45E-F6EF-402D-DFB9A9F76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45025"/>
            <a:ext cx="8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1">
              <a:buSzPct val="100000"/>
            </a:pPr>
            <a:r>
              <a:rPr lang="en-US" dirty="0"/>
              <a:t>Synchronizing the local repository with the remote repository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6BD07-CE74-755C-F958-20858E6F285B}"/>
              </a:ext>
            </a:extLst>
          </p:cNvPr>
          <p:cNvSpPr txBox="1"/>
          <p:nvPr/>
        </p:nvSpPr>
        <p:spPr>
          <a:xfrm>
            <a:off x="395207" y="1432711"/>
            <a:ext cx="47099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fetch  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Downloads commits, branches, and tags from remote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Updates the local copy of the remote repo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It is always safe to perform.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It does not update the files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!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2422D-D26D-BC72-5CDD-5980C9C3C0F3}"/>
              </a:ext>
            </a:extLst>
          </p:cNvPr>
          <p:cNvSpPr txBox="1"/>
          <p:nvPr/>
        </p:nvSpPr>
        <p:spPr>
          <a:xfrm>
            <a:off x="311700" y="3556862"/>
            <a:ext cx="5846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  <a:r>
              <a:rPr lang="en-US" dirty="0"/>
              <a:t> +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en-US" dirty="0"/>
              <a:t> into your current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Sometimes risky, as it can cause conflicts since it performs a merge.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It does updates the files and changes the local branch immediately!</a:t>
            </a:r>
            <a:endParaRPr lang="LID4096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50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B43876A4-5934-1955-EC67-FAA43048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12;p78">
            <a:extLst>
              <a:ext uri="{FF2B5EF4-FFF2-40B4-BE49-F238E27FC236}">
                <a16:creationId xmlns:a16="http://schemas.microsoft.com/office/drawing/2014/main" id="{6ABA8C7A-4B14-F23D-F548-DC2AD43BA0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35059"/>
            <a:ext cx="8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1">
              <a:buSzPct val="100000"/>
            </a:pPr>
            <a:r>
              <a:rPr lang="en-US" dirty="0"/>
              <a:t>Synchronizing the local repository with the remote repository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6B1427-EAD7-4B08-B4E6-7D60B5935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72419"/>
              </p:ext>
            </p:extLst>
          </p:nvPr>
        </p:nvGraphicFramePr>
        <p:xfrm>
          <a:off x="604434" y="1239864"/>
          <a:ext cx="7842141" cy="292995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76413">
                  <a:extLst>
                    <a:ext uri="{9D8B030D-6E8A-4147-A177-3AD203B41FA5}">
                      <a16:colId xmlns:a16="http://schemas.microsoft.com/office/drawing/2014/main" val="3182106690"/>
                    </a:ext>
                  </a:extLst>
                </a:gridCol>
                <a:gridCol w="2309248">
                  <a:extLst>
                    <a:ext uri="{9D8B030D-6E8A-4147-A177-3AD203B41FA5}">
                      <a16:colId xmlns:a16="http://schemas.microsoft.com/office/drawing/2014/main" val="2052827702"/>
                    </a:ext>
                  </a:extLst>
                </a:gridCol>
                <a:gridCol w="2456480">
                  <a:extLst>
                    <a:ext uri="{9D8B030D-6E8A-4147-A177-3AD203B41FA5}">
                      <a16:colId xmlns:a16="http://schemas.microsoft.com/office/drawing/2014/main" val="3502529232"/>
                    </a:ext>
                  </a:extLst>
                </a:gridCol>
              </a:tblGrid>
              <a:tr h="4584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Situation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git fetch</a:t>
                      </a:r>
                      <a:endParaRPr lang="LID4096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git pull</a:t>
                      </a:r>
                      <a:endParaRPr lang="LID4096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167090"/>
                  </a:ext>
                </a:extLst>
              </a:tr>
              <a:tr h="458492">
                <a:tc>
                  <a:txBody>
                    <a:bodyPr/>
                    <a:lstStyle/>
                    <a:p>
                      <a:r>
                        <a:rPr lang="en-US" dirty="0"/>
                        <a:t>You want to see what is new before updating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+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55315754"/>
                  </a:ext>
                </a:extLst>
              </a:tr>
              <a:tr h="458492">
                <a:tc>
                  <a:txBody>
                    <a:bodyPr/>
                    <a:lstStyle/>
                    <a:p>
                      <a:r>
                        <a:rPr lang="en-US" dirty="0"/>
                        <a:t>You are in the middle of other work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+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45234024"/>
                  </a:ext>
                </a:extLst>
              </a:tr>
              <a:tr h="458492">
                <a:tc>
                  <a:txBody>
                    <a:bodyPr/>
                    <a:lstStyle/>
                    <a:p>
                      <a:r>
                        <a:rPr lang="en-US" dirty="0"/>
                        <a:t>You are ready to update your branch and integrate changes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fetch + merge manually</a:t>
                      </a:r>
                      <a:endParaRPr lang="LID4096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+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674713303"/>
                  </a:ext>
                </a:extLst>
              </a:tr>
              <a:tr h="458492">
                <a:tc>
                  <a:txBody>
                    <a:bodyPr/>
                    <a:lstStyle/>
                    <a:p>
                      <a:r>
                        <a:rPr lang="en-US" dirty="0"/>
                        <a:t>You are on a feature branch and just want to stay up to date with main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+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Maybe</a:t>
                      </a:r>
                      <a:endParaRPr lang="LID4096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753140756"/>
                  </a:ext>
                </a:extLst>
              </a:tr>
              <a:tr h="458492">
                <a:tc>
                  <a:txBody>
                    <a:bodyPr/>
                    <a:lstStyle/>
                    <a:p>
                      <a:r>
                        <a:rPr lang="en-US" dirty="0"/>
                        <a:t>You are automating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+</a:t>
                      </a:r>
                      <a:r>
                        <a:rPr lang="en-US" dirty="0"/>
                        <a:t> </a:t>
                      </a:r>
                      <a:endParaRPr lang="LID4096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8593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797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CF85D31B-E70A-756D-1750-39F42A70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AA88CC97-09E5-E273-1179-55FD07448890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8B7B3482-6D6F-6980-C734-45B39AD90D8A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E3ED4DC3-6F7A-0D2A-B6F7-7CCF03007303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DDED35FB-AEBF-6806-2BAB-6114A8EFC0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6A88EA78-924A-7A4C-D33A-1D30837400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Collaborative work with GitHub -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F54DF-DCB5-AF89-C999-19BC0B11CD6C}"/>
              </a:ext>
            </a:extLst>
          </p:cNvPr>
          <p:cNvSpPr txBox="1"/>
          <p:nvPr/>
        </p:nvSpPr>
        <p:spPr>
          <a:xfrm>
            <a:off x="5063839" y="177531"/>
            <a:ext cx="298190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Open a pull request</a:t>
            </a:r>
            <a:endParaRPr lang="LID4096" sz="2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A0453-5F31-453B-E1BD-FF6D543FCF91}"/>
              </a:ext>
            </a:extLst>
          </p:cNvPr>
          <p:cNvSpPr txBox="1"/>
          <p:nvPr/>
        </p:nvSpPr>
        <p:spPr>
          <a:xfrm>
            <a:off x="480848" y="961696"/>
            <a:ext cx="772358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Pull request</a:t>
            </a:r>
          </a:p>
          <a:p>
            <a:pPr algn="just"/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pull request shows the changes in your branch to other people and allows </a:t>
            </a:r>
          </a:p>
          <a:p>
            <a:pPr algn="just"/>
            <a:r>
              <a:rPr lang="en-US" dirty="0"/>
              <a:t>      people to accept, reject, or suggest additional changes to your branch. 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a side-by-side comparison, a pull request is going to keep the changes you just made on </a:t>
            </a:r>
          </a:p>
          <a:p>
            <a:pPr algn="just"/>
            <a:r>
              <a:rPr lang="en-US" dirty="0"/>
              <a:t>      your branch and propose applying them to the main project branch.</a:t>
            </a:r>
          </a:p>
          <a:p>
            <a:pPr algn="just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72174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2DB20ECC-C07F-0C96-74E1-E82B68D8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6F1EBEE6-E7D2-657C-E11B-554ED4FEED0A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6D72AA8D-89A8-5F67-E043-63503E2E3B6D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48562997-B53E-97D7-627F-A2B00F439754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38A015F4-80FF-A8DF-ED11-307341FBB2D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12E47F25-B6FB-5815-D53C-4678E2CD9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Collaborative work with GitHub -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A3347-82DD-D962-CCC8-B9CB69CACFCE}"/>
              </a:ext>
            </a:extLst>
          </p:cNvPr>
          <p:cNvSpPr txBox="1"/>
          <p:nvPr/>
        </p:nvSpPr>
        <p:spPr>
          <a:xfrm>
            <a:off x="5063839" y="177531"/>
            <a:ext cx="297870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Review pull request</a:t>
            </a:r>
            <a:endParaRPr lang="LID4096" sz="2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48FD32-DD93-42B7-293F-A2FA1986FC9E}"/>
              </a:ext>
            </a:extLst>
          </p:cNvPr>
          <p:cNvSpPr txBox="1"/>
          <p:nvPr/>
        </p:nvSpPr>
        <p:spPr>
          <a:xfrm>
            <a:off x="480848" y="659481"/>
            <a:ext cx="83514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Pull request review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Reviewing a pull request is an opportunity to examine another contributor’s changes and give them feedback.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Pull request reviews ensure quality and maintain the momentum of changes to your project.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an efficient way of improving coding skills and bringing the team to the same level.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What and How to Review?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potential issues, risks, and limitations.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 changes and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 awareness of upcoming changes that the pull request doesn't account for.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questions to verify shared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 what the author did well and should keep doing.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Prioritize the </a:t>
            </a:r>
            <a:r>
              <a:rPr lang="en-US" b="1" dirty="0">
                <a:solidFill>
                  <a:srgbClr val="FF0000"/>
                </a:solidFill>
              </a:rPr>
              <a:t>most important </a:t>
            </a:r>
            <a:r>
              <a:rPr lang="en-US" dirty="0"/>
              <a:t>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Be concise and provide meaningful detail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 </a:t>
            </a:r>
            <a:r>
              <a:rPr lang="en-US" b="1" dirty="0">
                <a:solidFill>
                  <a:srgbClr val="FF0000"/>
                </a:solidFill>
              </a:rPr>
              <a:t>polite!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1458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9BE70620-3C92-6183-A7A3-8DE463F6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B9C6603D-C0C5-8C9D-6779-3FFDC9015AA8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195C6A8E-25B8-6C13-DCE6-312743F068AD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54BC15AB-A5A5-1CAE-242D-D169E18BD348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634FE0E8-9E54-9FA5-2E18-5A9EFDF882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75F101BA-5ADC-702A-D46B-948E949744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Collaborative work with GitHub</a:t>
            </a:r>
            <a:br>
              <a:rPr lang="en" dirty="0"/>
            </a:br>
            <a:r>
              <a:rPr lang="en" dirty="0">
                <a:solidFill>
                  <a:srgbClr val="FF0000"/>
                </a:solidFill>
              </a:rPr>
              <a:t>Code Review Workflow</a:t>
            </a:r>
            <a:r>
              <a:rPr lang="en" dirty="0"/>
              <a:t>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59E07A-343B-0C63-500B-AF8B9E7BD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729004"/>
              </p:ext>
            </p:extLst>
          </p:nvPr>
        </p:nvGraphicFramePr>
        <p:xfrm>
          <a:off x="681926" y="1154624"/>
          <a:ext cx="7780148" cy="336372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67166">
                  <a:extLst>
                    <a:ext uri="{9D8B030D-6E8A-4147-A177-3AD203B41FA5}">
                      <a16:colId xmlns:a16="http://schemas.microsoft.com/office/drawing/2014/main" val="1218523345"/>
                    </a:ext>
                  </a:extLst>
                </a:gridCol>
                <a:gridCol w="1418094">
                  <a:extLst>
                    <a:ext uri="{9D8B030D-6E8A-4147-A177-3AD203B41FA5}">
                      <a16:colId xmlns:a16="http://schemas.microsoft.com/office/drawing/2014/main" val="2632363720"/>
                    </a:ext>
                  </a:extLst>
                </a:gridCol>
                <a:gridCol w="2510726">
                  <a:extLst>
                    <a:ext uri="{9D8B030D-6E8A-4147-A177-3AD203B41FA5}">
                      <a16:colId xmlns:a16="http://schemas.microsoft.com/office/drawing/2014/main" val="1941846888"/>
                    </a:ext>
                  </a:extLst>
                </a:gridCol>
                <a:gridCol w="3084162">
                  <a:extLst>
                    <a:ext uri="{9D8B030D-6E8A-4147-A177-3AD203B41FA5}">
                      <a16:colId xmlns:a16="http://schemas.microsoft.com/office/drawing/2014/main" val="537225772"/>
                    </a:ext>
                  </a:extLst>
                </a:gridCol>
              </a:tblGrid>
              <a:tr h="5606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Who does it?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On GitHub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42226"/>
                  </a:ext>
                </a:extLst>
              </a:tr>
              <a:tr h="56062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PR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“Create pull request”,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assign</a:t>
                      </a:r>
                      <a:r>
                        <a:rPr lang="en-US" dirty="0"/>
                        <a:t> reviewer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094536"/>
                  </a:ext>
                </a:extLst>
              </a:tr>
              <a:tr h="56062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 code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Review changes </a:t>
                      </a:r>
                      <a:r>
                        <a:rPr lang="en-US" dirty="0"/>
                        <a:t>-&gt;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Request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changes/Approve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281808"/>
                  </a:ext>
                </a:extLst>
              </a:tr>
              <a:tr h="56062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 feedback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Commit _ push changes,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Re-request</a:t>
                      </a:r>
                      <a:r>
                        <a:rPr lang="en-US" dirty="0"/>
                        <a:t> review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30951"/>
                  </a:ext>
                </a:extLst>
              </a:tr>
              <a:tr h="56062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fixes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Approve final version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979506"/>
                  </a:ext>
                </a:extLst>
              </a:tr>
              <a:tr h="56062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Merge PR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Author/Reviewer/Maintainer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(Squash &amp;)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merge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delete branch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468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695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77469AC2-AE71-C7DC-2B4E-C78EEEFB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2152CCF3-55B1-A3D9-8F9D-BAC02DAAF9B4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D007E1F6-F9D1-1229-94A6-C6E039D78EA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30E8F36D-0476-A560-5DE7-C8E600553EBD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652DC948-02F7-680C-A6BD-EA965CFB442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7B784E9-31DA-C316-2657-150495D79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9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Collaborative work with GitHub</a:t>
            </a:r>
            <a:br>
              <a:rPr lang="en" dirty="0"/>
            </a:br>
            <a:r>
              <a:rPr lang="en" sz="2200" dirty="0">
                <a:solidFill>
                  <a:srgbClr val="FF0000"/>
                </a:solidFill>
              </a:rPr>
              <a:t>Code Review Workflow – After Receiving Review Comments</a:t>
            </a:r>
            <a:r>
              <a:rPr lang="en" sz="2200" dirty="0"/>
              <a:t> </a:t>
            </a:r>
            <a:endParaRPr sz="2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93917-D4BB-C055-89A6-6FF1D529B1D5}"/>
              </a:ext>
            </a:extLst>
          </p:cNvPr>
          <p:cNvSpPr/>
          <p:nvPr/>
        </p:nvSpPr>
        <p:spPr>
          <a:xfrm>
            <a:off x="3487119" y="1015139"/>
            <a:ext cx="1867545" cy="449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3D7F4-7C02-66B7-4711-6FC376CF37A9}"/>
              </a:ext>
            </a:extLst>
          </p:cNvPr>
          <p:cNvSpPr/>
          <p:nvPr/>
        </p:nvSpPr>
        <p:spPr>
          <a:xfrm>
            <a:off x="3487118" y="1570497"/>
            <a:ext cx="1867545" cy="449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DB4FD-6194-815E-E73B-CF817C8D3C96}"/>
              </a:ext>
            </a:extLst>
          </p:cNvPr>
          <p:cNvSpPr/>
          <p:nvPr/>
        </p:nvSpPr>
        <p:spPr>
          <a:xfrm>
            <a:off x="570854" y="2054620"/>
            <a:ext cx="1867545" cy="572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E6B9C5-9164-940F-1290-D96493CAFE07}"/>
              </a:ext>
            </a:extLst>
          </p:cNvPr>
          <p:cNvSpPr/>
          <p:nvPr/>
        </p:nvSpPr>
        <p:spPr>
          <a:xfrm>
            <a:off x="570854" y="2958689"/>
            <a:ext cx="1867545" cy="7694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58F3E9-7FFC-D82D-C0DD-32FCFC41D504}"/>
              </a:ext>
            </a:extLst>
          </p:cNvPr>
          <p:cNvSpPr/>
          <p:nvPr/>
        </p:nvSpPr>
        <p:spPr>
          <a:xfrm>
            <a:off x="570854" y="4017083"/>
            <a:ext cx="1867545" cy="5890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01B6AF-22B9-02D6-DE09-3401B909076D}"/>
              </a:ext>
            </a:extLst>
          </p:cNvPr>
          <p:cNvSpPr/>
          <p:nvPr/>
        </p:nvSpPr>
        <p:spPr>
          <a:xfrm>
            <a:off x="6666881" y="2106283"/>
            <a:ext cx="1867545" cy="449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98ACE6-5AF4-528D-4F53-240AEF602347}"/>
              </a:ext>
            </a:extLst>
          </p:cNvPr>
          <p:cNvSpPr/>
          <p:nvPr/>
        </p:nvSpPr>
        <p:spPr>
          <a:xfrm>
            <a:off x="7114231" y="2865245"/>
            <a:ext cx="1867545" cy="938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625F1F-C9A5-0E94-DC61-0779AD1CE236}"/>
              </a:ext>
            </a:extLst>
          </p:cNvPr>
          <p:cNvSpPr/>
          <p:nvPr/>
        </p:nvSpPr>
        <p:spPr>
          <a:xfrm>
            <a:off x="4579774" y="2869846"/>
            <a:ext cx="1867545" cy="9341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5F8BCD-0AEC-FA9A-938D-1DB167893EBA}"/>
              </a:ext>
            </a:extLst>
          </p:cNvPr>
          <p:cNvSpPr/>
          <p:nvPr/>
        </p:nvSpPr>
        <p:spPr>
          <a:xfrm>
            <a:off x="3177153" y="4303620"/>
            <a:ext cx="2336359" cy="7101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1F7D58-99BA-7F15-A084-41DA43CB35DA}"/>
              </a:ext>
            </a:extLst>
          </p:cNvPr>
          <p:cNvSpPr txBox="1"/>
          <p:nvPr/>
        </p:nvSpPr>
        <p:spPr>
          <a:xfrm>
            <a:off x="3487117" y="1037260"/>
            <a:ext cx="18675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Author reads review comments on PR</a:t>
            </a:r>
            <a:endParaRPr lang="LID4096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3B04D9-245E-0DBB-6C70-09F838F9A792}"/>
              </a:ext>
            </a:extLst>
          </p:cNvPr>
          <p:cNvSpPr txBox="1"/>
          <p:nvPr/>
        </p:nvSpPr>
        <p:spPr>
          <a:xfrm>
            <a:off x="3487116" y="1637004"/>
            <a:ext cx="18055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Has `main` changed since branch was created?</a:t>
            </a:r>
            <a:endParaRPr lang="LID4096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889419-4052-28C8-31F1-85D5B5CC55C4}"/>
              </a:ext>
            </a:extLst>
          </p:cNvPr>
          <p:cNvSpPr txBox="1"/>
          <p:nvPr/>
        </p:nvSpPr>
        <p:spPr>
          <a:xfrm>
            <a:off x="609574" y="2083031"/>
            <a:ext cx="19708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Stay on your feature branch, implement requested changes</a:t>
            </a:r>
            <a:endParaRPr lang="LID4096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98FAF7-3821-3245-2395-8F486E039BC2}"/>
              </a:ext>
            </a:extLst>
          </p:cNvPr>
          <p:cNvSpPr txBox="1"/>
          <p:nvPr/>
        </p:nvSpPr>
        <p:spPr>
          <a:xfrm>
            <a:off x="596672" y="2976441"/>
            <a:ext cx="19708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git switch feature branch</a:t>
            </a:r>
          </a:p>
          <a:p>
            <a:r>
              <a:rPr lang="en-US" sz="1100" dirty="0"/>
              <a:t>git add .</a:t>
            </a:r>
          </a:p>
          <a:p>
            <a:r>
              <a:rPr lang="en-US" sz="1100" dirty="0"/>
              <a:t>git commit –m “Message”</a:t>
            </a:r>
          </a:p>
          <a:p>
            <a:r>
              <a:rPr lang="en-US" sz="1100" dirty="0"/>
              <a:t>git push</a:t>
            </a:r>
            <a:endParaRPr lang="LID4096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42187F-B380-4C59-AA8C-96D2D49CFAA0}"/>
              </a:ext>
            </a:extLst>
          </p:cNvPr>
          <p:cNvSpPr txBox="1"/>
          <p:nvPr/>
        </p:nvSpPr>
        <p:spPr>
          <a:xfrm>
            <a:off x="565687" y="4031000"/>
            <a:ext cx="195020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Reply to comments -&gt; Resolve threads</a:t>
            </a:r>
          </a:p>
          <a:p>
            <a:r>
              <a:rPr lang="en-US" sz="1100" dirty="0"/>
              <a:t>Re-request review if needed</a:t>
            </a:r>
            <a:endParaRPr lang="LID4096" sz="11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F4A847-B53F-3761-8B81-FBFC28157182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4420891" y="1464590"/>
            <a:ext cx="1" cy="105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C78CF3A-0A5E-F03B-7693-132A91E881F6}"/>
              </a:ext>
            </a:extLst>
          </p:cNvPr>
          <p:cNvCxnSpPr>
            <a:cxnSpLocks/>
            <a:stCxn id="3" idx="1"/>
            <a:endCxn id="5" idx="0"/>
          </p:cNvCxnSpPr>
          <p:nvPr/>
        </p:nvCxnSpPr>
        <p:spPr>
          <a:xfrm flipH="1">
            <a:off x="1504627" y="1795223"/>
            <a:ext cx="1982491" cy="259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A2DB28-485B-DBEB-06A5-8674EE906222}"/>
              </a:ext>
            </a:extLst>
          </p:cNvPr>
          <p:cNvCxnSpPr/>
          <p:nvPr/>
        </p:nvCxnSpPr>
        <p:spPr>
          <a:xfrm>
            <a:off x="1425844" y="2627320"/>
            <a:ext cx="0" cy="33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91D99D-5E58-5FB0-8FAB-24F658DD53A2}"/>
              </a:ext>
            </a:extLst>
          </p:cNvPr>
          <p:cNvCxnSpPr>
            <a:cxnSpLocks/>
          </p:cNvCxnSpPr>
          <p:nvPr/>
        </p:nvCxnSpPr>
        <p:spPr>
          <a:xfrm>
            <a:off x="1431013" y="3725116"/>
            <a:ext cx="0" cy="291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E3609D1-9FEB-605A-9B69-4A9FCE68929B}"/>
              </a:ext>
            </a:extLst>
          </p:cNvPr>
          <p:cNvSpPr txBox="1"/>
          <p:nvPr/>
        </p:nvSpPr>
        <p:spPr>
          <a:xfrm>
            <a:off x="1168223" y="1650341"/>
            <a:ext cx="41389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46647D-3CF4-0E06-13D4-96C4A584CEB5}"/>
              </a:ext>
            </a:extLst>
          </p:cNvPr>
          <p:cNvSpPr txBox="1"/>
          <p:nvPr/>
        </p:nvSpPr>
        <p:spPr>
          <a:xfrm>
            <a:off x="6666881" y="2095780"/>
            <a:ext cx="19894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Update feature branch with latest ‘main’</a:t>
            </a:r>
            <a:endParaRPr lang="LID4096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C72504-9E37-9E79-3753-DED652F0DD87}"/>
              </a:ext>
            </a:extLst>
          </p:cNvPr>
          <p:cNvSpPr txBox="1"/>
          <p:nvPr/>
        </p:nvSpPr>
        <p:spPr>
          <a:xfrm>
            <a:off x="4528099" y="2928092"/>
            <a:ext cx="19708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git switch feature branch</a:t>
            </a:r>
          </a:p>
          <a:p>
            <a:r>
              <a:rPr lang="en-US" sz="1100" dirty="0"/>
              <a:t>git fetch origin</a:t>
            </a:r>
          </a:p>
          <a:p>
            <a:r>
              <a:rPr lang="en-US" sz="1100" dirty="0"/>
              <a:t>git merge origin/main</a:t>
            </a:r>
          </a:p>
          <a:p>
            <a:r>
              <a:rPr lang="en-US" sz="1100" dirty="0"/>
              <a:t>#resolve conflicts -&gt; git push</a:t>
            </a:r>
            <a:endParaRPr lang="LID4096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E873F6-AE5A-B8FB-2827-F6860A8BC43D}"/>
              </a:ext>
            </a:extLst>
          </p:cNvPr>
          <p:cNvSpPr txBox="1"/>
          <p:nvPr/>
        </p:nvSpPr>
        <p:spPr>
          <a:xfrm>
            <a:off x="7095666" y="2854186"/>
            <a:ext cx="179087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git switch feature branch</a:t>
            </a:r>
          </a:p>
          <a:p>
            <a:r>
              <a:rPr lang="en-US" sz="1100" dirty="0"/>
              <a:t>git fetch origin</a:t>
            </a:r>
          </a:p>
          <a:p>
            <a:r>
              <a:rPr lang="en-US" sz="1100" dirty="0"/>
              <a:t>git rebase origin/main</a:t>
            </a:r>
          </a:p>
          <a:p>
            <a:r>
              <a:rPr lang="en-US" sz="1100" dirty="0"/>
              <a:t>#resolve conflicts </a:t>
            </a:r>
          </a:p>
          <a:p>
            <a:r>
              <a:rPr lang="en-US" sz="1100" dirty="0"/>
              <a:t>git push –force-with-lease</a:t>
            </a:r>
            <a:endParaRPr lang="LID4096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DFE25F-D6AE-2180-5F21-74D048FDB2B0}"/>
              </a:ext>
            </a:extLst>
          </p:cNvPr>
          <p:cNvSpPr txBox="1"/>
          <p:nvPr/>
        </p:nvSpPr>
        <p:spPr>
          <a:xfrm>
            <a:off x="3116470" y="4273984"/>
            <a:ext cx="24577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 updates automatically on GitHub</a:t>
            </a:r>
          </a:p>
          <a:p>
            <a:r>
              <a:rPr lang="en-US" sz="1100" dirty="0"/>
              <a:t>Run checks</a:t>
            </a:r>
          </a:p>
          <a:p>
            <a:r>
              <a:rPr lang="en-US" sz="1100" dirty="0"/>
              <a:t>Reviewer re-checks</a:t>
            </a:r>
          </a:p>
          <a:p>
            <a:r>
              <a:rPr lang="en-US" sz="1100" dirty="0"/>
              <a:t>Approve &amp; Merge</a:t>
            </a:r>
            <a:endParaRPr lang="LID4096" sz="11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AD6110E-3C6A-9951-1752-DFC1F82BC1E6}"/>
              </a:ext>
            </a:extLst>
          </p:cNvPr>
          <p:cNvCxnSpPr>
            <a:stCxn id="3" idx="3"/>
            <a:endCxn id="32" idx="0"/>
          </p:cNvCxnSpPr>
          <p:nvPr/>
        </p:nvCxnSpPr>
        <p:spPr>
          <a:xfrm>
            <a:off x="5354663" y="1795223"/>
            <a:ext cx="2306934" cy="30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1F59E3F-3347-6A5A-E9A5-91C0D6B30828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 flipH="1">
            <a:off x="5513547" y="2555734"/>
            <a:ext cx="2087107" cy="314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39F481-5C5A-8C32-C2F1-B9A6E0804B83}"/>
              </a:ext>
            </a:extLst>
          </p:cNvPr>
          <p:cNvCxnSpPr>
            <a:stCxn id="11" idx="2"/>
            <a:endCxn id="34" idx="0"/>
          </p:cNvCxnSpPr>
          <p:nvPr/>
        </p:nvCxnSpPr>
        <p:spPr>
          <a:xfrm>
            <a:off x="7600654" y="2555734"/>
            <a:ext cx="390450" cy="298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1044DCD-642E-056C-8033-BB58C0E0537C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438399" y="4215902"/>
            <a:ext cx="678071" cy="442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5C62AFD-F548-66B1-0B17-54334ED45510}"/>
              </a:ext>
            </a:extLst>
          </p:cNvPr>
          <p:cNvCxnSpPr>
            <a:stCxn id="14" idx="2"/>
            <a:endCxn id="35" idx="0"/>
          </p:cNvCxnSpPr>
          <p:nvPr/>
        </p:nvCxnSpPr>
        <p:spPr>
          <a:xfrm flipH="1">
            <a:off x="4345332" y="3803964"/>
            <a:ext cx="1168215" cy="47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BDA086-5495-56B8-B925-DE2DDFFEFA19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 flipH="1">
            <a:off x="4345332" y="3792905"/>
            <a:ext cx="3645772" cy="481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3B96124-ED96-0B33-9E6A-6DD51C49908E}"/>
              </a:ext>
            </a:extLst>
          </p:cNvPr>
          <p:cNvSpPr txBox="1"/>
          <p:nvPr/>
        </p:nvSpPr>
        <p:spPr>
          <a:xfrm>
            <a:off x="7247701" y="1697072"/>
            <a:ext cx="49404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Yes</a:t>
            </a:r>
            <a:endParaRPr lang="LID4096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7496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RECAP</a:t>
            </a:r>
            <a:endParaRPr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0000"/>
                </a:solidFill>
              </a:rPr>
              <a:t>Daily Workflow</a:t>
            </a:r>
            <a:endParaRPr sz="2000" dirty="0">
              <a:solidFill>
                <a:srgbClr val="FF0000"/>
              </a:solidFill>
            </a:endParaRPr>
          </a:p>
        </p:txBody>
      </p:sp>
      <p:sp>
        <p:nvSpPr>
          <p:cNvPr id="931" name="Google Shape;931;p80"/>
          <p:cNvSpPr txBox="1">
            <a:spLocks noGrp="1"/>
          </p:cNvSpPr>
          <p:nvPr>
            <p:ph type="body" idx="1"/>
          </p:nvPr>
        </p:nvSpPr>
        <p:spPr>
          <a:xfrm>
            <a:off x="141900" y="716280"/>
            <a:ext cx="8860200" cy="43281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pull origin main</a:t>
            </a: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 dirty="0">
                <a:solidFill>
                  <a:schemeClr val="dk1"/>
                </a:solidFill>
              </a:rPr>
              <a:t>: Fetch and merge the latest changes from the remote  `master` (or `main`) branch into your local                                            		   branch.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endParaRPr lang="en"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&lt;feature_branch&gt; </a:t>
            </a:r>
            <a:r>
              <a:rPr lang="en" sz="1100" dirty="0">
                <a:solidFill>
                  <a:schemeClr val="dk1"/>
                </a:solidFill>
              </a:rPr>
              <a:t>: Switch to the local branch you want to work on.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status              </a:t>
            </a:r>
            <a:r>
              <a:rPr lang="en" sz="1100" dirty="0">
                <a:solidFill>
                  <a:schemeClr val="dk1"/>
                </a:solidFill>
              </a:rPr>
              <a:t>: Check the current status of your repo.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U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 merge origin/main   : </a:t>
            </a:r>
            <a:r>
              <a:rPr lang="en" sz="1100" dirty="0">
                <a:solidFill>
                  <a:schemeClr val="dk1"/>
                </a:solidFill>
                <a:latin typeface="+mj-lt"/>
                <a:ea typeface="Courier New"/>
                <a:cs typeface="Courier New"/>
                <a:sym typeface="Courier New"/>
              </a:rPr>
              <a:t>Bring your branch up to date</a:t>
            </a:r>
            <a:endParaRPr sz="1100" dirty="0">
              <a:solidFill>
                <a:schemeClr val="dk1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b="1" dirty="0">
                <a:solidFill>
                  <a:schemeClr val="dk1"/>
                </a:solidFill>
              </a:rPr>
              <a:t>Work on my project                   </a:t>
            </a:r>
            <a:r>
              <a:rPr lang="en" sz="1100" dirty="0">
                <a:solidFill>
                  <a:schemeClr val="dk1"/>
                </a:solidFill>
              </a:rPr>
              <a:t>: Continue working on your project if you are happy with the current status.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add file(s)         </a:t>
            </a:r>
            <a:r>
              <a:rPr lang="en" sz="1100" dirty="0">
                <a:solidFill>
                  <a:schemeClr val="dk1"/>
                </a:solidFill>
              </a:rPr>
              <a:t>: Stage your changes often.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“Message” </a:t>
            </a:r>
            <a:r>
              <a:rPr lang="en" sz="1100" dirty="0">
                <a:solidFill>
                  <a:schemeClr val="dk1"/>
                </a:solidFill>
              </a:rPr>
              <a:t>: Commit your staged changes. Make frequent and small commits.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b="1" dirty="0">
                <a:solidFill>
                  <a:schemeClr val="dk1"/>
                </a:solidFill>
              </a:rPr>
              <a:t>Happy with results    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US" sz="11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" sz="11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 push –u origin &lt;feature_branch&gt; </a:t>
            </a:r>
            <a:r>
              <a:rPr lang="en" sz="1100" dirty="0">
                <a:solidFill>
                  <a:schemeClr val="dk1"/>
                </a:solidFill>
              </a:rPr>
              <a:t>: If it </a:t>
            </a:r>
            <a:r>
              <a:rPr lang="en-US" sz="1100" dirty="0">
                <a:solidFill>
                  <a:schemeClr val="dk1"/>
                </a:solidFill>
              </a:rPr>
              <a:t>is the first time that the branch is created and you want to track the remote branch,</a:t>
            </a:r>
            <a:r>
              <a:rPr lang="en" sz="1100" dirty="0">
                <a:solidFill>
                  <a:schemeClr val="dk1"/>
                </a:solidFill>
              </a:rPr>
              <a:t> use    	                                                         the option `</a:t>
            </a:r>
            <a:r>
              <a:rPr lang="en" sz="11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-u</a:t>
            </a:r>
            <a:r>
              <a:rPr lang="en" sz="1100" dirty="0">
                <a:solidFill>
                  <a:schemeClr val="dk1"/>
                </a:solidFill>
              </a:rPr>
              <a:t>` . Otherwise, you can omit this option.   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push origin &lt;feature_branch&gt; </a:t>
            </a:r>
            <a:r>
              <a:rPr lang="en" sz="1100" dirty="0">
                <a:solidFill>
                  <a:schemeClr val="dk1"/>
                </a:solidFill>
              </a:rPr>
              <a:t>: </a:t>
            </a:r>
            <a:r>
              <a:rPr lang="en-US" sz="1100" dirty="0">
                <a:solidFill>
                  <a:schemeClr val="tx1"/>
                </a:solidFill>
              </a:rPr>
              <a:t>Push your local branch to the remote repository (not directly to `master` or `main`)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US" sz="1100" b="1" dirty="0">
                <a:solidFill>
                  <a:schemeClr val="tx1"/>
                </a:solidFill>
              </a:rPr>
              <a:t>Create a Pull Request (PR )         </a:t>
            </a:r>
            <a:r>
              <a:rPr lang="en-US" sz="1100" dirty="0">
                <a:solidFill>
                  <a:schemeClr val="tx1"/>
                </a:solidFill>
              </a:rPr>
              <a:t>: On GitHub/GitLab, open a pull request for code review and approval. Assign a reviewer.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US" sz="1100" dirty="0">
                <a:solidFill>
                  <a:schemeClr val="tx1"/>
                </a:solidFill>
              </a:rPr>
              <a:t>Merge to master/main                    : Once approved, the reviewer merges the changes into the main branch.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switch main          :</a:t>
            </a:r>
            <a:r>
              <a:rPr lang="en-US" sz="1100" dirty="0">
                <a:solidFill>
                  <a:schemeClr val="tx1"/>
                </a:solidFill>
                <a:latin typeface="+mn-lt"/>
                <a:cs typeface="Courier New" panose="02070309020205020404" pitchFamily="49" charset="0"/>
              </a:rPr>
              <a:t>Switch to the master branch (or main branch).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U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pull origin main</a:t>
            </a:r>
            <a:r>
              <a:rPr lang="en" sz="1100" dirty="0">
                <a:solidFill>
                  <a:schemeClr val="dk1"/>
                </a:solidFill>
              </a:rPr>
              <a:t>            : </a:t>
            </a:r>
            <a:r>
              <a:rPr lang="en-US" sz="1100" dirty="0">
                <a:solidFill>
                  <a:schemeClr val="tx1"/>
                </a:solidFill>
              </a:rPr>
              <a:t>Update your local repository with the latest changes from master (or main)</a:t>
            </a:r>
            <a:endParaRPr sz="1100" dirty="0">
              <a:solidFill>
                <a:schemeClr val="tx1"/>
              </a:solidFill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16947585-330A-08CF-1BAC-9554E899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2641F1DF-8B0D-6E98-7875-76B2E474504B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D5910E3A-E6F7-F87C-26FF-A9BFF9E2768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A608C44D-527E-900F-5FD9-A3DDC8BC870F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4379D1C4-76FA-22E6-19DB-7C0B8B2BFAC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2EA533E9-C909-EDA4-6D83-0290013996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62649" y="1834521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01062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1A8199C7-F50D-E643-E17A-3C410DBE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63D66122-5AD6-FA03-486B-A734329C3FF1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D2173B2C-FA90-193A-4155-A0E8E270FDF5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908A9C6C-9FE5-2DE9-2087-545E16C44644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F9D61736-9850-C8C2-ACE6-1FA79215469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2DE21504-6238-AB27-C438-0DA224C9DA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966413-5139-A6C3-6207-91040911BF83}"/>
              </a:ext>
            </a:extLst>
          </p:cNvPr>
          <p:cNvSpPr txBox="1"/>
          <p:nvPr/>
        </p:nvSpPr>
        <p:spPr>
          <a:xfrm>
            <a:off x="526941" y="1069383"/>
            <a:ext cx="65790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is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A merge conflict happens when Git </a:t>
            </a:r>
            <a:r>
              <a:rPr lang="en-US" b="1" dirty="0">
                <a:solidFill>
                  <a:srgbClr val="FF0000"/>
                </a:solidFill>
              </a:rPr>
              <a:t>can’t automatically combine changes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from two branches because the same part of a file (or its structure) was edited differently.</a:t>
            </a:r>
            <a:endParaRPr lang="LID4096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26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FD7B28C3-C4CE-65E6-AFD4-9DD891E3C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E267937F-3E4D-BF8A-210A-BF8E3259C826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929BD974-03C5-5E8C-DB2A-6D8FB129C8D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9FC6203E-B3DB-6A78-A650-CB484EEB20A1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AB76B284-9484-0E7C-B6F7-E6B70207C6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B39DBB87-4447-EE1C-32F3-C293164BA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ADC1BD-D8BB-5D77-5809-0E71EBB713BA}"/>
              </a:ext>
            </a:extLst>
          </p:cNvPr>
          <p:cNvSpPr txBox="1"/>
          <p:nvPr/>
        </p:nvSpPr>
        <p:spPr>
          <a:xfrm>
            <a:off x="526941" y="1069383"/>
            <a:ext cx="65790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is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A merge conflict happens when Git </a:t>
            </a:r>
            <a:r>
              <a:rPr lang="en-US" b="1" dirty="0">
                <a:solidFill>
                  <a:srgbClr val="FF0000"/>
                </a:solidFill>
              </a:rPr>
              <a:t>can’t automatically combine changes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from two branches because the same part of a file (or its structure) was edited differently.</a:t>
            </a:r>
          </a:p>
        </p:txBody>
      </p:sp>
    </p:spTree>
    <p:extLst>
      <p:ext uri="{BB962C8B-B14F-4D97-AF65-F5344CB8AC3E}">
        <p14:creationId xmlns:p14="http://schemas.microsoft.com/office/powerpoint/2010/main" val="3704266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19A77F1B-57E3-2E57-69EB-9FAFD10A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2596511F-6D4E-0D7A-BF64-5CE4BC2146CD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594957D8-F618-6B42-4016-4FBD8E05C79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3E1E9A88-AA21-5A6A-EDCC-C4BA70617748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549D8EAB-8521-4FD0-54B8-7B6BA61D4E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02D79ED1-2575-1157-A71B-B152C7DFA7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F00081-2F62-1148-4117-29648DD03589}"/>
              </a:ext>
            </a:extLst>
          </p:cNvPr>
          <p:cNvSpPr txBox="1"/>
          <p:nvPr/>
        </p:nvSpPr>
        <p:spPr>
          <a:xfrm>
            <a:off x="526941" y="1069383"/>
            <a:ext cx="799712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solve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Scenario 1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You’ve been working on feature branch, and meanwhile, someone else changed the same file (and same lines) on main.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switch main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pull origin main     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or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merge feature-branch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If both branches modified the same lines or file structure → </a:t>
            </a:r>
            <a:r>
              <a:rPr lang="en-US" b="1" dirty="0"/>
              <a:t>conflict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1153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19EFF52A-4ED1-91B5-9D19-9F38FB26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05FEEACC-85CA-4995-D566-EBA9BBB2C8A3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E61971CD-B60E-AD60-2055-DAD790AA006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9E885675-61B7-B82F-8F2F-DA9165091C5B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0DFE4599-733F-22DB-7355-A3D91D1ADDD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82421DAC-5E0B-CE1F-F6C5-67BF55FB5D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CDA8B-F23E-92E7-CABE-333BB4229FD1}"/>
              </a:ext>
            </a:extLst>
          </p:cNvPr>
          <p:cNvSpPr txBox="1"/>
          <p:nvPr/>
        </p:nvSpPr>
        <p:spPr>
          <a:xfrm>
            <a:off x="526941" y="1069383"/>
            <a:ext cx="799712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solve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Scenario 1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Open the conflicted file in Terminal with text editor or in your VS Code: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&lt;&lt;&lt;&lt;&lt;&lt;&lt;&lt;&lt; HEAD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from main branch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===========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from feature-branch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&gt;&gt;&gt;&gt;&gt;&gt;&gt;&gt;&gt;&gt; feature-branch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100B5D-2069-2EB4-CDDC-BAD5DFC949F4}"/>
              </a:ext>
            </a:extLst>
          </p:cNvPr>
          <p:cNvCxnSpPr>
            <a:cxnSpLocks/>
          </p:cNvCxnSpPr>
          <p:nvPr/>
        </p:nvCxnSpPr>
        <p:spPr>
          <a:xfrm>
            <a:off x="3704095" y="2464231"/>
            <a:ext cx="1139125" cy="255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3FEBBD-95A0-B56F-42D5-DC54399ECC55}"/>
              </a:ext>
            </a:extLst>
          </p:cNvPr>
          <p:cNvCxnSpPr/>
          <p:nvPr/>
        </p:nvCxnSpPr>
        <p:spPr>
          <a:xfrm flipV="1">
            <a:off x="3518115" y="2774197"/>
            <a:ext cx="1294109" cy="573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56BDC6-4C25-316B-7D3E-388565172A14}"/>
              </a:ext>
            </a:extLst>
          </p:cNvPr>
          <p:cNvSpPr txBox="1"/>
          <p:nvPr/>
        </p:nvSpPr>
        <p:spPr>
          <a:xfrm>
            <a:off x="4884540" y="2571750"/>
            <a:ext cx="1899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Conflict markers</a:t>
            </a:r>
            <a:endParaRPr lang="LID4096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7134DD-B6DC-806C-0371-EA5F03A33928}"/>
              </a:ext>
            </a:extLst>
          </p:cNvPr>
          <p:cNvCxnSpPr/>
          <p:nvPr/>
        </p:nvCxnSpPr>
        <p:spPr>
          <a:xfrm flipV="1">
            <a:off x="1906292" y="2774197"/>
            <a:ext cx="2905932" cy="105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3021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1DB6316C-9F78-07E8-2B96-A9DFADAE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460898E3-5804-B386-3CDE-1A35FEB96512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BDB5EE77-5F48-234E-2EE7-989973E3107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1BF50CB5-1CBB-25CF-539C-DB6D2B56E63D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7E2AA0E5-0C2F-FC2B-5295-DEBAA89E8CC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6B37F0DF-3A6B-D76C-CBD4-F775BCECD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1C1BD-5146-E645-4A96-72EEC47F2130}"/>
              </a:ext>
            </a:extLst>
          </p:cNvPr>
          <p:cNvSpPr txBox="1"/>
          <p:nvPr/>
        </p:nvSpPr>
        <p:spPr>
          <a:xfrm>
            <a:off x="526941" y="1069383"/>
            <a:ext cx="799712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solve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Scenario 1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Open the conflicted file in Terminal with text editor or in your VS Code: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&lt;&lt;&lt;&lt;&lt;&lt;&lt;&lt;&lt; HEAD                      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from main branch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===========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from feature-branch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&gt;&gt;&gt;&gt;&gt;&gt;&gt;&gt;&gt;&gt; feature-branch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A0598-7E47-58F2-E4B6-79812637C3BA}"/>
              </a:ext>
            </a:extLst>
          </p:cNvPr>
          <p:cNvSpPr txBox="1"/>
          <p:nvPr/>
        </p:nvSpPr>
        <p:spPr>
          <a:xfrm>
            <a:off x="4321844" y="2388076"/>
            <a:ext cx="432041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have 3 options:</a:t>
            </a:r>
          </a:p>
          <a:p>
            <a:pPr marL="342900" indent="-342900">
              <a:buAutoNum type="arabicParenR"/>
            </a:pPr>
            <a:r>
              <a:rPr lang="en-US" dirty="0"/>
              <a:t>Keep main (Accept current change)</a:t>
            </a:r>
          </a:p>
          <a:p>
            <a:pPr marL="342900" indent="-342900">
              <a:buAutoNum type="arabicParenR"/>
            </a:pPr>
            <a:r>
              <a:rPr lang="en-US" dirty="0"/>
              <a:t>Keep feature-branch (Accept incoming Change)</a:t>
            </a:r>
          </a:p>
          <a:p>
            <a:pPr marL="342900" indent="-342900">
              <a:buAutoNum type="arabicParenR"/>
            </a:pPr>
            <a:r>
              <a:rPr lang="en-US" dirty="0"/>
              <a:t>Accept both changes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40233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CBB2D07C-C220-E15B-02DF-3C2FCFAE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FBC15669-7528-B0D9-CB70-97B3665F45AC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48A35681-7163-13A5-8324-AE42D5226B5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D6856DAE-22BC-7237-2AD0-C2536C32A984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95AC5A33-A71B-653C-77FF-64F1876C1A8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D340D6C2-A987-C85B-0F16-1D5FE8F030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6861E8-38BC-E24E-BA9B-0100ECE81ADE}"/>
              </a:ext>
            </a:extLst>
          </p:cNvPr>
          <p:cNvSpPr txBox="1"/>
          <p:nvPr/>
        </p:nvSpPr>
        <p:spPr>
          <a:xfrm>
            <a:off x="526941" y="1069383"/>
            <a:ext cx="799712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solve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Scenario 1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Open the conflicted file in Terminal with text editor or in your VS Code: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&lt;&lt;&lt;&lt;&lt;&lt;&lt;&lt;&lt; HEAD                      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from main branch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===========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from feature-branch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&gt;&gt;&gt;&gt;&gt;&gt;&gt;&gt;&gt;&gt; feature-branch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FD50-3E58-2CF0-0765-2429A36C2B4E}"/>
              </a:ext>
            </a:extLst>
          </p:cNvPr>
          <p:cNvSpPr txBox="1"/>
          <p:nvPr/>
        </p:nvSpPr>
        <p:spPr>
          <a:xfrm>
            <a:off x="4321844" y="2388076"/>
            <a:ext cx="38922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Then:</a:t>
            </a:r>
          </a:p>
          <a:p>
            <a:pPr marL="342900" indent="-342900">
              <a:buAutoNum type="arabicParenR"/>
            </a:pPr>
            <a:r>
              <a:rPr lang="en-US" dirty="0"/>
              <a:t>Pick up the right option</a:t>
            </a:r>
          </a:p>
          <a:p>
            <a:pPr marL="342900" indent="-342900">
              <a:buAutoNum type="arabicParenR"/>
            </a:pPr>
            <a:r>
              <a:rPr lang="en-US" dirty="0"/>
              <a:t>Stage and commit the resolution</a:t>
            </a:r>
          </a:p>
          <a:p>
            <a:pPr marL="342900" indent="-342900">
              <a:buAutoNum type="arabicParenR"/>
            </a:pPr>
            <a:r>
              <a:rPr lang="en-US" dirty="0"/>
              <a:t>Continue merge or push updated branch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441421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658E712A-EA7A-6259-090A-E8F18394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0C0141DF-776D-55D6-1E5E-A5788D63D978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B28B059B-8FFA-EEE2-6D16-758DC301738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F3F13647-AB61-FECE-5F10-A76B1E8ABE43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81E18DC8-A972-672E-BE0B-180D3DDA7FE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43DFDDBF-98A2-6989-B9E7-EB0290F2B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486A7C-C2F1-798E-76BD-47825652BBAD}"/>
              </a:ext>
            </a:extLst>
          </p:cNvPr>
          <p:cNvSpPr txBox="1"/>
          <p:nvPr/>
        </p:nvSpPr>
        <p:spPr>
          <a:xfrm>
            <a:off x="526941" y="1069383"/>
            <a:ext cx="79971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solve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Scenario 2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You and a teammate changed the same file locally and both pushed to the same branch.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pull origin main     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Git can’t automatically merge→ </a:t>
            </a:r>
            <a:r>
              <a:rPr lang="en-US" b="1" dirty="0"/>
              <a:t>conflict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0384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8ADB0FBC-4189-E46D-C911-70F044C9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1A176C4B-2141-E5D2-47BC-DFD40646C44A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4E67341F-1DA7-3FDD-03D1-AFFD82F1803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950BC2A1-D941-115C-DE8C-83DDDA7082C3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6725A372-4C43-7791-E3FA-5353DFF94DF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B043653E-1A4E-B862-146B-C241210C3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83889-C06B-B473-EA51-2C4377ECEBF6}"/>
              </a:ext>
            </a:extLst>
          </p:cNvPr>
          <p:cNvSpPr txBox="1"/>
          <p:nvPr/>
        </p:nvSpPr>
        <p:spPr>
          <a:xfrm>
            <a:off x="526941" y="1069383"/>
            <a:ext cx="79971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solve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Scenario 2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5D960-C5FC-8DAC-DE24-8B7AD95F681F}"/>
              </a:ext>
            </a:extLst>
          </p:cNvPr>
          <p:cNvSpPr txBox="1"/>
          <p:nvPr/>
        </p:nvSpPr>
        <p:spPr>
          <a:xfrm>
            <a:off x="470515" y="1834659"/>
            <a:ext cx="432041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have 3 options:</a:t>
            </a:r>
          </a:p>
          <a:p>
            <a:pPr marL="342900" indent="-342900">
              <a:buAutoNum type="arabicParenR"/>
            </a:pPr>
            <a:r>
              <a:rPr lang="en-US" dirty="0"/>
              <a:t>Keep main (Accept current change)</a:t>
            </a:r>
          </a:p>
          <a:p>
            <a:pPr marL="342900" indent="-342900">
              <a:buAutoNum type="arabicParenR"/>
            </a:pPr>
            <a:r>
              <a:rPr lang="en-US" dirty="0"/>
              <a:t>Keep feature-branch (Accept incoming Change)</a:t>
            </a:r>
          </a:p>
          <a:p>
            <a:pPr marL="342900" indent="-342900">
              <a:buAutoNum type="arabicParenR"/>
            </a:pPr>
            <a:r>
              <a:rPr lang="en-US" dirty="0"/>
              <a:t>Accept both changes</a:t>
            </a:r>
          </a:p>
          <a:p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031CD-44C9-D5F7-5024-95E0FE543CBC}"/>
              </a:ext>
            </a:extLst>
          </p:cNvPr>
          <p:cNvSpPr txBox="1"/>
          <p:nvPr/>
        </p:nvSpPr>
        <p:spPr>
          <a:xfrm>
            <a:off x="470515" y="2943807"/>
            <a:ext cx="38922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Then:</a:t>
            </a:r>
          </a:p>
          <a:p>
            <a:pPr marL="342900" indent="-342900">
              <a:buAutoNum type="arabicParenR"/>
            </a:pPr>
            <a:r>
              <a:rPr lang="en-US" dirty="0"/>
              <a:t>Pick up the right option</a:t>
            </a:r>
          </a:p>
          <a:p>
            <a:pPr marL="342900" indent="-342900">
              <a:buAutoNum type="arabicParenR"/>
            </a:pPr>
            <a:r>
              <a:rPr lang="en-US" dirty="0"/>
              <a:t>Stage and commit the resolution</a:t>
            </a:r>
          </a:p>
          <a:p>
            <a:pPr marL="342900" indent="-342900">
              <a:buAutoNum type="arabicParenR"/>
            </a:pPr>
            <a:r>
              <a:rPr lang="en-US" dirty="0"/>
              <a:t>Continue merge or push updated branch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741767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BC08545C-700B-EE7A-0A92-8881A3FD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8F92FE7A-131C-030F-DC37-1A52B86BEAF9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BD325DED-6501-F730-A24D-F653A9500C0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09C979E3-229D-AF8A-4F85-2EFD0D619EBA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63ED1E23-B6ED-A9D3-B077-ADCE00B5456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572AAF8A-A2B0-6943-BC72-E02085FC3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9755" y="222697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Conflicts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AC9D5-4BFF-9787-E1C9-F072D7DB3E82}"/>
              </a:ext>
            </a:extLst>
          </p:cNvPr>
          <p:cNvSpPr txBox="1"/>
          <p:nvPr/>
        </p:nvSpPr>
        <p:spPr>
          <a:xfrm>
            <a:off x="526941" y="1069383"/>
            <a:ext cx="65790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prevent a merge conflicts?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3C293-1CCF-234D-6764-8EC9E03B638C}"/>
              </a:ext>
            </a:extLst>
          </p:cNvPr>
          <p:cNvSpPr txBox="1"/>
          <p:nvPr/>
        </p:nvSpPr>
        <p:spPr>
          <a:xfrm>
            <a:off x="604434" y="1500270"/>
            <a:ext cx="671530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Pull often</a:t>
            </a:r>
            <a:r>
              <a:rPr lang="en-US" dirty="0"/>
              <a:t>: Keep your branch close to main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Make small, focused commits</a:t>
            </a:r>
            <a:r>
              <a:rPr lang="en-US" dirty="0"/>
              <a:t>: Fewer unrelated changes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Communicate</a:t>
            </a:r>
            <a:r>
              <a:rPr lang="en-US" dirty="0"/>
              <a:t> with teammates editing the same area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Use feature branches</a:t>
            </a:r>
            <a:r>
              <a:rPr lang="en-US" dirty="0"/>
              <a:t>: Don’t all work on main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Resolve conflicts early</a:t>
            </a:r>
            <a:r>
              <a:rPr lang="en-US" dirty="0"/>
              <a:t>: Don’t let branches go untouched for a very long time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883107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9E602F71-2269-2AB9-C964-3DC1CEBE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>
            <a:extLst>
              <a:ext uri="{FF2B5EF4-FFF2-40B4-BE49-F238E27FC236}">
                <a16:creationId xmlns:a16="http://schemas.microsoft.com/office/drawing/2014/main" id="{50E54FE5-0B29-F01F-7364-9DBB62287407}"/>
              </a:ext>
            </a:extLst>
          </p:cNvPr>
          <p:cNvGrpSpPr/>
          <p:nvPr/>
        </p:nvGrpSpPr>
        <p:grpSpPr>
          <a:xfrm>
            <a:off x="5936835" y="4508150"/>
            <a:ext cx="3200201" cy="603542"/>
            <a:chOff x="4641225" y="4279392"/>
            <a:chExt cx="4171817" cy="790597"/>
          </a:xfrm>
        </p:grpSpPr>
        <p:pic>
          <p:nvPicPr>
            <p:cNvPr id="65" name="Google Shape;65;p14">
              <a:extLst>
                <a:ext uri="{FF2B5EF4-FFF2-40B4-BE49-F238E27FC236}">
                  <a16:creationId xmlns:a16="http://schemas.microsoft.com/office/drawing/2014/main" id="{E21D8185-9173-378E-529D-61D3F1E884B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1225" y="4292750"/>
              <a:ext cx="2895220" cy="77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4A711F46-7CBA-5C96-C412-B8E3440A295A}"/>
                </a:ext>
              </a:extLst>
            </p:cNvPr>
            <p:cNvSpPr txBox="1"/>
            <p:nvPr/>
          </p:nvSpPr>
          <p:spPr>
            <a:xfrm>
              <a:off x="7523043" y="4279392"/>
              <a:ext cx="12900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D</a:t>
              </a:r>
              <a:r>
                <a:rPr lang="en" sz="1300">
                  <a:solidFill>
                    <a:srgbClr val="60B669"/>
                  </a:solidFill>
                </a:rPr>
                <a:t>igital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ompetence </a:t>
              </a:r>
              <a:endParaRPr sz="1300">
                <a:solidFill>
                  <a:srgbClr val="60B669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60B669"/>
                  </a:solidFill>
                </a:rPr>
                <a:t>C</a:t>
              </a:r>
              <a:r>
                <a:rPr lang="en" sz="1300">
                  <a:solidFill>
                    <a:srgbClr val="60B669"/>
                  </a:solidFill>
                </a:rPr>
                <a:t>entre</a:t>
              </a:r>
              <a:endParaRPr sz="1300">
                <a:solidFill>
                  <a:srgbClr val="60B669"/>
                </a:solidFill>
              </a:endParaRPr>
            </a:p>
          </p:txBody>
        </p:sp>
      </p:grp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C8D22CC4-1AF6-50F1-9C31-9593DC66BB9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" y="4553712"/>
            <a:ext cx="2069651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AA502112-E10E-0CD7-5623-4958C903E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62649" y="1834521"/>
            <a:ext cx="25244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Types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92438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2A6C3E92-F4CC-519A-7040-49C40C3E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37AE193-75C5-4D5C-8141-AB80D72D5FA8}"/>
              </a:ext>
            </a:extLst>
          </p:cNvPr>
          <p:cNvCxnSpPr>
            <a:cxnSpLocks/>
          </p:cNvCxnSpPr>
          <p:nvPr/>
        </p:nvCxnSpPr>
        <p:spPr>
          <a:xfrm>
            <a:off x="2866920" y="2155590"/>
            <a:ext cx="0" cy="251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7" name="Google Shape;887;p75">
            <a:extLst>
              <a:ext uri="{FF2B5EF4-FFF2-40B4-BE49-F238E27FC236}">
                <a16:creationId xmlns:a16="http://schemas.microsoft.com/office/drawing/2014/main" id="{BF3547E1-27D2-123A-82D2-2A85DC690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Types</a:t>
            </a:r>
            <a:endParaRPr dirty="0"/>
          </a:p>
        </p:txBody>
      </p:sp>
      <p:sp>
        <p:nvSpPr>
          <p:cNvPr id="888" name="Google Shape;888;p75">
            <a:extLst>
              <a:ext uri="{FF2B5EF4-FFF2-40B4-BE49-F238E27FC236}">
                <a16:creationId xmlns:a16="http://schemas.microsoft.com/office/drawing/2014/main" id="{FAD25D8D-1EE5-1608-D97F-03C438175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454" y="1062423"/>
            <a:ext cx="8884920" cy="3785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dk1"/>
                </a:solidFill>
              </a:rPr>
              <a:t>Fast-forward merge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dk1"/>
                </a:solidFill>
              </a:rPr>
              <a:t>Before merging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Main   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Feature Branch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9F97B-21DD-7F58-1024-C92AC82D6117}"/>
              </a:ext>
            </a:extLst>
          </p:cNvPr>
          <p:cNvSpPr/>
          <p:nvPr/>
        </p:nvSpPr>
        <p:spPr>
          <a:xfrm>
            <a:off x="1859280" y="2400300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876506-2EDC-C848-B745-A7DFC25A3F32}"/>
              </a:ext>
            </a:extLst>
          </p:cNvPr>
          <p:cNvSpPr/>
          <p:nvPr/>
        </p:nvSpPr>
        <p:spPr>
          <a:xfrm>
            <a:off x="2606040" y="2407920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93722-44B0-894B-6FE8-209F73C6BD0C}"/>
              </a:ext>
            </a:extLst>
          </p:cNvPr>
          <p:cNvSpPr/>
          <p:nvPr/>
        </p:nvSpPr>
        <p:spPr>
          <a:xfrm>
            <a:off x="3177540" y="3390900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16B9A9-C34C-6D4C-E313-BDF1C69FA425}"/>
              </a:ext>
            </a:extLst>
          </p:cNvPr>
          <p:cNvSpPr txBox="1"/>
          <p:nvPr/>
        </p:nvSpPr>
        <p:spPr>
          <a:xfrm>
            <a:off x="1878121" y="24003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B1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FB553-57C4-399C-35CE-1B9A24E4C1B2}"/>
              </a:ext>
            </a:extLst>
          </p:cNvPr>
          <p:cNvSpPr txBox="1"/>
          <p:nvPr/>
        </p:nvSpPr>
        <p:spPr>
          <a:xfrm>
            <a:off x="2571541" y="241554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B2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E27BC-F2D4-F175-BA4C-7CEF804FA1EB}"/>
              </a:ext>
            </a:extLst>
          </p:cNvPr>
          <p:cNvSpPr txBox="1"/>
          <p:nvPr/>
        </p:nvSpPr>
        <p:spPr>
          <a:xfrm>
            <a:off x="3173521" y="340614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B3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FFB0F1-3B3C-7C15-49F7-1E2DD91CEE46}"/>
              </a:ext>
            </a:extLst>
          </p:cNvPr>
          <p:cNvCxnSpPr>
            <a:cxnSpLocks/>
          </p:cNvCxnSpPr>
          <p:nvPr/>
        </p:nvCxnSpPr>
        <p:spPr>
          <a:xfrm>
            <a:off x="2324100" y="2554188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8CB813C-FCC7-F5E3-4C31-A619945AFBD2}"/>
              </a:ext>
            </a:extLst>
          </p:cNvPr>
          <p:cNvCxnSpPr>
            <a:stCxn id="4" idx="2"/>
            <a:endCxn id="8" idx="1"/>
          </p:cNvCxnSpPr>
          <p:nvPr/>
        </p:nvCxnSpPr>
        <p:spPr>
          <a:xfrm rot="16200000" flipH="1">
            <a:off x="2588046" y="2974553"/>
            <a:ext cx="824449" cy="34650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81F982-4634-4AA2-9886-A048CF6053A1}"/>
              </a:ext>
            </a:extLst>
          </p:cNvPr>
          <p:cNvSpPr/>
          <p:nvPr/>
        </p:nvSpPr>
        <p:spPr>
          <a:xfrm>
            <a:off x="2613660" y="1874180"/>
            <a:ext cx="464820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D6CB6-01CF-151C-AB3B-ECB39F0B76E4}"/>
              </a:ext>
            </a:extLst>
          </p:cNvPr>
          <p:cNvSpPr txBox="1"/>
          <p:nvPr/>
        </p:nvSpPr>
        <p:spPr>
          <a:xfrm>
            <a:off x="2559773" y="1861917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  <a:endParaRPr lang="LID4096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DC74FE-8097-17C2-EEC0-68EDBA53781F}"/>
              </a:ext>
            </a:extLst>
          </p:cNvPr>
          <p:cNvSpPr/>
          <p:nvPr/>
        </p:nvSpPr>
        <p:spPr>
          <a:xfrm>
            <a:off x="3112560" y="4000500"/>
            <a:ext cx="659340" cy="28853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Feature</a:t>
            </a:r>
            <a:endParaRPr lang="LID4096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EE5AEC-39BA-BD23-0B49-457EC73E9CE9}"/>
              </a:ext>
            </a:extLst>
          </p:cNvPr>
          <p:cNvCxnSpPr>
            <a:cxnSpLocks/>
          </p:cNvCxnSpPr>
          <p:nvPr/>
        </p:nvCxnSpPr>
        <p:spPr>
          <a:xfrm flipV="1">
            <a:off x="3392700" y="3693593"/>
            <a:ext cx="0" cy="306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7518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5AE390CB-9B1C-DD1A-224B-86A9B3FC5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919;p79">
            <a:extLst>
              <a:ext uri="{FF2B5EF4-FFF2-40B4-BE49-F238E27FC236}">
                <a16:creationId xmlns:a16="http://schemas.microsoft.com/office/drawing/2014/main" id="{909AC4B7-C4A6-B10B-AD20-1FEF2B387BE5}"/>
              </a:ext>
            </a:extLst>
          </p:cNvPr>
          <p:cNvSpPr/>
          <p:nvPr/>
        </p:nvSpPr>
        <p:spPr>
          <a:xfrm>
            <a:off x="5052819" y="3147803"/>
            <a:ext cx="2626591" cy="502048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919;p79">
            <a:extLst>
              <a:ext uri="{FF2B5EF4-FFF2-40B4-BE49-F238E27FC236}">
                <a16:creationId xmlns:a16="http://schemas.microsoft.com/office/drawing/2014/main" id="{BCFAD74B-0604-5A57-B5F1-B17AE556B744}"/>
              </a:ext>
            </a:extLst>
          </p:cNvPr>
          <p:cNvSpPr/>
          <p:nvPr/>
        </p:nvSpPr>
        <p:spPr>
          <a:xfrm>
            <a:off x="5052818" y="4257106"/>
            <a:ext cx="3773943" cy="502048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9D4A292-8B19-8BFE-D3A8-3B56EFB83DB5}"/>
              </a:ext>
            </a:extLst>
          </p:cNvPr>
          <p:cNvCxnSpPr>
            <a:stCxn id="4" idx="2"/>
            <a:endCxn id="8" idx="1"/>
          </p:cNvCxnSpPr>
          <p:nvPr/>
        </p:nvCxnSpPr>
        <p:spPr>
          <a:xfrm rot="16200000" flipH="1">
            <a:off x="2675676" y="2886923"/>
            <a:ext cx="824449" cy="52176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" name="Google Shape;887;p75">
            <a:extLst>
              <a:ext uri="{FF2B5EF4-FFF2-40B4-BE49-F238E27FC236}">
                <a16:creationId xmlns:a16="http://schemas.microsoft.com/office/drawing/2014/main" id="{19F83752-D1C4-D054-318A-C3A685741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Types</a:t>
            </a:r>
            <a:endParaRPr dirty="0"/>
          </a:p>
        </p:txBody>
      </p:sp>
      <p:sp>
        <p:nvSpPr>
          <p:cNvPr id="888" name="Google Shape;888;p75">
            <a:extLst>
              <a:ext uri="{FF2B5EF4-FFF2-40B4-BE49-F238E27FC236}">
                <a16:creationId xmlns:a16="http://schemas.microsoft.com/office/drawing/2014/main" id="{35D73ACD-E7C2-6720-09C6-A67811AF0F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" y="1055825"/>
            <a:ext cx="8884920" cy="3785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dk1"/>
                </a:solidFill>
              </a:rPr>
              <a:t>Fast-forward merge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dk1"/>
                </a:solidFill>
              </a:rPr>
              <a:t>After merging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Main   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Feature Branch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FCF51-9EEC-A3F1-22F6-33BE9B3D6DD4}"/>
              </a:ext>
            </a:extLst>
          </p:cNvPr>
          <p:cNvSpPr/>
          <p:nvPr/>
        </p:nvSpPr>
        <p:spPr>
          <a:xfrm>
            <a:off x="1859280" y="2400300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BC045-BF86-5E60-DD22-49CB8EA977CD}"/>
              </a:ext>
            </a:extLst>
          </p:cNvPr>
          <p:cNvSpPr/>
          <p:nvPr/>
        </p:nvSpPr>
        <p:spPr>
          <a:xfrm>
            <a:off x="2606040" y="2407920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88143C-8EFC-C861-27E2-64D6B93F68E6}"/>
              </a:ext>
            </a:extLst>
          </p:cNvPr>
          <p:cNvSpPr/>
          <p:nvPr/>
        </p:nvSpPr>
        <p:spPr>
          <a:xfrm>
            <a:off x="3322320" y="3390900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EDA46-43E3-E24A-B87C-66D2896F13C1}"/>
              </a:ext>
            </a:extLst>
          </p:cNvPr>
          <p:cNvSpPr txBox="1"/>
          <p:nvPr/>
        </p:nvSpPr>
        <p:spPr>
          <a:xfrm>
            <a:off x="1878121" y="24003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B1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DFA18-A0FF-3BB7-BF7D-EBE681464143}"/>
              </a:ext>
            </a:extLst>
          </p:cNvPr>
          <p:cNvSpPr txBox="1"/>
          <p:nvPr/>
        </p:nvSpPr>
        <p:spPr>
          <a:xfrm>
            <a:off x="2571541" y="241554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B2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E53260-7AAB-76B0-E0E8-DFC6116C7FE2}"/>
              </a:ext>
            </a:extLst>
          </p:cNvPr>
          <p:cNvSpPr txBox="1"/>
          <p:nvPr/>
        </p:nvSpPr>
        <p:spPr>
          <a:xfrm>
            <a:off x="3348781" y="340614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B3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30B326-2BFA-C0D8-90B3-6194B0874BF4}"/>
              </a:ext>
            </a:extLst>
          </p:cNvPr>
          <p:cNvCxnSpPr>
            <a:cxnSpLocks/>
          </p:cNvCxnSpPr>
          <p:nvPr/>
        </p:nvCxnSpPr>
        <p:spPr>
          <a:xfrm>
            <a:off x="2324100" y="2554188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C224B3-0A62-9106-90C3-AA2A2ABD8C11}"/>
              </a:ext>
            </a:extLst>
          </p:cNvPr>
          <p:cNvCxnSpPr>
            <a:cxnSpLocks/>
          </p:cNvCxnSpPr>
          <p:nvPr/>
        </p:nvCxnSpPr>
        <p:spPr>
          <a:xfrm>
            <a:off x="3059221" y="2571750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D7024AE-BA70-F4B6-F406-0D52F994BBE6}"/>
              </a:ext>
            </a:extLst>
          </p:cNvPr>
          <p:cNvSpPr/>
          <p:nvPr/>
        </p:nvSpPr>
        <p:spPr>
          <a:xfrm>
            <a:off x="3307080" y="2407920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673D4-089C-2F06-7FC5-39EDE01057C5}"/>
              </a:ext>
            </a:extLst>
          </p:cNvPr>
          <p:cNvSpPr txBox="1"/>
          <p:nvPr/>
        </p:nvSpPr>
        <p:spPr>
          <a:xfrm>
            <a:off x="3303061" y="243078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B3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2D2F35-4956-5D57-D405-BC871D133FE7}"/>
              </a:ext>
            </a:extLst>
          </p:cNvPr>
          <p:cNvCxnSpPr/>
          <p:nvPr/>
        </p:nvCxnSpPr>
        <p:spPr>
          <a:xfrm flipV="1">
            <a:off x="3528060" y="2865120"/>
            <a:ext cx="0" cy="434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AA56F0-7079-7574-64BB-8E392BF83753}"/>
              </a:ext>
            </a:extLst>
          </p:cNvPr>
          <p:cNvSpPr/>
          <p:nvPr/>
        </p:nvSpPr>
        <p:spPr>
          <a:xfrm>
            <a:off x="2697480" y="1866560"/>
            <a:ext cx="464820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404425-575D-B039-AE17-3B1F11E31A65}"/>
              </a:ext>
            </a:extLst>
          </p:cNvPr>
          <p:cNvSpPr txBox="1"/>
          <p:nvPr/>
        </p:nvSpPr>
        <p:spPr>
          <a:xfrm>
            <a:off x="2658833" y="1861917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  <a:endParaRPr lang="LID4096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1C9BD7-2CB8-A94F-C1EC-6C2CD6C8865A}"/>
              </a:ext>
            </a:extLst>
          </p:cNvPr>
          <p:cNvSpPr/>
          <p:nvPr/>
        </p:nvSpPr>
        <p:spPr>
          <a:xfrm>
            <a:off x="3912660" y="1884777"/>
            <a:ext cx="659340" cy="28853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Feature</a:t>
            </a:r>
            <a:endParaRPr lang="LID4096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1DD07B-8977-9CE6-39DE-7A50C2D2BECF}"/>
              </a:ext>
            </a:extLst>
          </p:cNvPr>
          <p:cNvCxnSpPr>
            <a:stCxn id="17" idx="2"/>
            <a:endCxn id="9" idx="0"/>
          </p:cNvCxnSpPr>
          <p:nvPr/>
        </p:nvCxnSpPr>
        <p:spPr>
          <a:xfrm>
            <a:off x="2945130" y="2169694"/>
            <a:ext cx="582930" cy="238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EA176C-7095-0B0D-7D24-43412A171DDB}"/>
              </a:ext>
            </a:extLst>
          </p:cNvPr>
          <p:cNvCxnSpPr>
            <a:stCxn id="18" idx="2"/>
            <a:endCxn id="2" idx="0"/>
          </p:cNvCxnSpPr>
          <p:nvPr/>
        </p:nvCxnSpPr>
        <p:spPr>
          <a:xfrm flipH="1">
            <a:off x="3528060" y="2173315"/>
            <a:ext cx="714270" cy="234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605B62-D53D-8D16-C4C3-04C9F35BF04F}"/>
              </a:ext>
            </a:extLst>
          </p:cNvPr>
          <p:cNvSpPr txBox="1"/>
          <p:nvPr/>
        </p:nvSpPr>
        <p:spPr>
          <a:xfrm>
            <a:off x="4873199" y="1381605"/>
            <a:ext cx="40927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additional commit is on 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branch commits easily added to 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branch history remains linear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250F56-FB84-ABB7-B980-F231F509A3CF}"/>
              </a:ext>
            </a:extLst>
          </p:cNvPr>
          <p:cNvSpPr txBox="1"/>
          <p:nvPr/>
        </p:nvSpPr>
        <p:spPr>
          <a:xfrm>
            <a:off x="5020905" y="2712458"/>
            <a:ext cx="38363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Default fast forward git merge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feature_branch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Force fast forward git merge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feature_branch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--ff-only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5678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D639384A-3C7D-67CA-3A99-B5328D0A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42FC82-9EBD-AD1C-17A1-F62955F0EB37}"/>
              </a:ext>
            </a:extLst>
          </p:cNvPr>
          <p:cNvCxnSpPr>
            <a:cxnSpLocks/>
          </p:cNvCxnSpPr>
          <p:nvPr/>
        </p:nvCxnSpPr>
        <p:spPr>
          <a:xfrm>
            <a:off x="2999014" y="2543303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039F93-E9F6-C82E-6A7C-8B0936305C3F}"/>
              </a:ext>
            </a:extLst>
          </p:cNvPr>
          <p:cNvCxnSpPr>
            <a:cxnSpLocks/>
          </p:cNvCxnSpPr>
          <p:nvPr/>
        </p:nvCxnSpPr>
        <p:spPr>
          <a:xfrm>
            <a:off x="3462911" y="2155590"/>
            <a:ext cx="0" cy="251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7" name="Google Shape;887;p75">
            <a:extLst>
              <a:ext uri="{FF2B5EF4-FFF2-40B4-BE49-F238E27FC236}">
                <a16:creationId xmlns:a16="http://schemas.microsoft.com/office/drawing/2014/main" id="{DA6DF732-E041-EE82-8731-94DB4B1D3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Types</a:t>
            </a:r>
            <a:endParaRPr dirty="0"/>
          </a:p>
        </p:txBody>
      </p:sp>
      <p:sp>
        <p:nvSpPr>
          <p:cNvPr id="888" name="Google Shape;888;p75">
            <a:extLst>
              <a:ext uri="{FF2B5EF4-FFF2-40B4-BE49-F238E27FC236}">
                <a16:creationId xmlns:a16="http://schemas.microsoft.com/office/drawing/2014/main" id="{980B674E-A040-D537-E9F4-165F849B5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454" y="1062423"/>
            <a:ext cx="8884920" cy="3785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dk1"/>
                </a:solidFill>
              </a:rPr>
              <a:t>Recursive merge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dk1"/>
                </a:solidFill>
              </a:rPr>
              <a:t>Before merging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Main   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Feature Branch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77818A-69AC-EC10-84F0-CC07A56CF421}"/>
              </a:ext>
            </a:extLst>
          </p:cNvPr>
          <p:cNvSpPr/>
          <p:nvPr/>
        </p:nvSpPr>
        <p:spPr>
          <a:xfrm>
            <a:off x="1859280" y="2400300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87B27E-131E-1D29-20D7-95FF4E70A4D1}"/>
              </a:ext>
            </a:extLst>
          </p:cNvPr>
          <p:cNvSpPr/>
          <p:nvPr/>
        </p:nvSpPr>
        <p:spPr>
          <a:xfrm>
            <a:off x="2606040" y="2407920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B05E7-6BC8-6B74-7F55-757FF8AFA463}"/>
              </a:ext>
            </a:extLst>
          </p:cNvPr>
          <p:cNvSpPr txBox="1"/>
          <p:nvPr/>
        </p:nvSpPr>
        <p:spPr>
          <a:xfrm>
            <a:off x="1878121" y="24003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B1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376FF-406A-EA8E-958C-148B0E40DA4E}"/>
              </a:ext>
            </a:extLst>
          </p:cNvPr>
          <p:cNvSpPr txBox="1"/>
          <p:nvPr/>
        </p:nvSpPr>
        <p:spPr>
          <a:xfrm>
            <a:off x="2571541" y="241554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B2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3333BB-A3DF-4404-C8EE-AEC9D5C0E9CF}"/>
              </a:ext>
            </a:extLst>
          </p:cNvPr>
          <p:cNvCxnSpPr>
            <a:cxnSpLocks/>
          </p:cNvCxnSpPr>
          <p:nvPr/>
        </p:nvCxnSpPr>
        <p:spPr>
          <a:xfrm>
            <a:off x="2324100" y="2554188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13C222-0FBC-C552-4205-517C05A6B2BA}"/>
              </a:ext>
            </a:extLst>
          </p:cNvPr>
          <p:cNvSpPr/>
          <p:nvPr/>
        </p:nvSpPr>
        <p:spPr>
          <a:xfrm>
            <a:off x="3266804" y="1874180"/>
            <a:ext cx="464820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0BC4B-FDDF-F548-8BF6-735BF115C412}"/>
              </a:ext>
            </a:extLst>
          </p:cNvPr>
          <p:cNvSpPr txBox="1"/>
          <p:nvPr/>
        </p:nvSpPr>
        <p:spPr>
          <a:xfrm>
            <a:off x="3212917" y="1861917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  <a:endParaRPr lang="LID4096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0955BD-DFC8-05E3-CA3B-1303783E712C}"/>
              </a:ext>
            </a:extLst>
          </p:cNvPr>
          <p:cNvSpPr/>
          <p:nvPr/>
        </p:nvSpPr>
        <p:spPr>
          <a:xfrm>
            <a:off x="3112560" y="4000500"/>
            <a:ext cx="659340" cy="28853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Feature</a:t>
            </a:r>
            <a:endParaRPr lang="LID4096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618A49-70E2-F3B6-8F2B-10371743D4EE}"/>
              </a:ext>
            </a:extLst>
          </p:cNvPr>
          <p:cNvCxnSpPr>
            <a:cxnSpLocks/>
          </p:cNvCxnSpPr>
          <p:nvPr/>
        </p:nvCxnSpPr>
        <p:spPr>
          <a:xfrm flipV="1">
            <a:off x="3392700" y="3693593"/>
            <a:ext cx="0" cy="306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82DA3AB-9A8C-4E9B-E411-EE6F448F92F8}"/>
              </a:ext>
            </a:extLst>
          </p:cNvPr>
          <p:cNvSpPr/>
          <p:nvPr/>
        </p:nvSpPr>
        <p:spPr>
          <a:xfrm>
            <a:off x="3264626" y="2413366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B4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2C53C0-795C-9081-0DF2-B36801E186A3}"/>
              </a:ext>
            </a:extLst>
          </p:cNvPr>
          <p:cNvCxnSpPr>
            <a:cxnSpLocks/>
          </p:cNvCxnSpPr>
          <p:nvPr/>
        </p:nvCxnSpPr>
        <p:spPr>
          <a:xfrm>
            <a:off x="2988128" y="3512131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F06AB96-8BDC-3CF0-869F-40A044773265}"/>
              </a:ext>
            </a:extLst>
          </p:cNvPr>
          <p:cNvSpPr/>
          <p:nvPr/>
        </p:nvSpPr>
        <p:spPr>
          <a:xfrm>
            <a:off x="1848394" y="3369128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E5BE57-01A6-41DC-D434-4081FB5EAB81}"/>
              </a:ext>
            </a:extLst>
          </p:cNvPr>
          <p:cNvSpPr/>
          <p:nvPr/>
        </p:nvSpPr>
        <p:spPr>
          <a:xfrm>
            <a:off x="2595154" y="3376748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9C6978-0CAF-C1E5-E63B-6CC0CD56B295}"/>
              </a:ext>
            </a:extLst>
          </p:cNvPr>
          <p:cNvSpPr txBox="1"/>
          <p:nvPr/>
        </p:nvSpPr>
        <p:spPr>
          <a:xfrm>
            <a:off x="1867235" y="336912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B1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A8644E-08D4-E8D5-8F36-33AD520955DB}"/>
              </a:ext>
            </a:extLst>
          </p:cNvPr>
          <p:cNvSpPr txBox="1"/>
          <p:nvPr/>
        </p:nvSpPr>
        <p:spPr>
          <a:xfrm>
            <a:off x="2560655" y="338436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B3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EA69D3B-642F-C17D-8C8A-B41C5994EC5E}"/>
              </a:ext>
            </a:extLst>
          </p:cNvPr>
          <p:cNvCxnSpPr>
            <a:cxnSpLocks/>
          </p:cNvCxnSpPr>
          <p:nvPr/>
        </p:nvCxnSpPr>
        <p:spPr>
          <a:xfrm>
            <a:off x="2313214" y="3523016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52391-C1A4-5539-AC03-B0EE4EE19F4E}"/>
              </a:ext>
            </a:extLst>
          </p:cNvPr>
          <p:cNvSpPr/>
          <p:nvPr/>
        </p:nvSpPr>
        <p:spPr>
          <a:xfrm>
            <a:off x="3253740" y="3382194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B5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758BC1-3757-4CBA-FFDA-0FA847A54AE8}"/>
              </a:ext>
            </a:extLst>
          </p:cNvPr>
          <p:cNvSpPr txBox="1"/>
          <p:nvPr/>
        </p:nvSpPr>
        <p:spPr>
          <a:xfrm>
            <a:off x="4734721" y="1842729"/>
            <a:ext cx="37641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Recursive merges: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preserves historical context,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better for more complex development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446836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36411C3A-E833-6D52-E71F-FB181F01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919;p79">
            <a:extLst>
              <a:ext uri="{FF2B5EF4-FFF2-40B4-BE49-F238E27FC236}">
                <a16:creationId xmlns:a16="http://schemas.microsoft.com/office/drawing/2014/main" id="{1432DF5E-016C-622B-8729-B3D5468CCF36}"/>
              </a:ext>
            </a:extLst>
          </p:cNvPr>
          <p:cNvSpPr/>
          <p:nvPr/>
        </p:nvSpPr>
        <p:spPr>
          <a:xfrm>
            <a:off x="5486400" y="3786990"/>
            <a:ext cx="3426721" cy="365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A62036-CCAE-7481-1DDC-4CBA6F0FE3FA}"/>
              </a:ext>
            </a:extLst>
          </p:cNvPr>
          <p:cNvCxnSpPr>
            <a:cxnSpLocks/>
          </p:cNvCxnSpPr>
          <p:nvPr/>
        </p:nvCxnSpPr>
        <p:spPr>
          <a:xfrm>
            <a:off x="3693856" y="2540723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CDD27D-FBA9-241E-5F94-54AE1F9A7328}"/>
              </a:ext>
            </a:extLst>
          </p:cNvPr>
          <p:cNvCxnSpPr>
            <a:cxnSpLocks/>
          </p:cNvCxnSpPr>
          <p:nvPr/>
        </p:nvCxnSpPr>
        <p:spPr>
          <a:xfrm>
            <a:off x="2999014" y="2543303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FD4D8B-6205-B4C1-A857-919DEDAD960C}"/>
              </a:ext>
            </a:extLst>
          </p:cNvPr>
          <p:cNvCxnSpPr>
            <a:cxnSpLocks/>
          </p:cNvCxnSpPr>
          <p:nvPr/>
        </p:nvCxnSpPr>
        <p:spPr>
          <a:xfrm>
            <a:off x="5570681" y="2155590"/>
            <a:ext cx="0" cy="251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7" name="Google Shape;887;p75">
            <a:extLst>
              <a:ext uri="{FF2B5EF4-FFF2-40B4-BE49-F238E27FC236}">
                <a16:creationId xmlns:a16="http://schemas.microsoft.com/office/drawing/2014/main" id="{6DCAA1B8-9CFD-1188-7E99-3BB0FD080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 Types</a:t>
            </a:r>
            <a:endParaRPr dirty="0"/>
          </a:p>
        </p:txBody>
      </p:sp>
      <p:sp>
        <p:nvSpPr>
          <p:cNvPr id="888" name="Google Shape;888;p75">
            <a:extLst>
              <a:ext uri="{FF2B5EF4-FFF2-40B4-BE49-F238E27FC236}">
                <a16:creationId xmlns:a16="http://schemas.microsoft.com/office/drawing/2014/main" id="{00F4BFCD-76A5-1976-5F3A-2FB2D0744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454" y="1062423"/>
            <a:ext cx="8884920" cy="3785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dk1"/>
                </a:solidFill>
              </a:rPr>
              <a:t>Recursive merge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dk1"/>
                </a:solidFill>
              </a:rPr>
              <a:t>After merging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Main   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Feature Branch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FEBA1F-CABF-1BCB-EE17-E4D2CE520206}"/>
              </a:ext>
            </a:extLst>
          </p:cNvPr>
          <p:cNvSpPr/>
          <p:nvPr/>
        </p:nvSpPr>
        <p:spPr>
          <a:xfrm>
            <a:off x="1859280" y="2400300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ED8B5-40F3-CED7-B3EF-D4A33B85B0EB}"/>
              </a:ext>
            </a:extLst>
          </p:cNvPr>
          <p:cNvSpPr/>
          <p:nvPr/>
        </p:nvSpPr>
        <p:spPr>
          <a:xfrm>
            <a:off x="2606040" y="2407920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A306B-1FA3-27E1-502B-034F3F3846CE}"/>
              </a:ext>
            </a:extLst>
          </p:cNvPr>
          <p:cNvSpPr txBox="1"/>
          <p:nvPr/>
        </p:nvSpPr>
        <p:spPr>
          <a:xfrm>
            <a:off x="1878121" y="24003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B1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97A35-B089-2896-E376-CC7208F72E65}"/>
              </a:ext>
            </a:extLst>
          </p:cNvPr>
          <p:cNvSpPr txBox="1"/>
          <p:nvPr/>
        </p:nvSpPr>
        <p:spPr>
          <a:xfrm>
            <a:off x="2571541" y="241554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B2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A9440B-FAEE-D01E-ED6E-607D574A7B10}"/>
              </a:ext>
            </a:extLst>
          </p:cNvPr>
          <p:cNvCxnSpPr>
            <a:cxnSpLocks/>
          </p:cNvCxnSpPr>
          <p:nvPr/>
        </p:nvCxnSpPr>
        <p:spPr>
          <a:xfrm>
            <a:off x="2324100" y="2554188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AB4057-F122-6E80-A863-430D52374E39}"/>
              </a:ext>
            </a:extLst>
          </p:cNvPr>
          <p:cNvSpPr/>
          <p:nvPr/>
        </p:nvSpPr>
        <p:spPr>
          <a:xfrm>
            <a:off x="5374574" y="1874180"/>
            <a:ext cx="464820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27C548-440F-09A2-CF01-6EEB2FA16564}"/>
              </a:ext>
            </a:extLst>
          </p:cNvPr>
          <p:cNvSpPr txBox="1"/>
          <p:nvPr/>
        </p:nvSpPr>
        <p:spPr>
          <a:xfrm>
            <a:off x="5320687" y="1861917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  <a:endParaRPr lang="LID4096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761661-96BB-8C7C-4224-F505F45011F5}"/>
              </a:ext>
            </a:extLst>
          </p:cNvPr>
          <p:cNvSpPr/>
          <p:nvPr/>
        </p:nvSpPr>
        <p:spPr>
          <a:xfrm>
            <a:off x="3112560" y="4000500"/>
            <a:ext cx="659340" cy="28853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Feature</a:t>
            </a:r>
            <a:endParaRPr lang="LID4096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67E6FB-4D05-4B1E-04CC-0EF8923AAE8F}"/>
              </a:ext>
            </a:extLst>
          </p:cNvPr>
          <p:cNvCxnSpPr>
            <a:cxnSpLocks/>
          </p:cNvCxnSpPr>
          <p:nvPr/>
        </p:nvCxnSpPr>
        <p:spPr>
          <a:xfrm flipV="1">
            <a:off x="3392700" y="3693593"/>
            <a:ext cx="0" cy="306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94572CB-2BFB-7779-F0B2-BF1929F069E0}"/>
              </a:ext>
            </a:extLst>
          </p:cNvPr>
          <p:cNvSpPr/>
          <p:nvPr/>
        </p:nvSpPr>
        <p:spPr>
          <a:xfrm>
            <a:off x="3264626" y="2413366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B3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41DC53-D280-B4B2-9B26-09966A850AE8}"/>
              </a:ext>
            </a:extLst>
          </p:cNvPr>
          <p:cNvCxnSpPr>
            <a:cxnSpLocks/>
          </p:cNvCxnSpPr>
          <p:nvPr/>
        </p:nvCxnSpPr>
        <p:spPr>
          <a:xfrm>
            <a:off x="2988128" y="3512131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D7BCC12-3B44-E712-4101-BA2243018D7C}"/>
              </a:ext>
            </a:extLst>
          </p:cNvPr>
          <p:cNvSpPr/>
          <p:nvPr/>
        </p:nvSpPr>
        <p:spPr>
          <a:xfrm>
            <a:off x="1848394" y="3369128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C0A1C-5061-6BA8-F0C0-134A0B239960}"/>
              </a:ext>
            </a:extLst>
          </p:cNvPr>
          <p:cNvSpPr/>
          <p:nvPr/>
        </p:nvSpPr>
        <p:spPr>
          <a:xfrm>
            <a:off x="2595154" y="3376748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995B26-BF88-68B8-E78B-4B38FC2E1DC4}"/>
              </a:ext>
            </a:extLst>
          </p:cNvPr>
          <p:cNvSpPr txBox="1"/>
          <p:nvPr/>
        </p:nvSpPr>
        <p:spPr>
          <a:xfrm>
            <a:off x="1867235" y="336912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B1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BD4C01-8CE9-EB83-96F0-2F7DAE9C3855}"/>
              </a:ext>
            </a:extLst>
          </p:cNvPr>
          <p:cNvSpPr txBox="1"/>
          <p:nvPr/>
        </p:nvSpPr>
        <p:spPr>
          <a:xfrm>
            <a:off x="2560655" y="338436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B3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6F5FFD-695A-E7C0-C058-04AFB2AD1B56}"/>
              </a:ext>
            </a:extLst>
          </p:cNvPr>
          <p:cNvCxnSpPr>
            <a:cxnSpLocks/>
          </p:cNvCxnSpPr>
          <p:nvPr/>
        </p:nvCxnSpPr>
        <p:spPr>
          <a:xfrm>
            <a:off x="2313214" y="3523016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2BD10E3-D1F5-C3C2-DB99-9061791D5D5D}"/>
              </a:ext>
            </a:extLst>
          </p:cNvPr>
          <p:cNvSpPr/>
          <p:nvPr/>
        </p:nvSpPr>
        <p:spPr>
          <a:xfrm>
            <a:off x="3253740" y="3382194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B5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282061D-F665-4D57-A7FF-0A75EF15AB78}"/>
              </a:ext>
            </a:extLst>
          </p:cNvPr>
          <p:cNvCxnSpPr>
            <a:cxnSpLocks/>
          </p:cNvCxnSpPr>
          <p:nvPr/>
        </p:nvCxnSpPr>
        <p:spPr>
          <a:xfrm>
            <a:off x="5088691" y="2548472"/>
            <a:ext cx="2895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5BC6D4D-1C81-A011-A1E3-31ED67B86269}"/>
              </a:ext>
            </a:extLst>
          </p:cNvPr>
          <p:cNvSpPr/>
          <p:nvPr/>
        </p:nvSpPr>
        <p:spPr>
          <a:xfrm>
            <a:off x="3948957" y="2405469"/>
            <a:ext cx="441960" cy="3276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E6B8AC-6FA1-F1A3-E106-BD9D0A1BD4A5}"/>
              </a:ext>
            </a:extLst>
          </p:cNvPr>
          <p:cNvSpPr/>
          <p:nvPr/>
        </p:nvSpPr>
        <p:spPr>
          <a:xfrm>
            <a:off x="4695717" y="2413089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678CA1-6F63-76DB-D27B-A98C62625539}"/>
              </a:ext>
            </a:extLst>
          </p:cNvPr>
          <p:cNvSpPr txBox="1"/>
          <p:nvPr/>
        </p:nvSpPr>
        <p:spPr>
          <a:xfrm>
            <a:off x="3967798" y="2405469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B4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C004C5-CBB8-49F1-0EF0-308FF0ACCDEC}"/>
              </a:ext>
            </a:extLst>
          </p:cNvPr>
          <p:cNvSpPr txBox="1"/>
          <p:nvPr/>
        </p:nvSpPr>
        <p:spPr>
          <a:xfrm>
            <a:off x="4661218" y="2420709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B5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1C57AEE-14FD-AE05-2490-5E781C434EDC}"/>
              </a:ext>
            </a:extLst>
          </p:cNvPr>
          <p:cNvCxnSpPr>
            <a:cxnSpLocks/>
          </p:cNvCxnSpPr>
          <p:nvPr/>
        </p:nvCxnSpPr>
        <p:spPr>
          <a:xfrm>
            <a:off x="4413777" y="2559357"/>
            <a:ext cx="289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335318-3E4C-3B9F-CA23-858996F75C60}"/>
              </a:ext>
            </a:extLst>
          </p:cNvPr>
          <p:cNvSpPr/>
          <p:nvPr/>
        </p:nvSpPr>
        <p:spPr>
          <a:xfrm>
            <a:off x="5354303" y="2418535"/>
            <a:ext cx="441960" cy="32766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B6</a:t>
            </a:r>
            <a:endParaRPr lang="LID409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6C264E4-B845-D2EC-E19A-7F29DBFDF157}"/>
              </a:ext>
            </a:extLst>
          </p:cNvPr>
          <p:cNvCxnSpPr>
            <a:stCxn id="24" idx="3"/>
          </p:cNvCxnSpPr>
          <p:nvPr/>
        </p:nvCxnSpPr>
        <p:spPr>
          <a:xfrm flipV="1">
            <a:off x="3695700" y="3037668"/>
            <a:ext cx="1542727" cy="508356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46C8CF8-1896-D369-4C9E-DBD3840928F9}"/>
              </a:ext>
            </a:extLst>
          </p:cNvPr>
          <p:cNvCxnSpPr/>
          <p:nvPr/>
        </p:nvCxnSpPr>
        <p:spPr>
          <a:xfrm flipV="1">
            <a:off x="5238427" y="2559357"/>
            <a:ext cx="0" cy="4783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00B7D4B-8435-FA66-538D-F17B9739835A}"/>
              </a:ext>
            </a:extLst>
          </p:cNvPr>
          <p:cNvSpPr txBox="1"/>
          <p:nvPr/>
        </p:nvSpPr>
        <p:spPr>
          <a:xfrm>
            <a:off x="5971755" y="2432972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B6 is a new merge commit</a:t>
            </a:r>
            <a:endParaRPr lang="LID4096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78100D-0D7E-09AB-5BF5-56E9422D90C7}"/>
              </a:ext>
            </a:extLst>
          </p:cNvPr>
          <p:cNvSpPr txBox="1"/>
          <p:nvPr/>
        </p:nvSpPr>
        <p:spPr>
          <a:xfrm>
            <a:off x="5478651" y="3369128"/>
            <a:ext cx="35141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Recursive merge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–no-ff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feature_branch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675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C532B13A-2659-A8E9-6653-417F5F70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19;p79">
            <a:extLst>
              <a:ext uri="{FF2B5EF4-FFF2-40B4-BE49-F238E27FC236}">
                <a16:creationId xmlns:a16="http://schemas.microsoft.com/office/drawing/2014/main" id="{5A091608-20A5-D040-0946-5D66A622B719}"/>
              </a:ext>
            </a:extLst>
          </p:cNvPr>
          <p:cNvSpPr/>
          <p:nvPr/>
        </p:nvSpPr>
        <p:spPr>
          <a:xfrm>
            <a:off x="458933" y="3709551"/>
            <a:ext cx="3741108" cy="629973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75">
            <a:extLst>
              <a:ext uri="{FF2B5EF4-FFF2-40B4-BE49-F238E27FC236}">
                <a16:creationId xmlns:a16="http://schemas.microsoft.com/office/drawing/2014/main" id="{5F05A882-A997-7558-43AA-E3A86145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 Rebase</a:t>
            </a:r>
            <a:endParaRPr dirty="0"/>
          </a:p>
        </p:txBody>
      </p:sp>
      <p:sp>
        <p:nvSpPr>
          <p:cNvPr id="888" name="Google Shape;888;p75">
            <a:extLst>
              <a:ext uri="{FF2B5EF4-FFF2-40B4-BE49-F238E27FC236}">
                <a16:creationId xmlns:a16="http://schemas.microsoft.com/office/drawing/2014/main" id="{69E21329-4C14-03C2-73A3-223BFB27EC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88945"/>
            <a:ext cx="8884920" cy="3785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>
              <a:buClr>
                <a:schemeClr val="dk1"/>
              </a:buClr>
              <a:buNone/>
            </a:pPr>
            <a:r>
              <a:rPr lang="en-US" dirty="0">
                <a:solidFill>
                  <a:schemeClr val="dk1"/>
                </a:solidFill>
              </a:rPr>
              <a:t>Git rebase:</a:t>
            </a:r>
          </a:p>
          <a:p>
            <a:pPr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</a:rPr>
              <a:t> is a method to integrate changes</a:t>
            </a:r>
          </a:p>
          <a:p>
            <a:pPr>
              <a:buClr>
                <a:schemeClr val="dk1"/>
              </a:buClr>
            </a:pPr>
            <a:r>
              <a:rPr lang="en-US" b="1" dirty="0">
                <a:solidFill>
                  <a:schemeClr val="dk1"/>
                </a:solidFill>
              </a:rPr>
              <a:t>is different than merge</a:t>
            </a:r>
          </a:p>
          <a:p>
            <a:pPr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</a:rPr>
              <a:t>removes merge commits for a cleaner history</a:t>
            </a:r>
          </a:p>
          <a:p>
            <a:pPr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</a:rPr>
              <a:t>Maintains a linear commit graph for clarity </a:t>
            </a:r>
          </a:p>
          <a:p>
            <a:pPr>
              <a:buClr>
                <a:schemeClr val="dk1"/>
              </a:buClr>
            </a:pPr>
            <a:endParaRPr lang="en-US" dirty="0">
              <a:solidFill>
                <a:schemeClr val="dk1"/>
              </a:solidFill>
            </a:endParaRPr>
          </a:p>
          <a:p>
            <a:pPr marL="114300" indent="0">
              <a:buClr>
                <a:schemeClr val="dk1"/>
              </a:buClr>
              <a:buNone/>
            </a:pPr>
            <a:r>
              <a:rPr lang="en-US" dirty="0">
                <a:solidFill>
                  <a:schemeClr val="dk1"/>
                </a:solidFill>
              </a:rPr>
              <a:t>Git rebase command</a:t>
            </a:r>
          </a:p>
          <a:p>
            <a:pPr marL="114300" indent="0">
              <a:buClr>
                <a:schemeClr val="dk1"/>
              </a:buClr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14300" indent="0">
              <a:buClr>
                <a:schemeClr val="dk1"/>
              </a:buClr>
              <a:buNone/>
            </a:pP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checkout </a:t>
            </a:r>
            <a:r>
              <a:rPr lang="en-US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feature_branch</a:t>
            </a:r>
            <a:endParaRPr lang="en-US" dirty="0">
              <a:solidFill>
                <a:schemeClr val="dk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Clr>
                <a:schemeClr val="dk1"/>
              </a:buClr>
              <a:buNone/>
            </a:pP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rebase main              </a:t>
            </a:r>
            <a:r>
              <a:rPr lang="en-US" dirty="0">
                <a:solidFill>
                  <a:schemeClr val="dk1"/>
                </a:solidFill>
                <a:latin typeface="+mn-lt"/>
                <a:cs typeface="Courier New" panose="02070309020205020404" pitchFamily="49" charset="0"/>
              </a:rPr>
              <a:t>: Rebase </a:t>
            </a: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dirty="0">
                <a:solidFill>
                  <a:schemeClr val="dk1"/>
                </a:solidFill>
                <a:latin typeface="+mn-lt"/>
                <a:cs typeface="Courier New" panose="02070309020205020404" pitchFamily="49" charset="0"/>
              </a:rPr>
              <a:t> branch onto </a:t>
            </a:r>
            <a:r>
              <a:rPr lang="en-US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feature_branch</a:t>
            </a:r>
            <a:r>
              <a:rPr lang="en-US" dirty="0">
                <a:solidFill>
                  <a:schemeClr val="dk1"/>
                </a:solidFill>
                <a:latin typeface="+mn-lt"/>
                <a:cs typeface="Courier New" panose="02070309020205020404" pitchFamily="49" charset="0"/>
              </a:rPr>
              <a:t>.</a:t>
            </a:r>
          </a:p>
          <a:p>
            <a:pPr marL="114300" indent="0">
              <a:buClr>
                <a:schemeClr val="dk1"/>
              </a:buClr>
              <a:buNone/>
            </a:pPr>
            <a:r>
              <a:rPr lang="en-US" dirty="0">
                <a:solidFill>
                  <a:schemeClr val="dk1"/>
                </a:solidFill>
                <a:latin typeface="+mn-lt"/>
                <a:cs typeface="Courier New" panose="02070309020205020404" pitchFamily="49" charset="0"/>
              </a:rPr>
              <a:t>                                                              </a:t>
            </a:r>
            <a:r>
              <a:rPr lang="en-US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feature_branch</a:t>
            </a: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dk1"/>
                </a:solidFill>
                <a:latin typeface="+mn-lt"/>
                <a:cs typeface="Courier New" panose="02070309020205020404" pitchFamily="49" charset="0"/>
              </a:rPr>
              <a:t>commits are recreated after                                                    		                                  </a:t>
            </a: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dirty="0">
                <a:solidFill>
                  <a:schemeClr val="dk1"/>
                </a:solidFill>
                <a:latin typeface="+mn-lt"/>
                <a:cs typeface="Courier New" panose="02070309020205020404" pitchFamily="49" charset="0"/>
              </a:rPr>
              <a:t>’s latest commit</a:t>
            </a:r>
            <a:endParaRPr dirty="0">
              <a:solidFill>
                <a:schemeClr val="dk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27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53881930-597F-3548-095A-AE78D0F1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5">
            <a:extLst>
              <a:ext uri="{FF2B5EF4-FFF2-40B4-BE49-F238E27FC236}">
                <a16:creationId xmlns:a16="http://schemas.microsoft.com/office/drawing/2014/main" id="{C3B503C3-C636-6A68-8C36-DB6EC8B47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 Rebase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7CC5C9-9AD1-D708-5E4A-E70D5BDD40EB}"/>
              </a:ext>
            </a:extLst>
          </p:cNvPr>
          <p:cNvSpPr txBox="1"/>
          <p:nvPr/>
        </p:nvSpPr>
        <p:spPr>
          <a:xfrm>
            <a:off x="5246176" y="4672739"/>
            <a:ext cx="3041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*This slide is taken from Data Camp</a:t>
            </a:r>
            <a:endParaRPr lang="LID4096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EDE48F-87AA-5502-2F56-2F11D6804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056"/>
            <a:ext cx="914400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88093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7683</TotalTime>
  <Words>3145</Words>
  <Application>Microsoft Office PowerPoint</Application>
  <PresentationFormat>On-screen Show (16:9)</PresentationFormat>
  <Paragraphs>725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Courier New</vt:lpstr>
      <vt:lpstr>Wingdings</vt:lpstr>
      <vt:lpstr>Simple Light</vt:lpstr>
      <vt:lpstr>Introduction To Git &amp; GitHub Part 2</vt:lpstr>
      <vt:lpstr>DCC RUG</vt:lpstr>
      <vt:lpstr>Agenda</vt:lpstr>
      <vt:lpstr>Working with Remote Repositories</vt:lpstr>
      <vt:lpstr>Set up a remote repository in GitHub</vt:lpstr>
      <vt:lpstr>Set up a remote repository in GitHub</vt:lpstr>
      <vt:lpstr>Set up a remote repository in GitHub</vt:lpstr>
      <vt:lpstr>Set up a remote repository in GitHub</vt:lpstr>
      <vt:lpstr>Set up a remote repository in GitHub</vt:lpstr>
      <vt:lpstr>Set up a remote repository in GitHub</vt:lpstr>
      <vt:lpstr>Set up a remote repository in GitHub- branch protection</vt:lpstr>
      <vt:lpstr>Set up a remote repository in GitHub- branch protection</vt:lpstr>
      <vt:lpstr>Set up a remote repository in GitHub- adding collaborators</vt:lpstr>
      <vt:lpstr>Clone vs Fork</vt:lpstr>
      <vt:lpstr>Working with an (existing) remote repository: Clone  </vt:lpstr>
      <vt:lpstr>Working with an (existing) remote repository- ssh key  </vt:lpstr>
      <vt:lpstr>Working with an (existing) remote repository- add remote  </vt:lpstr>
      <vt:lpstr>Working with an (existing) remote repository: Fork</vt:lpstr>
      <vt:lpstr>Recap Branches</vt:lpstr>
      <vt:lpstr>Working with branches</vt:lpstr>
      <vt:lpstr>Working with branches</vt:lpstr>
      <vt:lpstr>Working with branches</vt:lpstr>
      <vt:lpstr>Main branch</vt:lpstr>
      <vt:lpstr>Analysis branch</vt:lpstr>
      <vt:lpstr>Model branch</vt:lpstr>
      <vt:lpstr>Merging Analysis to Main</vt:lpstr>
      <vt:lpstr>Merging Model to Main</vt:lpstr>
      <vt:lpstr>Source and destination</vt:lpstr>
      <vt:lpstr>Working with branches</vt:lpstr>
      <vt:lpstr>Working with branches</vt:lpstr>
      <vt:lpstr>Working with branches</vt:lpstr>
      <vt:lpstr>RECAP Daily Workflow</vt:lpstr>
      <vt:lpstr>Collaborative work with GitHub </vt:lpstr>
      <vt:lpstr>Collaborative work with GitHub </vt:lpstr>
      <vt:lpstr>Synchronizing the local repository with the remote repository</vt:lpstr>
      <vt:lpstr>Synchronizing the local repository with the remote repository</vt:lpstr>
      <vt:lpstr>Synchronizing the local repository with the remote repository</vt:lpstr>
      <vt:lpstr>Synchronizing the local repository with the remote repository</vt:lpstr>
      <vt:lpstr>Collaborative work with GitHub -</vt:lpstr>
      <vt:lpstr>Collaborative work with GitHub -</vt:lpstr>
      <vt:lpstr>Collaborative work with GitHub Code Review Workflow </vt:lpstr>
      <vt:lpstr>Collaborative work with GitHub Code Review Workflow – After Receiving Review Comments </vt:lpstr>
      <vt:lpstr>RECAP Daily Workflow</vt:lpstr>
      <vt:lpstr>Merge Conflicts</vt:lpstr>
      <vt:lpstr>Merge Conflicts</vt:lpstr>
      <vt:lpstr>Merge Conflicts</vt:lpstr>
      <vt:lpstr>Merge Conflicts</vt:lpstr>
      <vt:lpstr>Merge Conflicts</vt:lpstr>
      <vt:lpstr>Merge Conflicts</vt:lpstr>
      <vt:lpstr>Merge Conflicts</vt:lpstr>
      <vt:lpstr>Merge Conflicts</vt:lpstr>
      <vt:lpstr>Merge Conflicts</vt:lpstr>
      <vt:lpstr>Merge Conflicts</vt:lpstr>
      <vt:lpstr>Merge Types</vt:lpstr>
      <vt:lpstr>Merge Types</vt:lpstr>
      <vt:lpstr>Merge Types</vt:lpstr>
      <vt:lpstr>Merge Types</vt:lpstr>
      <vt:lpstr>Merge Types</vt:lpstr>
      <vt:lpstr>Git Rebase</vt:lpstr>
      <vt:lpstr>Git Rebase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B. Koopmans-Beygu</dc:creator>
  <cp:lastModifiedBy>B. Koopmans-Beygu</cp:lastModifiedBy>
  <cp:revision>20</cp:revision>
  <dcterms:modified xsi:type="dcterms:W3CDTF">2025-12-02T14:59:47Z</dcterms:modified>
</cp:coreProperties>
</file>